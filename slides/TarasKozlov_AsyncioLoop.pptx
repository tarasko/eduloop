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2.svg" ContentType="image/svg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8341DF9-277B-4518-AB0C-06EF5ECFA9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(~30s)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not to teach async/await syntax. We will temporarily forget async/await and build the machinery underneath it from small, understandable pieces. By the time Tasks and networking appear, they should feel inevitable rather than magical.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narrow the discussion to asyncio. At its core, the event loop has only a few basic responsibilities.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call_soon puts callback work into the ready queue. call_later manages callbacks that should become ready in the future. add_reader and add_writer register I/O readiness interest. run_forever repeatedly performs one loop iteration until stop is requested.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real signatures have some extra details, but these are the essential pieces.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next few slides build these functions one by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smallest thing that deserves to be called an event loop. call_soon just appends a callback and its arguments to a deque. run_forever repeatedly takes the next item and calls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the mental model, deliberately omit lifecycle details such as stop(): they are trivial compared with the scheduling mechanism we want to understand.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this point there is no async/await, no Tasks, no sockets — just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obvious problem is that when the ready queue is empty this implementation busy-spins. We will fix that gradually.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narrative hinge. time.sleep knows only time. If the next timer is 8 seconds away but a socket receives a packet after 2 ms, sleep cannot wake 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replace “sleep until timeout” with “wait for I/O, but no longer than timeout”. That is exactly the service a selector provides.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slide to dwell on. The exact CPython implementation has cancellation cleanup, clock resolution handling, debug timing, etc., but conceptually the loop does these four things.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subtlety: run a snapshot/current batch of ready callbacks, not an unbounded loop over callbacks appended by callbacks. Newly scheduled callbacks generally wait for the next iteration.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~30s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 and emphasize this. Nothing about an event loop inherently requires coroutines. libevent, GUI loops, Node's internals, and old-school async code can all be callback-driven.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coroutines as a control-flow abstraction layered on top of the callback scheduler.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direct answer to “how do you actually pause and resume a coroutine?”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coroutine itself contains `await future`. Python enters Future.__await__(). If the Future is not done, that method executes `yield self`. That yield is what gives control back to the coroutine driver.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first coro.send(None) therefore runs conversation() until the Future yields itself. Later we mark the Future done and send None again. Execution continues inside Future.__await__(), which returns the stored result; that becomes the value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example mutates private fields only to keep this slide focused. The next slide introduces the public completion API: set_result(), set_exception(), and add_done_callback().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conversation() finally returns, send(None) raises StopIteration to its driver; mention this only if useful.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the Future API that replaces the private field manipulation from the previous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add_done_callback(cb): somebody can register interest in completion. A Task will use this to arrange its own resumption.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set_result(value) and set_exception(exc) are the two important ways to complete the Future.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key connection back to our event loop: asyncio schedules Future done callbacks through loop.call_soon rather than invoking them inline. So Future completion simply creates normal ready-queue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conceptual; cancellation and other production details are deliberately omitted.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three pieces join together. A Task owns a coroutine. Its step callback calls coro.send(None).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coroutine reaches `await future`, Future.__await__() yields that Future back to Task.step(). The Task registers wakeup as a done callback and stops doing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Future completes, Future schedules wakeup through loop.call_soon. Because wakeup itself is now an event-loop callback, it can immediately drive the coroutine again by calling step().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Notice the important detail from slide 10: we send None when resuming. Future.__await__() returns its stored result internally, so that value becomes the result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pseudocode intentionally ignores cancellation and exception injection. The payoff slide next shows the whole cycle.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reveal. Trace one complete cycle from an I/O event to the next await.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precise: Futures and Tasks are attached to / use an event loop; they are not literally disconnected. The useful architectural point is that the event-loop iteration does not need to understand Python coroutine control flow. It executes scheduled callbacks; Task/Future machinery converts coroutine suspension/resumption into those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networking map for a SelectorEventLoop. At the center are readiness callbacks: add_reader() and add_writer(). One layer out there are two paths. Transport/Protocol is created through create_connection()/create_server(). The sock_* coroutines are a parallel path that works directly with non-blocking sockets. Streams are built on the Transport/Protocol path: open_connection() uses create_connection(), and start_server() uses create_server(). Later I will qualify the center for Windows, where ProactorEventLoop uses IOCP completion operations instead.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concrete. Protocol is the application-facing callback object; Transport abstracts the channel and exposes write/control methods. The event loop constructs them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Mention flow control only briefly if time allows. BufferedProtocol is appendix material, not part of the main path.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audience probably uses Streams. The useful architectural fact is that loop.sock_* gives a separate coroutine-facing path for working with non-blocking socket objects directly.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claim that sock_* is always faster; the current docs explicitly say transport-based APIs are generally faster than direct socket implementations, though direct sockets can be convenient.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160" cy="4680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561320" y="6492240"/>
            <a:ext cx="1139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</a:t>
            </a: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on </a:t>
            </a: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DD42BE-9B9C-4916-911C-4C3E782AD759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20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200" cy="397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2188160" cy="4680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"/>
          <p:cNvSpPr/>
          <p:nvPr/>
        </p:nvSpPr>
        <p:spPr>
          <a:xfrm>
            <a:off x="10561320" y="6492240"/>
            <a:ext cx="1139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096C89-949A-40AF-AB67-6756E5E3A8AC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20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200" cy="397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685800" y="1225440"/>
            <a:ext cx="10741680" cy="357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What's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inside an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asyncio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loop?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sldNum" idx="6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TextBox 59"/>
          <p:cNvSpPr/>
          <p:nvPr/>
        </p:nvSpPr>
        <p:spPr>
          <a:xfrm>
            <a:off x="9547560" y="5943600"/>
            <a:ext cx="210852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Taras Kozlov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PyCon NL 2026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ection label"/>
          <p:cNvSpPr/>
          <p:nvPr/>
        </p:nvSpPr>
        <p:spPr>
          <a:xfrm>
            <a:off x="567000" y="384120"/>
            <a:ext cx="2374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 ·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AS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YN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CI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OD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UL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itle"/>
          <p:cNvSpPr/>
          <p:nvPr/>
        </p:nvSpPr>
        <p:spPr>
          <a:xfrm>
            <a:off x="567000" y="658440"/>
            <a:ext cx="81356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asyncio: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more than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an event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ubtitle"/>
          <p:cNvSpPr/>
          <p:nvPr/>
        </p:nvSpPr>
        <p:spPr>
          <a:xfrm>
            <a:off x="567000" y="1216080"/>
            <a:ext cx="107874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High-level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coordination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around a loop that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owns the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operating-system-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facing work.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4" name="Tasks spoke"/>
          <p:cNvCxnSpPr/>
          <p:nvPr/>
        </p:nvCxnSpPr>
        <p:spPr>
          <a:xfrm>
            <a:off x="3584160" y="2322360"/>
            <a:ext cx="304560" cy="17640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5" name="Orchestration spoke"/>
          <p:cNvCxnSpPr/>
          <p:nvPr/>
        </p:nvCxnSpPr>
        <p:spPr>
          <a:xfrm>
            <a:off x="3584160" y="3712320"/>
            <a:ext cx="304560" cy="252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6" name="Synchronization spoke"/>
          <p:cNvCxnSpPr/>
          <p:nvPr/>
        </p:nvCxnSpPr>
        <p:spPr>
          <a:xfrm flipV="1">
            <a:off x="3584160" y="4846320"/>
            <a:ext cx="304560" cy="25848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7" name="Distribution spoke"/>
          <p:cNvCxnSpPr/>
          <p:nvPr/>
        </p:nvCxnSpPr>
        <p:spPr>
          <a:xfrm flipV="1">
            <a:off x="8302680" y="2322360"/>
            <a:ext cx="313200" cy="17640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8" name="Lifecycle spoke"/>
          <p:cNvCxnSpPr/>
          <p:nvPr/>
        </p:nvCxnSpPr>
        <p:spPr>
          <a:xfrm>
            <a:off x="8302680" y="3712320"/>
            <a:ext cx="313200" cy="252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9" name="Insight spoke"/>
          <p:cNvCxnSpPr/>
          <p:nvPr/>
        </p:nvCxnSpPr>
        <p:spPr>
          <a:xfrm>
            <a:off x="8302680" y="4846320"/>
            <a:ext cx="313200" cy="25848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sp>
        <p:nvSpPr>
          <p:cNvPr id="30" name="Event loop hub"/>
          <p:cNvSpPr/>
          <p:nvPr/>
        </p:nvSpPr>
        <p:spPr>
          <a:xfrm>
            <a:off x="3886200" y="1828800"/>
            <a:ext cx="4413960" cy="319824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25400">
            <a:solidFill>
              <a:srgbClr val="FFD43B"/>
            </a:solidFill>
            <a:round/>
          </a:ln>
          <a:effectLst>
            <a:outerShdw algn="ctr" blurRad="76320" dir="5400000" dist="255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37160" tIns="164520" rIns="137160" bIns="2743200" anchor="t">
            <a:noAutofit/>
          </a:bodyPr>
          <a:p>
            <a:pPr algn="ctr">
              <a:lnSpc>
                <a:spcPct val="100000"/>
              </a:lnSpc>
              <a:spcAft>
                <a:spcPts val="34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EVENT LOOP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WAIT · SCHEDULE · DISPATCH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Callbacks"/>
          <p:cNvSpPr/>
          <p:nvPr/>
        </p:nvSpPr>
        <p:spPr>
          <a:xfrm>
            <a:off x="4553640" y="2779920"/>
            <a:ext cx="114048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CALLBACKS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imers"/>
          <p:cNvSpPr/>
          <p:nvPr/>
        </p:nvSpPr>
        <p:spPr>
          <a:xfrm>
            <a:off x="5833800" y="2779920"/>
            <a:ext cx="93024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TIMERS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IO"/>
          <p:cNvSpPr/>
          <p:nvPr/>
        </p:nvSpPr>
        <p:spPr>
          <a:xfrm>
            <a:off x="6903720" y="2779920"/>
            <a:ext cx="71064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I/O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ransports"/>
          <p:cNvSpPr/>
          <p:nvPr/>
        </p:nvSpPr>
        <p:spPr>
          <a:xfrm>
            <a:off x="6136200" y="3886200"/>
            <a:ext cx="159804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TRANSPORTS / STREAMS FACTORY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Executors"/>
          <p:cNvSpPr/>
          <p:nvPr/>
        </p:nvSpPr>
        <p:spPr>
          <a:xfrm>
            <a:off x="5422320" y="4435200"/>
            <a:ext cx="124092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EXECUTORS BRIDGE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asks and futures"/>
          <p:cNvSpPr/>
          <p:nvPr/>
        </p:nvSpPr>
        <p:spPr>
          <a:xfrm>
            <a:off x="567000" y="182880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TASKS &amp; FUTURES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 · Future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cancellation · context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Orchestration"/>
          <p:cNvSpPr/>
          <p:nvPr/>
        </p:nvSpPr>
        <p:spPr>
          <a:xfrm>
            <a:off x="567000" y="321876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ORCHESTRATION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TaskGroup · gather · wait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as_completed · timeout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ynchronization"/>
          <p:cNvSpPr/>
          <p:nvPr/>
        </p:nvSpPr>
        <p:spPr>
          <a:xfrm>
            <a:off x="567000" y="460872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SYNCHRONIZATION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Lock · Event · Semaphore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Condition · Barrier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Work distribution"/>
          <p:cNvSpPr/>
          <p:nvPr/>
        </p:nvSpPr>
        <p:spPr>
          <a:xfrm>
            <a:off x="8613720" y="182880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WORK DISTRIBUTION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Queue · PriorityQueue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Program lifecycle"/>
          <p:cNvSpPr/>
          <p:nvPr/>
        </p:nvSpPr>
        <p:spPr>
          <a:xfrm>
            <a:off x="8613720" y="321876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PROGRAM LIFECYCLE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run · Runner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loop factory · shutdown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Observability"/>
          <p:cNvSpPr/>
          <p:nvPr/>
        </p:nvSpPr>
        <p:spPr>
          <a:xfrm>
            <a:off x="8613720" y="4608720"/>
            <a:ext cx="3015000" cy="9849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OBSERVABILITY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current_task · all_tasks · </a:t>
            </a: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debug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stacks · call graphs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Callbacks 1"/>
          <p:cNvSpPr/>
          <p:nvPr/>
        </p:nvSpPr>
        <p:spPr>
          <a:xfrm>
            <a:off x="5989320" y="3284280"/>
            <a:ext cx="182736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/ TASK FACTORY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Callbacks 2"/>
          <p:cNvSpPr/>
          <p:nvPr/>
        </p:nvSpPr>
        <p:spPr>
          <a:xfrm>
            <a:off x="4769640" y="3284640"/>
            <a:ext cx="114048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SIGNALS HANDLING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ransports 1"/>
          <p:cNvSpPr/>
          <p:nvPr/>
        </p:nvSpPr>
        <p:spPr>
          <a:xfrm>
            <a:off x="4552560" y="3886560"/>
            <a:ext cx="1424880" cy="36324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ASYNC SOCKET OPS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Orchestration 1"/>
          <p:cNvSpPr/>
          <p:nvPr/>
        </p:nvSpPr>
        <p:spPr>
          <a:xfrm>
            <a:off x="3840840" y="5413680"/>
            <a:ext cx="1872000" cy="7563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TRANSPORTS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Program lifecycle 1"/>
          <p:cNvSpPr/>
          <p:nvPr/>
        </p:nvSpPr>
        <p:spPr>
          <a:xfrm>
            <a:off x="6126840" y="5414400"/>
            <a:ext cx="1872000" cy="75636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Synchronization spoke 1"/>
          <p:cNvCxnSpPr/>
          <p:nvPr/>
        </p:nvCxnSpPr>
        <p:spPr>
          <a:xfrm flipH="1" flipV="1">
            <a:off x="4664520" y="5028480"/>
            <a:ext cx="16920" cy="39816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48" name="Synchronization spoke 2"/>
          <p:cNvCxnSpPr/>
          <p:nvPr/>
        </p:nvCxnSpPr>
        <p:spPr>
          <a:xfrm flipH="1" flipV="1">
            <a:off x="6788520" y="5028840"/>
            <a:ext cx="16920" cy="39816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ection label"/>
          <p:cNvSpPr/>
          <p:nvPr/>
        </p:nvSpPr>
        <p:spPr>
          <a:xfrm>
            <a:off x="567000" y="384120"/>
            <a:ext cx="21924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ASYNCIO LOOP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itle"/>
          <p:cNvSpPr/>
          <p:nvPr/>
        </p:nvSpPr>
        <p:spPr>
          <a:xfrm>
            <a:off x="567000" y="658440"/>
            <a:ext cx="7678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event loop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at a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glance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ubtitle"/>
          <p:cNvSpPr/>
          <p:nvPr/>
        </p:nvSpPr>
        <p:spPr>
          <a:xfrm>
            <a:off x="612720" y="1225440"/>
            <a:ext cx="87760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large API — but only a small part of it is fundamental.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Loop API surface"/>
          <p:cNvSpPr/>
          <p:nvPr/>
        </p:nvSpPr>
        <p:spPr>
          <a:xfrm>
            <a:off x="658440" y="1856160"/>
            <a:ext cx="6782760" cy="347256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5960" tIns="109800" rIns="255960" bIns="9144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Loop API surface label"/>
          <p:cNvSpPr/>
          <p:nvPr/>
        </p:nvSpPr>
        <p:spPr>
          <a:xfrm>
            <a:off x="1024200" y="2112120"/>
            <a:ext cx="210096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LOOP API SURFACE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ocket operations"/>
          <p:cNvSpPr/>
          <p:nvPr/>
        </p:nvSpPr>
        <p:spPr>
          <a:xfrm>
            <a:off x="1024200" y="2441520"/>
            <a:ext cx="132372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SOCKET OPS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DNS"/>
          <p:cNvSpPr/>
          <p:nvPr/>
        </p:nvSpPr>
        <p:spPr>
          <a:xfrm>
            <a:off x="2487240" y="2441520"/>
            <a:ext cx="74772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DNS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ignals"/>
          <p:cNvSpPr/>
          <p:nvPr/>
        </p:nvSpPr>
        <p:spPr>
          <a:xfrm>
            <a:off x="3374280" y="2441520"/>
            <a:ext cx="95796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SIGNALS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ubprocesses"/>
          <p:cNvSpPr/>
          <p:nvPr/>
        </p:nvSpPr>
        <p:spPr>
          <a:xfrm>
            <a:off x="4471560" y="2441520"/>
            <a:ext cx="138780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SUBPROCESSES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Executors"/>
          <p:cNvSpPr/>
          <p:nvPr/>
        </p:nvSpPr>
        <p:spPr>
          <a:xfrm>
            <a:off x="5998320" y="2441520"/>
            <a:ext cx="109512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EXECUTORS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ransports"/>
          <p:cNvSpPr/>
          <p:nvPr/>
        </p:nvSpPr>
        <p:spPr>
          <a:xfrm>
            <a:off x="1417320" y="2999160"/>
            <a:ext cx="118656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TRANSPORTS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treams"/>
          <p:cNvSpPr/>
          <p:nvPr/>
        </p:nvSpPr>
        <p:spPr>
          <a:xfrm>
            <a:off x="2743200" y="2999160"/>
            <a:ext cx="98532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Runtime"/>
          <p:cNvSpPr/>
          <p:nvPr/>
        </p:nvSpPr>
        <p:spPr>
          <a:xfrm>
            <a:off x="3867840" y="2999160"/>
            <a:ext cx="96696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Diagnostics"/>
          <p:cNvSpPr/>
          <p:nvPr/>
        </p:nvSpPr>
        <p:spPr>
          <a:xfrm>
            <a:off x="4974480" y="2999160"/>
            <a:ext cx="1259640" cy="3819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DIAGNOSTICS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Built on"/>
          <p:cNvSpPr/>
          <p:nvPr/>
        </p:nvSpPr>
        <p:spPr>
          <a:xfrm>
            <a:off x="2743200" y="3502080"/>
            <a:ext cx="2603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7F8AA3"/>
                </a:solidFill>
                <a:effectLst/>
                <a:uFillTx/>
                <a:latin typeface="Noto Sans"/>
              </a:rPr>
              <a:t>BUILT 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Fundamental core"/>
          <p:cNvSpPr/>
          <p:nvPr/>
        </p:nvSpPr>
        <p:spPr>
          <a:xfrm>
            <a:off x="1261800" y="3822120"/>
            <a:ext cx="5575680" cy="114084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254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tIns="109800" rIns="164520" bIns="91440" anchor="ctr">
            <a:noAutofit/>
          </a:bodyPr>
          <a:p>
            <a:pPr algn="ctr">
              <a:lnSpc>
                <a:spcPct val="100000"/>
              </a:lnSpc>
              <a:spcAft>
                <a:spcPts val="451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FUNDAMENTAL 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CALLBACKS  ·  TIMERS  ·  I/O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one iteration at a time:  run_once()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API versus core"/>
          <p:cNvSpPr/>
          <p:nvPr/>
        </p:nvSpPr>
        <p:spPr>
          <a:xfrm>
            <a:off x="7717680" y="1856160"/>
            <a:ext cx="3746880" cy="347256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9040" tIns="109800" rIns="3290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39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&gt;50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public methods 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AbstractEventLoop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9"/>
              </a:spcAft>
            </a:pPr>
            <a:r>
              <a:rPr lang="en-US" sz="30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3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fundamental mechanisms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callbacks · timers · I/O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Comparison divider"/>
          <p:cNvCxnSpPr/>
          <p:nvPr/>
        </p:nvCxnSpPr>
        <p:spPr>
          <a:xfrm>
            <a:off x="8128800" y="3812760"/>
            <a:ext cx="2928240" cy="2160"/>
          </a:xfrm>
          <a:prstGeom prst="straightConnector1">
            <a:avLst/>
          </a:prstGeom>
          <a:ln w="12700">
            <a:solidFill>
              <a:srgbClr val="53627C"/>
            </a:solidFill>
            <a:round/>
          </a:ln>
        </p:spPr>
      </p:cxnSp>
      <p:sp>
        <p:nvSpPr>
          <p:cNvPr id="67" name="Constraints label"/>
          <p:cNvSpPr/>
          <p:nvPr/>
        </p:nvSpPr>
        <p:spPr>
          <a:xfrm>
            <a:off x="685800" y="5724000"/>
            <a:ext cx="196452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IMPORTANT CONSTRAINTS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One thread"/>
          <p:cNvSpPr/>
          <p:nvPr/>
        </p:nvSpPr>
        <p:spPr>
          <a:xfrm>
            <a:off x="2788920" y="5687640"/>
            <a:ext cx="205524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ONE THREAD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cooperative scheduling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hread safety"/>
          <p:cNvSpPr/>
          <p:nvPr/>
        </p:nvSpPr>
        <p:spPr>
          <a:xfrm>
            <a:off x="5074920" y="5687640"/>
            <a:ext cx="315252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NOT GENERALLY THREAD-SAFE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cross-thread → call_soon_threadsafe()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No preemption"/>
          <p:cNvSpPr/>
          <p:nvPr/>
        </p:nvSpPr>
        <p:spPr>
          <a:xfrm>
            <a:off x="8412480" y="5687640"/>
            <a:ext cx="30610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 PREEMPTION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blocking code blocks the loop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567000" y="347400"/>
            <a:ext cx="49341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THE 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loop: the core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621720" y="1234440"/>
            <a:ext cx="10694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its lowest useful level, the loop manages callbacks, timers, and I/O readiness.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4"/>
          <p:cNvSpPr/>
          <p:nvPr/>
        </p:nvSpPr>
        <p:spPr>
          <a:xfrm>
            <a:off x="685800" y="1874520"/>
            <a:ext cx="2282760" cy="1386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914400" y="2057400"/>
            <a:ext cx="218196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call_soon(callback,*)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914400" y="2624400"/>
            <a:ext cx="182556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914400" y="2898720"/>
            <a:ext cx="2181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FIFO queue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8"/>
          <p:cNvSpPr/>
          <p:nvPr/>
        </p:nvSpPr>
        <p:spPr>
          <a:xfrm>
            <a:off x="3200400" y="1874520"/>
            <a:ext cx="2657160" cy="1386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3321000" y="2039040"/>
            <a:ext cx="253656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call_later(delay,callback,*)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321000" y="2624400"/>
            <a:ext cx="218196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TIMER 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3321000" y="2898720"/>
            <a:ext cx="2181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ordered by deadline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2"/>
          <p:cNvSpPr/>
          <p:nvPr/>
        </p:nvSpPr>
        <p:spPr>
          <a:xfrm>
            <a:off x="6007680" y="1874520"/>
            <a:ext cx="2904480" cy="1386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6172200" y="2039040"/>
            <a:ext cx="2739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add_reader(fd,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add_writer(fd,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6172200" y="2590200"/>
            <a:ext cx="218196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I/O REGISTRATION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6172200" y="2898720"/>
            <a:ext cx="2181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wait for readiness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16"/>
          <p:cNvSpPr/>
          <p:nvPr/>
        </p:nvSpPr>
        <p:spPr>
          <a:xfrm>
            <a:off x="9144000" y="1874520"/>
            <a:ext cx="2035440" cy="1386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9372600" y="2039040"/>
            <a:ext cx="164232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run_forever()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stop()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8"/>
          <p:cNvSpPr/>
          <p:nvPr/>
        </p:nvSpPr>
        <p:spPr>
          <a:xfrm>
            <a:off x="9327240" y="2624400"/>
            <a:ext cx="164232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LOOP CONTROL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8832960" y="2898720"/>
            <a:ext cx="218196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 run_once()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685800" y="3611880"/>
            <a:ext cx="10512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Everything converges on one simple operation: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21"/>
          <p:cNvSpPr/>
          <p:nvPr/>
        </p:nvSpPr>
        <p:spPr>
          <a:xfrm>
            <a:off x="1938600" y="4005000"/>
            <a:ext cx="8299080" cy="118512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Box 22"/>
          <p:cNvSpPr/>
          <p:nvPr/>
        </p:nvSpPr>
        <p:spPr>
          <a:xfrm>
            <a:off x="2240280" y="4233600"/>
            <a:ext cx="76957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run_once()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3"/>
          <p:cNvSpPr/>
          <p:nvPr/>
        </p:nvSpPr>
        <p:spPr>
          <a:xfrm>
            <a:off x="2240280" y="4617720"/>
            <a:ext cx="76957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collect work that became ready  →  run the callbacks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4"/>
          <p:cNvSpPr/>
          <p:nvPr/>
        </p:nvSpPr>
        <p:spPr>
          <a:xfrm>
            <a:off x="2057400" y="5596200"/>
            <a:ext cx="80888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Let's have a closer look at these pieces.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Num" idx="7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567000" y="347400"/>
            <a:ext cx="49341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3 · CALLBACKS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6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The smallest possible event 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7"/>
          <p:cNvSpPr/>
          <p:nvPr/>
        </p:nvSpPr>
        <p:spPr>
          <a:xfrm>
            <a:off x="621720" y="1234440"/>
            <a:ext cx="10694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It begins with only two ideas: enqueue a callback, then keep executing callbacks from the queue.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0"/>
          <p:cNvSpPr/>
          <p:nvPr/>
        </p:nvSpPr>
        <p:spPr>
          <a:xfrm>
            <a:off x="7113960" y="1847160"/>
            <a:ext cx="4156920" cy="10569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TextBox 31"/>
          <p:cNvSpPr/>
          <p:nvPr/>
        </p:nvSpPr>
        <p:spPr>
          <a:xfrm>
            <a:off x="7360920" y="2011680"/>
            <a:ext cx="15966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32"/>
          <p:cNvSpPr/>
          <p:nvPr/>
        </p:nvSpPr>
        <p:spPr>
          <a:xfrm>
            <a:off x="7360920" y="2359080"/>
            <a:ext cx="910800" cy="34380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Box 33"/>
          <p:cNvSpPr/>
          <p:nvPr/>
        </p:nvSpPr>
        <p:spPr>
          <a:xfrm>
            <a:off x="7360920" y="2432160"/>
            <a:ext cx="91080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cb₁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34"/>
          <p:cNvSpPr/>
          <p:nvPr/>
        </p:nvSpPr>
        <p:spPr>
          <a:xfrm>
            <a:off x="8503920" y="2359080"/>
            <a:ext cx="910800" cy="34380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Box 35"/>
          <p:cNvSpPr/>
          <p:nvPr/>
        </p:nvSpPr>
        <p:spPr>
          <a:xfrm>
            <a:off x="8503920" y="2432160"/>
            <a:ext cx="91080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cb₂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36"/>
          <p:cNvSpPr/>
          <p:nvPr/>
        </p:nvSpPr>
        <p:spPr>
          <a:xfrm>
            <a:off x="9646920" y="2359080"/>
            <a:ext cx="910800" cy="3438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6" name="TextBox 37"/>
          <p:cNvSpPr/>
          <p:nvPr/>
        </p:nvSpPr>
        <p:spPr>
          <a:xfrm>
            <a:off x="9646920" y="2432160"/>
            <a:ext cx="91080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cb₃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590760" y="1705320"/>
            <a:ext cx="6035400" cy="472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Num" idx="8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567000" y="347400"/>
            <a:ext cx="49341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8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42"/>
          <p:cNvSpPr/>
          <p:nvPr/>
        </p:nvSpPr>
        <p:spPr>
          <a:xfrm>
            <a:off x="621720" y="1234440"/>
            <a:ext cx="10694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callback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44"/>
          <p:cNvSpPr/>
          <p:nvPr/>
        </p:nvSpPr>
        <p:spPr>
          <a:xfrm>
            <a:off x="7772400" y="1856160"/>
            <a:ext cx="333396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"/>
          <p:cNvSpPr/>
          <p:nvPr/>
        </p:nvSpPr>
        <p:spPr>
          <a:xfrm>
            <a:off x="9070920" y="22402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4" name="TextBox 53"/>
          <p:cNvSpPr/>
          <p:nvPr/>
        </p:nvSpPr>
        <p:spPr>
          <a:xfrm>
            <a:off x="9070920" y="2368440"/>
            <a:ext cx="70956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2"/>
          <p:cNvSpPr/>
          <p:nvPr/>
        </p:nvSpPr>
        <p:spPr>
          <a:xfrm>
            <a:off x="8092440" y="31546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TextBox 55"/>
          <p:cNvSpPr/>
          <p:nvPr/>
        </p:nvSpPr>
        <p:spPr>
          <a:xfrm>
            <a:off x="8092440" y="3282840"/>
            <a:ext cx="70956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3"/>
          <p:cNvSpPr/>
          <p:nvPr/>
        </p:nvSpPr>
        <p:spPr>
          <a:xfrm>
            <a:off x="10040040" y="31546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8" name="TextBox 57"/>
          <p:cNvSpPr/>
          <p:nvPr/>
        </p:nvSpPr>
        <p:spPr>
          <a:xfrm>
            <a:off x="10040040" y="3282840"/>
            <a:ext cx="70956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5"/>
          <p:cNvSpPr/>
          <p:nvPr/>
        </p:nvSpPr>
        <p:spPr>
          <a:xfrm>
            <a:off x="7708320" y="40690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TextBox 60"/>
          <p:cNvSpPr/>
          <p:nvPr/>
        </p:nvSpPr>
        <p:spPr>
          <a:xfrm>
            <a:off x="7708320" y="4197240"/>
            <a:ext cx="70956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6"/>
          <p:cNvSpPr/>
          <p:nvPr/>
        </p:nvSpPr>
        <p:spPr>
          <a:xfrm>
            <a:off x="8568000" y="40690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TextBox 61"/>
          <p:cNvSpPr/>
          <p:nvPr/>
        </p:nvSpPr>
        <p:spPr>
          <a:xfrm>
            <a:off x="8568000" y="4197240"/>
            <a:ext cx="70956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3" name="Connector 1"/>
          <p:cNvCxnSpPr/>
          <p:nvPr/>
        </p:nvCxnSpPr>
        <p:spPr>
          <a:xfrm flipH="1">
            <a:off x="8448840" y="2743200"/>
            <a:ext cx="982080" cy="41508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24" name="Connector 2"/>
          <p:cNvCxnSpPr/>
          <p:nvPr/>
        </p:nvCxnSpPr>
        <p:spPr>
          <a:xfrm>
            <a:off x="9427320" y="2743200"/>
            <a:ext cx="972720" cy="41508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25" name="Connector 3"/>
          <p:cNvCxnSpPr/>
          <p:nvPr/>
        </p:nvCxnSpPr>
        <p:spPr>
          <a:xfrm flipH="1">
            <a:off x="8064720" y="3657600"/>
            <a:ext cx="387720" cy="41508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26" name="Connector 4"/>
          <p:cNvCxnSpPr/>
          <p:nvPr/>
        </p:nvCxnSpPr>
        <p:spPr>
          <a:xfrm>
            <a:off x="8448840" y="3657600"/>
            <a:ext cx="479160" cy="41508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27" name="Connector 5"/>
          <p:cNvCxnSpPr/>
          <p:nvPr/>
        </p:nvCxnSpPr>
        <p:spPr>
          <a:xfrm>
            <a:off x="9427320" y="4736520"/>
            <a:ext cx="3600" cy="36936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562320" y="1972080"/>
            <a:ext cx="6696000" cy="30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Num" idx="9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TextBox 12"/>
          <p:cNvSpPr/>
          <p:nvPr/>
        </p:nvSpPr>
        <p:spPr>
          <a:xfrm>
            <a:off x="567000" y="347400"/>
            <a:ext cx="4934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6"/>
          <p:cNvSpPr/>
          <p:nvPr/>
        </p:nvSpPr>
        <p:spPr>
          <a:xfrm>
            <a:off x="567000" y="640080"/>
            <a:ext cx="1087776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1"/>
          <p:cNvSpPr/>
          <p:nvPr/>
        </p:nvSpPr>
        <p:spPr>
          <a:xfrm>
            <a:off x="621720" y="1234440"/>
            <a:ext cx="10694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deadline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45"/>
          <p:cNvSpPr/>
          <p:nvPr/>
        </p:nvSpPr>
        <p:spPr>
          <a:xfrm>
            <a:off x="7772400" y="1856160"/>
            <a:ext cx="33339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7"/>
          <p:cNvSpPr/>
          <p:nvPr/>
        </p:nvSpPr>
        <p:spPr>
          <a:xfrm>
            <a:off x="9070920" y="22402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5" name="TextBox 50"/>
          <p:cNvSpPr/>
          <p:nvPr/>
        </p:nvSpPr>
        <p:spPr>
          <a:xfrm>
            <a:off x="9070920" y="2368440"/>
            <a:ext cx="7095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9"/>
          <p:cNvSpPr/>
          <p:nvPr/>
        </p:nvSpPr>
        <p:spPr>
          <a:xfrm>
            <a:off x="8092440" y="31546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7" name="TextBox 51"/>
          <p:cNvSpPr/>
          <p:nvPr/>
        </p:nvSpPr>
        <p:spPr>
          <a:xfrm>
            <a:off x="8092440" y="3282840"/>
            <a:ext cx="7095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0"/>
          <p:cNvSpPr/>
          <p:nvPr/>
        </p:nvSpPr>
        <p:spPr>
          <a:xfrm>
            <a:off x="10040040" y="31546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TextBox 52"/>
          <p:cNvSpPr/>
          <p:nvPr/>
        </p:nvSpPr>
        <p:spPr>
          <a:xfrm>
            <a:off x="10040040" y="3282840"/>
            <a:ext cx="7095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1"/>
          <p:cNvSpPr/>
          <p:nvPr/>
        </p:nvSpPr>
        <p:spPr>
          <a:xfrm>
            <a:off x="7708320" y="40690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1" name="TextBox 54"/>
          <p:cNvSpPr/>
          <p:nvPr/>
        </p:nvSpPr>
        <p:spPr>
          <a:xfrm>
            <a:off x="7708320" y="4197240"/>
            <a:ext cx="7095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3"/>
          <p:cNvSpPr/>
          <p:nvPr/>
        </p:nvSpPr>
        <p:spPr>
          <a:xfrm>
            <a:off x="8568000" y="4069080"/>
            <a:ext cx="709560" cy="4993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3" name="TextBox 56"/>
          <p:cNvSpPr/>
          <p:nvPr/>
        </p:nvSpPr>
        <p:spPr>
          <a:xfrm>
            <a:off x="8568000" y="4197240"/>
            <a:ext cx="7095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Connector 6"/>
          <p:cNvCxnSpPr/>
          <p:nvPr/>
        </p:nvCxnSpPr>
        <p:spPr>
          <a:xfrm flipH="1">
            <a:off x="8448840" y="2743200"/>
            <a:ext cx="982080" cy="41508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45" name="Connector 7"/>
          <p:cNvCxnSpPr/>
          <p:nvPr/>
        </p:nvCxnSpPr>
        <p:spPr>
          <a:xfrm>
            <a:off x="9427320" y="2743200"/>
            <a:ext cx="972720" cy="41508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46" name="Connector 8"/>
          <p:cNvCxnSpPr/>
          <p:nvPr/>
        </p:nvCxnSpPr>
        <p:spPr>
          <a:xfrm flipH="1">
            <a:off x="8064720" y="3657600"/>
            <a:ext cx="387720" cy="41508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47" name="Connector 9"/>
          <p:cNvCxnSpPr/>
          <p:nvPr/>
        </p:nvCxnSpPr>
        <p:spPr>
          <a:xfrm>
            <a:off x="8448840" y="3657600"/>
            <a:ext cx="479160" cy="41508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48" name="Connector 10"/>
          <p:cNvCxnSpPr/>
          <p:nvPr/>
        </p:nvCxnSpPr>
        <p:spPr>
          <a:xfrm>
            <a:off x="9427320" y="4736520"/>
            <a:ext cx="3600" cy="36936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sp>
        <p:nvSpPr>
          <p:cNvPr id="149" name="Down Arrow 2"/>
          <p:cNvSpPr/>
          <p:nvPr/>
        </p:nvSpPr>
        <p:spPr>
          <a:xfrm>
            <a:off x="9198720" y="4736880"/>
            <a:ext cx="453600" cy="40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D43B"/>
          </a:solidFill>
          <a:ln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50" name="TextBox 58"/>
          <p:cNvSpPr/>
          <p:nvPr/>
        </p:nvSpPr>
        <p:spPr>
          <a:xfrm>
            <a:off x="7772400" y="5486400"/>
            <a:ext cx="3242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expired timers → ready queue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533880" y="1905480"/>
            <a:ext cx="6549480" cy="46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5 · I/O CHANGES THE PROBLEM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Sleep only knows about time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621720" y="1225440"/>
            <a:ext cx="1087776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want to sleep until the next timer… unless a socket becomes ready first.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3"/>
          <p:cNvSpPr/>
          <p:nvPr/>
        </p:nvSpPr>
        <p:spPr>
          <a:xfrm>
            <a:off x="1005840" y="3108960"/>
            <a:ext cx="10012680" cy="360"/>
          </a:xfrm>
          <a:prstGeom prst="line">
            <a:avLst/>
          </a:prstGeom>
          <a:ln w="38100">
            <a:solidFill>
              <a:srgbClr val="2A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1847160" y="2917080"/>
            <a:ext cx="380520" cy="380520"/>
          </a:xfrm>
          <a:prstGeom prst="ellipse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1636920" y="3401640"/>
            <a:ext cx="72792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now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9655920" y="2816280"/>
            <a:ext cx="599760" cy="599760"/>
          </a:xfrm>
          <a:prstGeom prst="ellipse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9655920" y="2967120"/>
            <a:ext cx="5997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timer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9272160" y="3502080"/>
            <a:ext cx="136800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next timer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9"/>
          <p:cNvSpPr/>
          <p:nvPr/>
        </p:nvSpPr>
        <p:spPr>
          <a:xfrm>
            <a:off x="5733360" y="2816280"/>
            <a:ext cx="599760" cy="599760"/>
          </a:xfrm>
          <a:prstGeom prst="ellipse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5733360" y="2967120"/>
            <a:ext cx="5997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I/O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5294520" y="3502080"/>
            <a:ext cx="155088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socket ready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2"/>
          <p:cNvSpPr/>
          <p:nvPr/>
        </p:nvSpPr>
        <p:spPr>
          <a:xfrm>
            <a:off x="2304000" y="2432160"/>
            <a:ext cx="7123320" cy="360"/>
          </a:xfrm>
          <a:prstGeom prst="line">
            <a:avLst/>
          </a:prstGeom>
          <a:ln w="35560">
            <a:solidFill>
              <a:srgbClr val="FF6B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4096440" y="1993320"/>
            <a:ext cx="3013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B5B5"/>
                </a:solidFill>
                <a:effectLst/>
                <a:uFillTx/>
                <a:latin typeface="Noto Sans"/>
                <a:ea typeface="Noto Sans"/>
              </a:rPr>
              <a:t>time.sleep(8.5s)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4"/>
          <p:cNvSpPr/>
          <p:nvPr/>
        </p:nvSpPr>
        <p:spPr>
          <a:xfrm>
            <a:off x="1920240" y="4617720"/>
            <a:ext cx="8957520" cy="865080"/>
          </a:xfrm>
          <a:prstGeom prst="roundRect">
            <a:avLst>
              <a:gd name="adj" fmla="val 1473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5"/>
          <p:cNvSpPr/>
          <p:nvPr/>
        </p:nvSpPr>
        <p:spPr>
          <a:xfrm>
            <a:off x="2240280" y="4855320"/>
            <a:ext cx="831744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We need a “sleep” that can be interrupted by I/O readiness.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sldNum" idx="10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register file descriptor for readiness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sldNum" idx="11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72" name=""/>
          <p:cNvPicPr/>
          <p:nvPr/>
        </p:nvPicPr>
        <p:blipFill>
          <a:blip r:embed="rId1"/>
          <a:stretch/>
        </p:blipFill>
        <p:spPr>
          <a:xfrm>
            <a:off x="600480" y="1209960"/>
            <a:ext cx="9454680" cy="537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27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8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sldNum" idx="12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466920" y="1171800"/>
            <a:ext cx="8221320" cy="522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29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0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sldNum" idx="13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tretch/>
        </p:blipFill>
        <p:spPr>
          <a:xfrm>
            <a:off x="514800" y="1267200"/>
            <a:ext cx="8061480" cy="536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7 · PUT THE PIECES TOGETHER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sldNum" idx="14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8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457200" y="640080"/>
            <a:ext cx="7767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run_once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"/>
          <p:cNvPicPr/>
          <p:nvPr/>
        </p:nvPicPr>
        <p:blipFill>
          <a:blip r:embed="rId1"/>
          <a:stretch/>
        </p:blipFill>
        <p:spPr>
          <a:xfrm>
            <a:off x="457200" y="1200600"/>
            <a:ext cx="7542720" cy="549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8 · CALLBACK EVENT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So far: zero async / await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621720" y="1243440"/>
            <a:ext cx="67629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already have a useful event-driven runtime.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822960" y="1901880"/>
            <a:ext cx="5071320" cy="59976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1051560" y="2048400"/>
            <a:ext cx="2053800" cy="307440"/>
          </a:xfrm>
          <a:prstGeom prst="roundRect">
            <a:avLst>
              <a:gd name="adj" fmla="val 47059"/>
            </a:avLst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1097280" y="2107800"/>
            <a:ext cx="19623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call_soon()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3401640" y="2048400"/>
            <a:ext cx="20080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ready queue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22960" y="2743200"/>
            <a:ext cx="5071320" cy="59976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1051560" y="2889360"/>
            <a:ext cx="2053800" cy="307440"/>
          </a:xfrm>
          <a:prstGeom prst="roundRect">
            <a:avLst>
              <a:gd name="adj" fmla="val 47059"/>
            </a:avLst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097280" y="2949120"/>
            <a:ext cx="19623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call_later()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3401640" y="2889360"/>
            <a:ext cx="20080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timer heap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1"/>
          <p:cNvSpPr/>
          <p:nvPr/>
        </p:nvSpPr>
        <p:spPr>
          <a:xfrm>
            <a:off x="822960" y="3584520"/>
            <a:ext cx="5071320" cy="59976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2"/>
          <p:cNvSpPr/>
          <p:nvPr/>
        </p:nvSpPr>
        <p:spPr>
          <a:xfrm>
            <a:off x="1051560" y="3730680"/>
            <a:ext cx="2053800" cy="307440"/>
          </a:xfrm>
          <a:prstGeom prst="roundRect">
            <a:avLst>
              <a:gd name="adj" fmla="val 47059"/>
            </a:avLst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1097280" y="3790080"/>
            <a:ext cx="19623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add_reader() / add_writer()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3401640" y="3730680"/>
            <a:ext cx="20080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I/O registrations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822960" y="4425840"/>
            <a:ext cx="5071320" cy="59976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6"/>
          <p:cNvSpPr/>
          <p:nvPr/>
        </p:nvSpPr>
        <p:spPr>
          <a:xfrm>
            <a:off x="1051560" y="4572000"/>
            <a:ext cx="2053800" cy="307440"/>
          </a:xfrm>
          <a:prstGeom prst="roundRect">
            <a:avLst>
              <a:gd name="adj" fmla="val 47059"/>
            </a:avLst>
          </a:prstGeom>
          <a:solidFill>
            <a:srgbClr val="B89CFF"/>
          </a:solidFill>
          <a:ln w="12700">
            <a:solidFill>
              <a:srgbClr val="B8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097280" y="4631400"/>
            <a:ext cx="19623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run_forever()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8"/>
          <p:cNvSpPr/>
          <p:nvPr/>
        </p:nvSpPr>
        <p:spPr>
          <a:xfrm>
            <a:off x="3401640" y="4572000"/>
            <a:ext cx="20080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repeat run_once()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9"/>
          <p:cNvSpPr/>
          <p:nvPr/>
        </p:nvSpPr>
        <p:spPr>
          <a:xfrm>
            <a:off x="6537960" y="1929240"/>
            <a:ext cx="4797000" cy="3215160"/>
          </a:xfrm>
          <a:prstGeom prst="roundRect">
            <a:avLst>
              <a:gd name="adj" fmla="val 397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0"/>
          <p:cNvSpPr/>
          <p:nvPr/>
        </p:nvSpPr>
        <p:spPr>
          <a:xfrm>
            <a:off x="6995160" y="2331720"/>
            <a:ext cx="388260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Callbacks can express everything…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but complex control flow becomes painful.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1"/>
          <p:cNvSpPr/>
          <p:nvPr/>
        </p:nvSpPr>
        <p:spPr>
          <a:xfrm>
            <a:off x="6949440" y="3877200"/>
            <a:ext cx="39740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5CE1E6"/>
                </a:solidFill>
                <a:effectLst/>
                <a:uFillTx/>
                <a:latin typeface="Noto Sans"/>
                <a:ea typeface="Noto Sans"/>
              </a:rPr>
              <a:t>We want COROUTINES!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sldNum" idx="15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9 · COROUTINES +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Pausing and resuming a coroutine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sldNum" idx="16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TextBox 25"/>
          <p:cNvSpPr/>
          <p:nvPr/>
        </p:nvSpPr>
        <p:spPr>
          <a:xfrm>
            <a:off x="621720" y="1225440"/>
            <a:ext cx="106948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The suspension point comes from the awaitable: Future.__await__() can yield control.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7"/>
          <p:cNvSpPr/>
          <p:nvPr/>
        </p:nvSpPr>
        <p:spPr>
          <a:xfrm>
            <a:off x="7435800" y="1828800"/>
            <a:ext cx="2392200" cy="1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Future: the suspension point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0"/>
          <p:cNvSpPr/>
          <p:nvPr/>
        </p:nvSpPr>
        <p:spPr>
          <a:xfrm>
            <a:off x="591840" y="1828800"/>
            <a:ext cx="4952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Drive the coroutine by hand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2"/>
          <p:cNvSpPr/>
          <p:nvPr/>
        </p:nvSpPr>
        <p:spPr>
          <a:xfrm>
            <a:off x="1234440" y="5928840"/>
            <a:ext cx="973476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2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First send → runs until Future.__await__() yields.   Second send → continues after await.</a:t>
            </a:r>
            <a:endParaRPr lang="en-US" sz="14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"/>
          <p:cNvPicPr/>
          <p:nvPr/>
        </p:nvPicPr>
        <p:blipFill>
          <a:blip r:embed="rId1"/>
          <a:stretch/>
        </p:blipFill>
        <p:spPr>
          <a:xfrm>
            <a:off x="7372800" y="2286000"/>
            <a:ext cx="4357800" cy="297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"/>
          <p:cNvPicPr/>
          <p:nvPr/>
        </p:nvPicPr>
        <p:blipFill>
          <a:blip r:embed="rId2"/>
          <a:stretch/>
        </p:blipFill>
        <p:spPr>
          <a:xfrm>
            <a:off x="416160" y="2237400"/>
            <a:ext cx="6743880" cy="319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10 ·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Future represents an eventual result of an async operation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1"/>
          <p:cNvSpPr>
            <a:spLocks noGrp="1"/>
          </p:cNvSpPr>
          <p:nvPr>
            <p:ph type="sldNum" idx="17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TextBox 25"/>
          <p:cNvSpPr/>
          <p:nvPr/>
        </p:nvSpPr>
        <p:spPr>
          <a:xfrm>
            <a:off x="621720" y="1225440"/>
            <a:ext cx="10694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Future is pending until somebody supplies either a result or an exception.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26"/>
          <p:cNvSpPr/>
          <p:nvPr/>
        </p:nvSpPr>
        <p:spPr>
          <a:xfrm>
            <a:off x="694800" y="1755720"/>
            <a:ext cx="3123720" cy="14410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3" name="TextBox 27"/>
          <p:cNvSpPr/>
          <p:nvPr/>
        </p:nvSpPr>
        <p:spPr>
          <a:xfrm>
            <a:off x="877680" y="1947600"/>
            <a:ext cx="2757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add_done_callback(cb)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28"/>
          <p:cNvSpPr/>
          <p:nvPr/>
        </p:nvSpPr>
        <p:spPr>
          <a:xfrm>
            <a:off x="923400" y="2295000"/>
            <a:ext cx="266652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register interest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29"/>
          <p:cNvSpPr/>
          <p:nvPr/>
        </p:nvSpPr>
        <p:spPr>
          <a:xfrm>
            <a:off x="896040" y="2615040"/>
            <a:ext cx="27212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Task uses this to say: resume me when you are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Rounded Rectangle 30"/>
          <p:cNvSpPr/>
          <p:nvPr/>
        </p:nvSpPr>
        <p:spPr>
          <a:xfrm>
            <a:off x="4087440" y="1755720"/>
            <a:ext cx="3123720" cy="14410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7" name="TextBox 31"/>
          <p:cNvSpPr/>
          <p:nvPr/>
        </p:nvSpPr>
        <p:spPr>
          <a:xfrm>
            <a:off x="4270320" y="1947600"/>
            <a:ext cx="275796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set_result(value)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32"/>
          <p:cNvSpPr/>
          <p:nvPr/>
        </p:nvSpPr>
        <p:spPr>
          <a:xfrm>
            <a:off x="4316040" y="2295000"/>
            <a:ext cx="266652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successfully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33"/>
          <p:cNvSpPr/>
          <p:nvPr/>
        </p:nvSpPr>
        <p:spPr>
          <a:xfrm>
            <a:off x="4288680" y="2615040"/>
            <a:ext cx="27212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 value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34"/>
          <p:cNvSpPr/>
          <p:nvPr/>
        </p:nvSpPr>
        <p:spPr>
          <a:xfrm>
            <a:off x="7479720" y="1755720"/>
            <a:ext cx="3123720" cy="14410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1" name="TextBox 35"/>
          <p:cNvSpPr/>
          <p:nvPr/>
        </p:nvSpPr>
        <p:spPr>
          <a:xfrm>
            <a:off x="7662600" y="1947600"/>
            <a:ext cx="2757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set_exception(exc)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36"/>
          <p:cNvSpPr/>
          <p:nvPr/>
        </p:nvSpPr>
        <p:spPr>
          <a:xfrm>
            <a:off x="7708320" y="2295000"/>
            <a:ext cx="266652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with failure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37"/>
          <p:cNvSpPr/>
          <p:nvPr/>
        </p:nvSpPr>
        <p:spPr>
          <a:xfrm>
            <a:off x="7680960" y="2615040"/>
            <a:ext cx="27212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an exception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Rounded Rectangle 38"/>
          <p:cNvSpPr/>
          <p:nvPr/>
        </p:nvSpPr>
        <p:spPr>
          <a:xfrm>
            <a:off x="896040" y="3703320"/>
            <a:ext cx="2099520" cy="7736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5" name="TextBox 39"/>
          <p:cNvSpPr/>
          <p:nvPr/>
        </p:nvSpPr>
        <p:spPr>
          <a:xfrm>
            <a:off x="1078920" y="3940920"/>
            <a:ext cx="17337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PENDING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ight Arrow 40"/>
          <p:cNvSpPr/>
          <p:nvPr/>
        </p:nvSpPr>
        <p:spPr>
          <a:xfrm>
            <a:off x="3200400" y="3849480"/>
            <a:ext cx="2008080" cy="435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7" name="TextBox 41"/>
          <p:cNvSpPr/>
          <p:nvPr/>
        </p:nvSpPr>
        <p:spPr>
          <a:xfrm>
            <a:off x="3136320" y="3520440"/>
            <a:ext cx="2145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set_result / set_exception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Rounded Rectangle 42"/>
          <p:cNvSpPr/>
          <p:nvPr/>
        </p:nvSpPr>
        <p:spPr>
          <a:xfrm>
            <a:off x="5403960" y="3703320"/>
            <a:ext cx="2099520" cy="7736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9" name="TextBox 43"/>
          <p:cNvSpPr/>
          <p:nvPr/>
        </p:nvSpPr>
        <p:spPr>
          <a:xfrm>
            <a:off x="5586840" y="3940920"/>
            <a:ext cx="17337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DONE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Right Arrow 44"/>
          <p:cNvSpPr/>
          <p:nvPr/>
        </p:nvSpPr>
        <p:spPr>
          <a:xfrm>
            <a:off x="7680960" y="3849480"/>
            <a:ext cx="910800" cy="435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41" name="Rounded Rectangle 45"/>
          <p:cNvSpPr/>
          <p:nvPr/>
        </p:nvSpPr>
        <p:spPr>
          <a:xfrm>
            <a:off x="8796600" y="3493080"/>
            <a:ext cx="2328120" cy="120348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42" name="TextBox 46"/>
          <p:cNvSpPr/>
          <p:nvPr/>
        </p:nvSpPr>
        <p:spPr>
          <a:xfrm>
            <a:off x="8961120" y="3648600"/>
            <a:ext cx="200808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8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for each done callback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47"/>
          <p:cNvSpPr/>
          <p:nvPr/>
        </p:nvSpPr>
        <p:spPr>
          <a:xfrm>
            <a:off x="8924400" y="4023360"/>
            <a:ext cx="20811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3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loop.call_soon(cb, future)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8"/>
          <p:cNvSpPr/>
          <p:nvPr/>
        </p:nvSpPr>
        <p:spPr>
          <a:xfrm>
            <a:off x="1389960" y="5230440"/>
            <a:ext cx="94147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Future completion becomes ordinary work in the event loop’s ready queue.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49"/>
          <p:cNvSpPr/>
          <p:nvPr/>
        </p:nvSpPr>
        <p:spPr>
          <a:xfrm>
            <a:off x="594360" y="6382440"/>
            <a:ext cx="104205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6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Simplified model: real Future also handles cancellation, context, callbacks added after completion, and more.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11 · TASKS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Task: automating coroutine resumption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sldNum" idx="18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TextBox 25"/>
          <p:cNvSpPr/>
          <p:nvPr/>
        </p:nvSpPr>
        <p:spPr>
          <a:xfrm>
            <a:off x="621720" y="1225440"/>
            <a:ext cx="10694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Task owns a coroutine and repeatedly drives it while the coroutine yields a Future until StopIteration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ounded Rectangle 29"/>
          <p:cNvSpPr/>
          <p:nvPr/>
        </p:nvSpPr>
        <p:spPr>
          <a:xfrm>
            <a:off x="6711840" y="1828800"/>
            <a:ext cx="4458600" cy="6548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1" name="TextBox 30"/>
          <p:cNvSpPr/>
          <p:nvPr/>
        </p:nvSpPr>
        <p:spPr>
          <a:xfrm>
            <a:off x="6903720" y="2020680"/>
            <a:ext cx="40744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Task.step()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Down Arrow 31"/>
          <p:cNvSpPr/>
          <p:nvPr/>
        </p:nvSpPr>
        <p:spPr>
          <a:xfrm>
            <a:off x="8732520" y="2514600"/>
            <a:ext cx="407880" cy="2707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3" name="Rounded Rectangle 32"/>
          <p:cNvSpPr/>
          <p:nvPr/>
        </p:nvSpPr>
        <p:spPr>
          <a:xfrm>
            <a:off x="6711840" y="2834640"/>
            <a:ext cx="4458600" cy="6548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4" name="TextBox 33"/>
          <p:cNvSpPr/>
          <p:nvPr/>
        </p:nvSpPr>
        <p:spPr>
          <a:xfrm>
            <a:off x="6903720" y="3026520"/>
            <a:ext cx="40744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coro.send(None)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Down Arrow 34"/>
          <p:cNvSpPr/>
          <p:nvPr/>
        </p:nvSpPr>
        <p:spPr>
          <a:xfrm>
            <a:off x="8732520" y="3520440"/>
            <a:ext cx="407880" cy="2707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6" name="Rounded Rectangle 35"/>
          <p:cNvSpPr/>
          <p:nvPr/>
        </p:nvSpPr>
        <p:spPr>
          <a:xfrm>
            <a:off x="6711840" y="3840480"/>
            <a:ext cx="4458600" cy="6548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7" name="TextBox 36"/>
          <p:cNvSpPr/>
          <p:nvPr/>
        </p:nvSpPr>
        <p:spPr>
          <a:xfrm>
            <a:off x="6903720" y="4032360"/>
            <a:ext cx="40744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is yielded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Down Arrow 37"/>
          <p:cNvSpPr/>
          <p:nvPr/>
        </p:nvSpPr>
        <p:spPr>
          <a:xfrm>
            <a:off x="8732520" y="4526280"/>
            <a:ext cx="407880" cy="2707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9" name="Rounded Rectangle 38"/>
          <p:cNvSpPr/>
          <p:nvPr/>
        </p:nvSpPr>
        <p:spPr>
          <a:xfrm>
            <a:off x="6711840" y="4846320"/>
            <a:ext cx="4458600" cy="6548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60" name="TextBox 39"/>
          <p:cNvSpPr/>
          <p:nvPr/>
        </p:nvSpPr>
        <p:spPr>
          <a:xfrm>
            <a:off x="6903720" y="5038200"/>
            <a:ext cx="407448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1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future.add_done_callback(Task.step)</a:t>
            </a:r>
            <a:endParaRPr lang="en-US" sz="14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0"/>
          <p:cNvSpPr/>
          <p:nvPr/>
        </p:nvSpPr>
        <p:spPr>
          <a:xfrm>
            <a:off x="6602040" y="5696640"/>
            <a:ext cx="4705560" cy="5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When the Future completes, its done callback enters the ready queue. That callback drives the coroutine again.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2" name=""/>
          <p:cNvPicPr/>
          <p:nvPr/>
        </p:nvPicPr>
        <p:blipFill>
          <a:blip r:embed="rId1"/>
          <a:stretch/>
        </p:blipFill>
        <p:spPr>
          <a:xfrm>
            <a:off x="457200" y="1848240"/>
            <a:ext cx="6171120" cy="478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12 · THE PAYOFF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trick: Tasks turn “await” into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"/>
          <p:cNvSpPr/>
          <p:nvPr/>
        </p:nvSpPr>
        <p:spPr>
          <a:xfrm>
            <a:off x="694800" y="1993320"/>
            <a:ext cx="2053800" cy="95652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"/>
          <p:cNvSpPr/>
          <p:nvPr/>
        </p:nvSpPr>
        <p:spPr>
          <a:xfrm>
            <a:off x="694800" y="1993320"/>
            <a:ext cx="60480" cy="956520"/>
          </a:xfrm>
          <a:prstGeom prst="rect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0240" tIns="45000" rIns="30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4"/>
          <p:cNvSpPr/>
          <p:nvPr/>
        </p:nvSpPr>
        <p:spPr>
          <a:xfrm>
            <a:off x="841320" y="2231280"/>
            <a:ext cx="18068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I/O or timer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completes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5"/>
          <p:cNvSpPr/>
          <p:nvPr/>
        </p:nvSpPr>
        <p:spPr>
          <a:xfrm>
            <a:off x="27979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6"/>
          <p:cNvSpPr/>
          <p:nvPr/>
        </p:nvSpPr>
        <p:spPr>
          <a:xfrm>
            <a:off x="3035880" y="1993320"/>
            <a:ext cx="2053800" cy="95652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7"/>
          <p:cNvSpPr/>
          <p:nvPr/>
        </p:nvSpPr>
        <p:spPr>
          <a:xfrm>
            <a:off x="3035880" y="1993320"/>
            <a:ext cx="60480" cy="95652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0240" tIns="45000" rIns="30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3182040" y="2231280"/>
            <a:ext cx="18068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Future becomes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DONE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9"/>
          <p:cNvSpPr/>
          <p:nvPr/>
        </p:nvSpPr>
        <p:spPr>
          <a:xfrm>
            <a:off x="5138640" y="2468880"/>
            <a:ext cx="16488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440" tIns="-44640" rIns="824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0"/>
          <p:cNvSpPr/>
          <p:nvPr/>
        </p:nvSpPr>
        <p:spPr>
          <a:xfrm>
            <a:off x="5376600" y="1993320"/>
            <a:ext cx="2053800" cy="95652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1"/>
          <p:cNvSpPr/>
          <p:nvPr/>
        </p:nvSpPr>
        <p:spPr>
          <a:xfrm>
            <a:off x="5376600" y="1993320"/>
            <a:ext cx="60480" cy="956520"/>
          </a:xfrm>
          <a:prstGeom prst="rect">
            <a:avLst/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0240" tIns="45000" rIns="302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5523120" y="2231280"/>
            <a:ext cx="18068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loop.call_soon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(task wakeup)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3"/>
          <p:cNvSpPr/>
          <p:nvPr/>
        </p:nvSpPr>
        <p:spPr>
          <a:xfrm>
            <a:off x="74797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4"/>
          <p:cNvSpPr/>
          <p:nvPr/>
        </p:nvSpPr>
        <p:spPr>
          <a:xfrm>
            <a:off x="7717680" y="1993320"/>
            <a:ext cx="2053800" cy="95652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5"/>
          <p:cNvSpPr/>
          <p:nvPr/>
        </p:nvSpPr>
        <p:spPr>
          <a:xfrm>
            <a:off x="7717680" y="1993320"/>
            <a:ext cx="60480" cy="956520"/>
          </a:xfrm>
          <a:prstGeom prst="rect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0240" tIns="45000" rIns="30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6"/>
          <p:cNvSpPr/>
          <p:nvPr/>
        </p:nvSpPr>
        <p:spPr>
          <a:xfrm>
            <a:off x="7863840" y="2231280"/>
            <a:ext cx="18068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drives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coroutine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7"/>
          <p:cNvSpPr/>
          <p:nvPr/>
        </p:nvSpPr>
        <p:spPr>
          <a:xfrm>
            <a:off x="9820440" y="2468880"/>
            <a:ext cx="146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73080" tIns="-44640" rIns="73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8"/>
          <p:cNvSpPr/>
          <p:nvPr/>
        </p:nvSpPr>
        <p:spPr>
          <a:xfrm>
            <a:off x="10040040" y="1993320"/>
            <a:ext cx="1505160" cy="95652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9"/>
          <p:cNvSpPr/>
          <p:nvPr/>
        </p:nvSpPr>
        <p:spPr>
          <a:xfrm>
            <a:off x="10040040" y="1993320"/>
            <a:ext cx="60480" cy="956520"/>
          </a:xfrm>
          <a:prstGeom prst="rect">
            <a:avLst/>
          </a:prstGeom>
          <a:solidFill>
            <a:srgbClr val="B89CFF"/>
          </a:solidFill>
          <a:ln w="12700">
            <a:solidFill>
              <a:srgbClr val="B8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0240" tIns="45000" rIns="30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0"/>
          <p:cNvSpPr/>
          <p:nvPr/>
        </p:nvSpPr>
        <p:spPr>
          <a:xfrm>
            <a:off x="10186560" y="2231280"/>
            <a:ext cx="1258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next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1"/>
          <p:cNvSpPr/>
          <p:nvPr/>
        </p:nvSpPr>
        <p:spPr>
          <a:xfrm>
            <a:off x="1069920" y="3886200"/>
            <a:ext cx="10054800" cy="1093680"/>
          </a:xfrm>
          <a:prstGeom prst="roundRect">
            <a:avLst>
              <a:gd name="adj" fmla="val 11667"/>
            </a:avLst>
          </a:prstGeom>
          <a:solidFill>
            <a:srgbClr val="10253A"/>
          </a:solidFill>
          <a:ln w="12700">
            <a:solidFill>
              <a:srgbClr val="10253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2"/>
          <p:cNvSpPr/>
          <p:nvPr/>
        </p:nvSpPr>
        <p:spPr>
          <a:xfrm>
            <a:off x="1463040" y="4114800"/>
            <a:ext cx="927756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loop only sees Task._step callbacks.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and Future provide the coroutine semantics above it.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3"/>
          <p:cNvSpPr/>
          <p:nvPr/>
        </p:nvSpPr>
        <p:spPr>
          <a:xfrm>
            <a:off x="1993320" y="5486400"/>
            <a:ext cx="8226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That is the bridge between event-driven callbacks and async / await.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1"/>
          <p:cNvSpPr>
            <a:spLocks noGrp="1"/>
          </p:cNvSpPr>
          <p:nvPr>
            <p:ph type="sldNum" idx="19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13 · ASYNCIO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Where does networking fit?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1"/>
          <p:cNvSpPr>
            <a:spLocks noGrp="1"/>
          </p:cNvSpPr>
          <p:nvPr>
            <p:ph type="sldNum" idx="20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TextBox 25"/>
          <p:cNvSpPr/>
          <p:nvPr/>
        </p:nvSpPr>
        <p:spPr>
          <a:xfrm>
            <a:off x="576000" y="1161360"/>
            <a:ext cx="10146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SelectorEventLoop view: networking builds outward from readiness callbacks.</a:t>
            </a:r>
            <a:endParaRPr lang="en-US" sz="1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Picture 26"/>
          <p:cNvSpPr/>
          <p:nvPr/>
        </p:nvSpPr>
        <p:spPr>
          <a:xfrm>
            <a:off x="713160" y="1627560"/>
            <a:ext cx="5437080" cy="5322240"/>
          </a:xfrm>
          <a:prstGeom prst="rect">
            <a:avLst/>
          </a:pr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ounded Rectangle 27"/>
          <p:cNvSpPr/>
          <p:nvPr/>
        </p:nvSpPr>
        <p:spPr>
          <a:xfrm>
            <a:off x="6565320" y="4206240"/>
            <a:ext cx="4732920" cy="10936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94" name="Rounded Rectangle 28"/>
          <p:cNvSpPr/>
          <p:nvPr/>
        </p:nvSpPr>
        <p:spPr>
          <a:xfrm>
            <a:off x="6729840" y="4370760"/>
            <a:ext cx="96840" cy="76464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8600" tIns="45000" rIns="48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95" name="TextBox 29"/>
          <p:cNvSpPr/>
          <p:nvPr/>
        </p:nvSpPr>
        <p:spPr>
          <a:xfrm>
            <a:off x="7004160" y="4325040"/>
            <a:ext cx="41295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30"/>
          <p:cNvSpPr/>
          <p:nvPr/>
        </p:nvSpPr>
        <p:spPr>
          <a:xfrm>
            <a:off x="7004160" y="4690800"/>
            <a:ext cx="412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loop.open_connection(...)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loop.start_server(...)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6565320" y="2971800"/>
            <a:ext cx="4732920" cy="10936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98" name="Rounded Rectangle 32"/>
          <p:cNvSpPr/>
          <p:nvPr/>
        </p:nvSpPr>
        <p:spPr>
          <a:xfrm>
            <a:off x="6729840" y="3136320"/>
            <a:ext cx="96840" cy="76464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8600" tIns="45000" rIns="48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7004160" y="3090600"/>
            <a:ext cx="41295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Transport / Protocol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34"/>
          <p:cNvSpPr/>
          <p:nvPr/>
        </p:nvSpPr>
        <p:spPr>
          <a:xfrm>
            <a:off x="7004160" y="3456360"/>
            <a:ext cx="412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35"/>
          <p:cNvSpPr/>
          <p:nvPr/>
        </p:nvSpPr>
        <p:spPr>
          <a:xfrm>
            <a:off x="6565320" y="1737360"/>
            <a:ext cx="4732920" cy="10936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02" name="Rounded Rectangle 36"/>
          <p:cNvSpPr/>
          <p:nvPr/>
        </p:nvSpPr>
        <p:spPr>
          <a:xfrm>
            <a:off x="6729840" y="1901880"/>
            <a:ext cx="96840" cy="764640"/>
          </a:xfrm>
          <a:prstGeom prst="roundRect">
            <a:avLst>
              <a:gd name="adj" fmla="val 16667"/>
            </a:avLst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8600" tIns="45000" rIns="48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03" name="TextBox 37"/>
          <p:cNvSpPr/>
          <p:nvPr/>
        </p:nvSpPr>
        <p:spPr>
          <a:xfrm>
            <a:off x="7004160" y="1856160"/>
            <a:ext cx="41295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Socket coroutines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38"/>
          <p:cNvSpPr/>
          <p:nvPr/>
        </p:nvSpPr>
        <p:spPr>
          <a:xfrm>
            <a:off x="7004160" y="2221920"/>
            <a:ext cx="412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loop.sock_recv()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loop.sock_sendall()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39"/>
          <p:cNvSpPr/>
          <p:nvPr/>
        </p:nvSpPr>
        <p:spPr>
          <a:xfrm>
            <a:off x="6830640" y="5404680"/>
            <a:ext cx="420264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sock_* uses readiness directly; Streams build on top of Transport / Protocol.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ection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14 · SOCKET COROUTINES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itle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Building sock_recv() from readiness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tep 1"/>
          <p:cNvSpPr/>
          <p:nvPr/>
        </p:nvSpPr>
        <p:spPr>
          <a:xfrm>
            <a:off x="8430120" y="1569960"/>
            <a:ext cx="3119040" cy="111888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tep 1 text"/>
          <p:cNvSpPr/>
          <p:nvPr/>
        </p:nvSpPr>
        <p:spPr>
          <a:xfrm>
            <a:off x="8690040" y="1760040"/>
            <a:ext cx="2669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 TRY NOW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recv() may succeed immediately.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tep 2"/>
          <p:cNvSpPr/>
          <p:nvPr/>
        </p:nvSpPr>
        <p:spPr>
          <a:xfrm>
            <a:off x="8430120" y="2890080"/>
            <a:ext cx="3119040" cy="13190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tep 2 text"/>
          <p:cNvSpPr/>
          <p:nvPr/>
        </p:nvSpPr>
        <p:spPr>
          <a:xfrm>
            <a:off x="8690040" y="3080160"/>
            <a:ext cx="2669040" cy="9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2  WAIT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add_reader() watches the socket; the coroutine awaits a Future.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tep 3"/>
          <p:cNvSpPr/>
          <p:nvPr/>
        </p:nvSpPr>
        <p:spPr>
          <a:xfrm>
            <a:off x="8430120" y="4410000"/>
            <a:ext cx="3119040" cy="14187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tep 3 text"/>
          <p:cNvSpPr/>
          <p:nvPr/>
        </p:nvSpPr>
        <p:spPr>
          <a:xfrm>
            <a:off x="8690040" y="4600080"/>
            <a:ext cx="2669040" cy="10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3  RESUME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readable → recv() → set_result() → Task wakes up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akeaway"/>
          <p:cNvSpPr/>
          <p:nvPr/>
        </p:nvSpPr>
        <p:spPr>
          <a:xfrm>
            <a:off x="8430120" y="6069960"/>
            <a:ext cx="31190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Callback underneath; coroutine API above.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lide number"/>
          <p:cNvSpPr/>
          <p:nvPr/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6" name=""/>
          <p:cNvPicPr/>
          <p:nvPr/>
        </p:nvPicPr>
        <p:blipFill>
          <a:blip r:embed="rId1"/>
          <a:stretch/>
        </p:blipFill>
        <p:spPr>
          <a:xfrm>
            <a:off x="517320" y="1587600"/>
            <a:ext cx="7712280" cy="434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15 · LOWER-LEVEL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 + Protocol: a connection as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2"/>
          <p:cNvSpPr/>
          <p:nvPr/>
        </p:nvSpPr>
        <p:spPr>
          <a:xfrm>
            <a:off x="713160" y="1508760"/>
            <a:ext cx="4732920" cy="420264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1033200" y="1783080"/>
            <a:ext cx="136800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4"/>
          <p:cNvSpPr/>
          <p:nvPr/>
        </p:nvSpPr>
        <p:spPr>
          <a:xfrm>
            <a:off x="1051560" y="2212920"/>
            <a:ext cx="4065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connection_made(transport)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1051560" y="2898720"/>
            <a:ext cx="4065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data_received(data)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1051560" y="3584520"/>
            <a:ext cx="4065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connection_lost(exc)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7"/>
          <p:cNvSpPr/>
          <p:nvPr/>
        </p:nvSpPr>
        <p:spPr>
          <a:xfrm>
            <a:off x="1051560" y="4782240"/>
            <a:ext cx="4038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reacts to events.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8"/>
          <p:cNvSpPr/>
          <p:nvPr/>
        </p:nvSpPr>
        <p:spPr>
          <a:xfrm>
            <a:off x="6711840" y="1508760"/>
            <a:ext cx="4732920" cy="420264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9"/>
          <p:cNvSpPr/>
          <p:nvPr/>
        </p:nvSpPr>
        <p:spPr>
          <a:xfrm>
            <a:off x="7040880" y="1783080"/>
            <a:ext cx="136800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0"/>
          <p:cNvSpPr/>
          <p:nvPr/>
        </p:nvSpPr>
        <p:spPr>
          <a:xfrm>
            <a:off x="7040880" y="2212920"/>
            <a:ext cx="40381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write(data)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1"/>
          <p:cNvSpPr/>
          <p:nvPr/>
        </p:nvSpPr>
        <p:spPr>
          <a:xfrm>
            <a:off x="7040880" y="2898720"/>
            <a:ext cx="40381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pause_reading() / resume_reading()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2"/>
          <p:cNvSpPr/>
          <p:nvPr/>
        </p:nvSpPr>
        <p:spPr>
          <a:xfrm>
            <a:off x="7040880" y="3584520"/>
            <a:ext cx="40381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close()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"/>
          <p:cNvSpPr/>
          <p:nvPr/>
        </p:nvSpPr>
        <p:spPr>
          <a:xfrm>
            <a:off x="7040880" y="4782240"/>
            <a:ext cx="4038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asyncio owns the I/O channel.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4"/>
          <p:cNvSpPr/>
          <p:nvPr/>
        </p:nvSpPr>
        <p:spPr>
          <a:xfrm>
            <a:off x="5468040" y="2359080"/>
            <a:ext cx="1152000" cy="360"/>
          </a:xfrm>
          <a:prstGeom prst="line">
            <a:avLst/>
          </a:prstGeom>
          <a:ln w="3048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5"/>
          <p:cNvSpPr/>
          <p:nvPr/>
        </p:nvSpPr>
        <p:spPr>
          <a:xfrm>
            <a:off x="5513760" y="2011680"/>
            <a:ext cx="104796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send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6"/>
          <p:cNvSpPr/>
          <p:nvPr/>
        </p:nvSpPr>
        <p:spPr>
          <a:xfrm flipH="1">
            <a:off x="5468040" y="3108960"/>
            <a:ext cx="1152000" cy="360"/>
          </a:xfrm>
          <a:prstGeom prst="line">
            <a:avLst/>
          </a:prstGeom>
          <a:ln w="3048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7"/>
          <p:cNvSpPr/>
          <p:nvPr/>
        </p:nvSpPr>
        <p:spPr>
          <a:xfrm>
            <a:off x="5486400" y="3255120"/>
            <a:ext cx="1112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received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8"/>
          <p:cNvSpPr/>
          <p:nvPr/>
        </p:nvSpPr>
        <p:spPr>
          <a:xfrm>
            <a:off x="5394960" y="4206240"/>
            <a:ext cx="13222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: 1 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sldNum" idx="21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67000" y="347400"/>
            <a:ext cx="43855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16 · TWO COROUTINE-FACING APIS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567000" y="640080"/>
            <a:ext cx="108777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Streams vs. loop.sock_*()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"/>
          <p:cNvSpPr/>
          <p:nvPr/>
        </p:nvSpPr>
        <p:spPr>
          <a:xfrm>
            <a:off x="713160" y="1444680"/>
            <a:ext cx="5226840" cy="452268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"/>
          <p:cNvSpPr/>
          <p:nvPr/>
        </p:nvSpPr>
        <p:spPr>
          <a:xfrm>
            <a:off x="1078920" y="1719000"/>
            <a:ext cx="1258200" cy="307440"/>
          </a:xfrm>
          <a:prstGeom prst="roundRect">
            <a:avLst>
              <a:gd name="adj" fmla="val 47059"/>
            </a:avLst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4"/>
          <p:cNvSpPr/>
          <p:nvPr/>
        </p:nvSpPr>
        <p:spPr>
          <a:xfrm>
            <a:off x="1124640" y="1778400"/>
            <a:ext cx="116676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Streams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1060560" y="2331720"/>
            <a:ext cx="450432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reader, writer = await open_connection(...)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6"/>
          <p:cNvSpPr/>
          <p:nvPr/>
        </p:nvSpPr>
        <p:spPr>
          <a:xfrm>
            <a:off x="1060560" y="2853000"/>
            <a:ext cx="450432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 = await reader.read(4096)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7"/>
          <p:cNvSpPr/>
          <p:nvPr/>
        </p:nvSpPr>
        <p:spPr>
          <a:xfrm>
            <a:off x="1060560" y="3374280"/>
            <a:ext cx="45043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writer.write(data)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 writer.drain()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8"/>
          <p:cNvSpPr/>
          <p:nvPr/>
        </p:nvSpPr>
        <p:spPr>
          <a:xfrm>
            <a:off x="1060560" y="4297680"/>
            <a:ext cx="44312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buffering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backpressure helpers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convenient application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9"/>
          <p:cNvSpPr/>
          <p:nvPr/>
        </p:nvSpPr>
        <p:spPr>
          <a:xfrm>
            <a:off x="6245280" y="1444680"/>
            <a:ext cx="5226840" cy="452268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0"/>
          <p:cNvSpPr/>
          <p:nvPr/>
        </p:nvSpPr>
        <p:spPr>
          <a:xfrm>
            <a:off x="6611040" y="1719000"/>
            <a:ext cx="1623960" cy="307440"/>
          </a:xfrm>
          <a:prstGeom prst="roundRect">
            <a:avLst>
              <a:gd name="adj" fmla="val 47059"/>
            </a:avLst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1"/>
          <p:cNvSpPr/>
          <p:nvPr/>
        </p:nvSpPr>
        <p:spPr>
          <a:xfrm>
            <a:off x="6656760" y="1778400"/>
            <a:ext cx="153252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loop.sock_*()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2"/>
          <p:cNvSpPr/>
          <p:nvPr/>
        </p:nvSpPr>
        <p:spPr>
          <a:xfrm>
            <a:off x="6602040" y="2331720"/>
            <a:ext cx="449532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 = await loop.sock_recv(sock, 4096)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3"/>
          <p:cNvSpPr/>
          <p:nvPr/>
        </p:nvSpPr>
        <p:spPr>
          <a:xfrm>
            <a:off x="6602040" y="2853000"/>
            <a:ext cx="449532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 loop.sock_sendall(sock, data)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"/>
          <p:cNvSpPr/>
          <p:nvPr/>
        </p:nvSpPr>
        <p:spPr>
          <a:xfrm>
            <a:off x="6602040" y="3511440"/>
            <a:ext cx="449532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sock must be non-blocking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5"/>
          <p:cNvSpPr/>
          <p:nvPr/>
        </p:nvSpPr>
        <p:spPr>
          <a:xfrm>
            <a:off x="6602040" y="4297680"/>
            <a:ext cx="44312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direct socket ownership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fewer abstractions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separate API path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replicate socket stdlib module, but with async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1"/>
          <p:cNvSpPr>
            <a:spLocks noGrp="1"/>
          </p:cNvSpPr>
          <p:nvPr>
            <p:ph type="sldNum" idx="22"/>
          </p:nvPr>
        </p:nvSpPr>
        <p:spPr>
          <a:xfrm>
            <a:off x="11777400" y="6492240"/>
            <a:ext cx="225000" cy="1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ection"/>
          <p:cNvSpPr/>
          <p:nvPr/>
        </p:nvSpPr>
        <p:spPr>
          <a:xfrm>
            <a:off x="567000" y="347400"/>
            <a:ext cx="43862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18 · TRY IT YOURSELF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itle"/>
          <p:cNvSpPr/>
          <p:nvPr/>
        </p:nvSpPr>
        <p:spPr>
          <a:xfrm>
            <a:off x="567000" y="640080"/>
            <a:ext cx="10878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EduLoop: small enough to read, real enough to run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ubtitle"/>
          <p:cNvSpPr/>
          <p:nvPr/>
        </p:nvSpPr>
        <p:spPr>
          <a:xfrm>
            <a:off x="576000" y="1161360"/>
            <a:ext cx="1079964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The core ideas fit in a few hundred lines — without becoming a toy.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Loop metric"/>
          <p:cNvSpPr/>
          <p:nvPr/>
        </p:nvSpPr>
        <p:spPr>
          <a:xfrm>
            <a:off x="567000" y="1630080"/>
            <a:ext cx="2259720" cy="13496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Loop metric text"/>
          <p:cNvSpPr/>
          <p:nvPr/>
        </p:nvSpPr>
        <p:spPr>
          <a:xfrm>
            <a:off x="747000" y="1829880"/>
            <a:ext cx="189972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≈250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event-loop core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ask metric"/>
          <p:cNvSpPr/>
          <p:nvPr/>
        </p:nvSpPr>
        <p:spPr>
          <a:xfrm>
            <a:off x="3017160" y="1630080"/>
            <a:ext cx="2259720" cy="13496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ask metric text"/>
          <p:cNvSpPr/>
          <p:nvPr/>
        </p:nvSpPr>
        <p:spPr>
          <a:xfrm>
            <a:off x="3197160" y="1829880"/>
            <a:ext cx="189972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≈150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minimal Task + Futures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Uvicorn metric"/>
          <p:cNvSpPr/>
          <p:nvPr/>
        </p:nvSpPr>
        <p:spPr>
          <a:xfrm>
            <a:off x="5466960" y="1630080"/>
            <a:ext cx="2259720" cy="13496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Uvicorn metric text"/>
          <p:cNvSpPr/>
          <p:nvPr/>
        </p:nvSpPr>
        <p:spPr>
          <a:xfrm>
            <a:off x="5646960" y="1829880"/>
            <a:ext cx="189972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0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Runs Uvicorn</a:t>
            </a:r>
            <a:endParaRPr lang="en-US" sz="2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 real ASGI server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Layers panel"/>
          <p:cNvSpPr/>
          <p:nvPr/>
        </p:nvSpPr>
        <p:spPr>
          <a:xfrm>
            <a:off x="567000" y="3269880"/>
            <a:ext cx="7159680" cy="22496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Layers title"/>
          <p:cNvSpPr/>
          <p:nvPr/>
        </p:nvSpPr>
        <p:spPr>
          <a:xfrm>
            <a:off x="837000" y="3510000"/>
            <a:ext cx="6599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The remaining pieces stay modular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aiofastnet pill"/>
          <p:cNvSpPr/>
          <p:nvPr/>
        </p:nvSpPr>
        <p:spPr>
          <a:xfrm>
            <a:off x="837000" y="4110120"/>
            <a:ext cx="1479600" cy="419760"/>
          </a:xfrm>
          <a:prstGeom prst="roundRect">
            <a:avLst>
              <a:gd name="adj" fmla="val 5000"/>
            </a:avLst>
          </a:prstGeom>
          <a:solidFill>
            <a:srgbClr val="59D6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aiofastnet"/>
          <p:cNvSpPr/>
          <p:nvPr/>
        </p:nvSpPr>
        <p:spPr>
          <a:xfrm>
            <a:off x="916920" y="4179960"/>
            <a:ext cx="131976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aiofastnet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aiofastnet description"/>
          <p:cNvSpPr/>
          <p:nvPr/>
        </p:nvSpPr>
        <p:spPr>
          <a:xfrm>
            <a:off x="2520000" y="4089960"/>
            <a:ext cx="48996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transports · protocols · socket APIs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aiodns pill"/>
          <p:cNvSpPr/>
          <p:nvPr/>
        </p:nvSpPr>
        <p:spPr>
          <a:xfrm>
            <a:off x="837000" y="4719960"/>
            <a:ext cx="1479600" cy="419760"/>
          </a:xfrm>
          <a:prstGeom prst="roundRect">
            <a:avLst>
              <a:gd name="adj" fmla="val 5000"/>
            </a:avLst>
          </a:prstGeom>
          <a:solidFill>
            <a:srgbClr val="FFD4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aiodns"/>
          <p:cNvSpPr/>
          <p:nvPr/>
        </p:nvSpPr>
        <p:spPr>
          <a:xfrm>
            <a:off x="916920" y="4790160"/>
            <a:ext cx="131976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aiodns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aiodns description"/>
          <p:cNvSpPr/>
          <p:nvPr/>
        </p:nvSpPr>
        <p:spPr>
          <a:xfrm>
            <a:off x="2520000" y="4700160"/>
            <a:ext cx="48996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asynchronous DNS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QR card"/>
          <p:cNvSpPr/>
          <p:nvPr/>
        </p:nvSpPr>
        <p:spPr>
          <a:xfrm>
            <a:off x="8169840" y="1569960"/>
            <a:ext cx="3419640" cy="411948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2" name="EduLoop GitHub QR code" descr="QR code for https://github.com/tarasko/eduloop"/>
          <p:cNvPicPr/>
          <p:nvPr/>
        </p:nvPicPr>
        <p:blipFill>
          <a:blip r:embed="rId1"/>
          <a:stretch/>
        </p:blipFill>
        <p:spPr>
          <a:xfrm>
            <a:off x="8510040" y="1810080"/>
            <a:ext cx="2799720" cy="279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GitHub URL"/>
          <p:cNvSpPr/>
          <p:nvPr/>
        </p:nvSpPr>
        <p:spPr>
          <a:xfrm>
            <a:off x="8370000" y="4809960"/>
            <a:ext cx="3019680" cy="3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81020"/>
                </a:solidFill>
                <a:effectLst/>
                <a:uFillTx/>
                <a:latin typeface="Noto Sans Mono"/>
                <a:ea typeface="Noto Sans Mono"/>
              </a:rPr>
              <a:t>github.com/tarasko/eduloop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akeaway"/>
          <p:cNvSpPr/>
          <p:nvPr/>
        </p:nvSpPr>
        <p:spPr>
          <a:xfrm>
            <a:off x="1100160" y="5860080"/>
            <a:ext cx="103996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Small enough to understand. Complete enough to serve.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lide number"/>
          <p:cNvSpPr/>
          <p:nvPr/>
        </p:nvSpPr>
        <p:spPr>
          <a:xfrm>
            <a:off x="11777400" y="6492240"/>
            <a:ext cx="2257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 pitchFamily="0" charset="1"/>
        <a:ea typeface=""/>
        <a:cs typeface=""/>
      </a:majorFont>
      <a:minorFont>
        <a:latin typeface="Noto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506</TotalTime>
  <Application>LibreOffice/26.2.5.2$Linux_X86_64 LibreOffice_project/6d2b0d33fb0f5da53a12f98bed3e9973e56ff1f0</Application>
  <AppVersion>15.0000</AppVersion>
  <Words>0</Words>
  <Paragraphs>0</Paragraphs>
  <Company>PyCon NL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2026-09-22T10:00:55Z</dcterms:created>
  <dc:creator>OpenAI</dc:creator>
  <dc:description/>
  <dc:language>en-US</dc:language>
  <cp:lastModifiedBy/>
  <dcterms:modified xsi:type="dcterms:W3CDTF">2026-10-14T16:47:51Z</dcterms:modified>
  <cp:revision>35</cp:revision>
  <dc:subject>What's Inside an asyncio Event Loop?</dc:subject>
  <dc:title>What's Inside an asyncio Event Loop?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On-screen Show (16:9)</vt:lpwstr>
  </property>
  <property fmtid="{D5CDD505-2E9C-101B-9397-08002B2CF9AE}" pid="4" name="Slides">
    <vt:i4>19</vt:i4>
  </property>
</Properties>
</file>