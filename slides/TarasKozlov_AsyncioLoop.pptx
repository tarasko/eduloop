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49A12C3-2D45-4A36-99C4-CC52CAF2678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(~30s)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goal is not to teach async/await syntax. We will temporarily forget async/await and build the machinery underneath it from small, understandable pieces. By the time Tasks and networking appear, they should feel inevitable rather than magical.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There are one-off programs designed to run, do one thing, and finish. But many applications are designed to live for a long time and react to external events.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Those events can be almost anything: incoming connections or network messages, GUI events, Unix signals, timers, or internal events arriving from another part of the program or another thread.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Somewhere in every event-driven program there is a loop that effectively says: wait for the next event, then dispatch it to the appropriate handler.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Event-loop libraries automate the low-level integration with the operating system and expose a convenient — and often cross-platform — interface to the developer.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now, forget async and await completely.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narrow the discussion to asyncio. At its core, the event loop has only a few basic responsibilities.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call_soon puts callback work into the ready queue. call_later manages callbacks that should become ready in the future. add_reader and add_writer register I/O readiness interest. run_forever repeatedly performs one loop iteration until stop is requested.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real signatures have some extra details, but these are the essential pieces.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next few slides build these functions one by 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with the smallest thing that deserves to be called an event loop. call_soon just appends a callback and its arguments to a deque. run_forever repeatedly takes the next item and calls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the mental model, deliberately omit lifecycle details such as stop(): they are trivial compared with the scheduling mechanism we want to understand.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this point there is no async/await, no Tasks, no sockets — just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obvious problem is that when the ready queue is empty this implementation busy-spins. We will fix that gradually.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add timers. call_later calculates an absolute deadline using monotonic time and pushes the callback into a min-heap.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iteration checks the heap. Every timer whose deadline has passed is removed and moved into the same ready queue that call_soon uses. Then we execute the ready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there is nothing ready, we can now avoid busy-spinning: look at the earliest timer and sleep until that deadline.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an important step because timers do not create a separate execution mechanism. They only decide when a callback becomes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now we are ready for the next problem: time.sleep knows only about time, but an event loop also needs to wake for I/O.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add timers. call_later calculates an absolute deadline using monotonic time and pushes the callback into a min-heap.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iteration checks the heap. Every timer whose deadline has passed is removed and moved into the same ready queue that call_soon uses. Then we execute the ready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there is nothing ready, we can now avoid busy-spinning: look at the earliest timer and sleep until that deadline.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an important step because timers do not create a separate execution mechanism. They only decide when a callback becomes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now we are ready for the next problem: time.sleep knows only about time, but an event loop also needs to wake for I/O.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narrative hinge. time.sleep knows only time. If the next timer is 8 seconds away but a socket receives a packet after 2 ms, sleep cannot wake early.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replace “sleep until timeout” with “wait for I/O, but no longer than timeout”. That is exactly the service a selector provides.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add I/O registration. add_reader and add_writer associate a file descriptor plus an event mask with the callback that should become runnable when the descriptor is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implementation on the slide is deliberately small but handles the important case where the same fd may be watched for both reading and writing: update the combined selector mask and keep a callback per event.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selector.select(timeout) is the blocking point. It returns either because an fd became ready or because the timer-derived timeout expired.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select/poll/epoll/kqueue only as examples of the same readiness abstraction; do not dive into their differences.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add I/O registration. add_reader and add_writer associate a file descriptor plus an event mask with the callback that should become runnable when the descriptor is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implementation on the slide is deliberately small but handles the important case where the same fd may be watched for both reading and writing: update the combined selector mask and keep a callback per event.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selector.select(timeout) is the blocking point. It returns either because an fd became ready or because the timer-derived timeout expired.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select/poll/epoll/kqueue only as examples of the same readiness abstraction; do not dive into their differences.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add I/O registration. add_reader and add_writer associate a file descriptor plus an event mask with the callback that should become runnable when the descriptor is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implementation on the slide is deliberately small but handles the important case where the same fd may be watched for both reading and writing: update the combined selector mask and keep a callback per event.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selector.select(timeout) is the blocking point. It returns either because an fd became ready or because the timer-derived timeout expired.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select/poll/epoll/kqueue only as examples of the same readiness abstraction; do not dive into their differences.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slide to dwell on. The exact CPython implementation has cancellation cleanup, clock resolution handling, debug timing, etc., but conceptually the loop does these four things.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Important subtlety: run a snapshot/current batch of ready callbacks, not an unbounded loop over callbacks appended by callbacks. Newly scheduled callbacks generally wait for the next iteration.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~30s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Pause and emphasize this. Nothing about an event loop inherently requires coroutines. libevent, GUI loops, Node's internals, and old-school async code can all be callback-driven.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introduce coroutines as a control-flow abstraction layered on top of the callback scheduler.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direct answer to “how do you actually pause and resume a coroutine?”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coroutine itself contains `await future`. Python enters Future.__await__(). If the Future is not done, that method executes `yield self`. That yield is what gives control back to the coroutine driver.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first coro.send(None) therefore runs conversation() until the Future yields itself. Later we mark the Future done and send None again. Execution continues inside Future.__await__(), which returns the stored result; that becomes the value of the await expression.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example mutates private fields only to keep this slide focused. The next slide introduces the public completion API: set_result(), set_exception(), and add_done_callback().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conversation() finally returns, send(None) raises StopIteration to its driver; mention this only if useful.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introduce the Future API that replaces the private field manipulation from the previous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add_done_callback(cb): somebody can register interest in completion. A Task will use this to arrange its own resumption.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set_result(value) and set_exception(exc) are the two important ways to complete the Future.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key connection back to our event loop: asyncio schedules Future done callbacks through loop.call_soon rather than invoking them inline. So Future completion simply creates normal ready-queue work.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conceptual; cancellation and other production details are deliberately omitted.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the three pieces join together. A Task owns a coroutine. Its step callback calls coro.send(None).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 coroutine reaches `await future`, Future.__await__() yields that Future back to Task.step(). The Task registers wakeup as a done callback and stops doing anything.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Future completes, Future schedules wakeup through loop.call_soon. Because wakeup itself is now an event-loop callback, it can immediately drive the coroutine again by calling step().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Notice the important detail from slide 10: we send None when resuming. Future.__await__() returns its stored result internally, so that value becomes the result of the await expression.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pseudocode intentionally ignores cancellation and exception injection. The payoff slide next shows the whole cycle.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conceptual reveal. Trace one complete cycle from an I/O event to the next await.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 precise: Futures and Tasks are attached to / use an event loop; they are not literally disconnected. The useful architectural point is that the event-loop iteration does not need to understand Python coroutine control flow. It executes scheduled callbacks; Task/Future machinery converts coroutine suspension/resumption into those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networking map for a SelectorEventLoop. At the center are readiness callbacks: add_reader() and add_writer(). One layer out there are two paths. Transport/Protocol is created through create_connection()/create_server(). The sock_* coroutines are a parallel path that works directly with non-blocking sockets. Streams are built on the Transport/Protocol path: open_connection() uses create_connection(), and start_server() uses create_server(). Later I will qualify the center for Windows, where ProactorEventLoop uses IOCP completion operations instead.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concrete. Protocol is the application-facing callback object; Transport abstracts the channel and exposes write/control methods. The event loop constructs them together.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Mention flow control only briefly if time allows. BufferedProtocol is appendix material, not part of the main path.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audience probably uses Streams. The useful architectural fact is that loop.sock_* gives a separate coroutine-facing path for working with non-blocking socket objects directly.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not claim that sock_* is always faster; the current docs explicitly say transport-based APIs are generally faster than direct socket implementations, though direct sockets can be convenient.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caveat to our selector-based construction. We built a reactor: readiness arrives, then code performs I/O. Windows' default ProactorEventLoop uses IOCP/completion-style mechanisms, so add_reader/add_writer are not supported.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high-level Task/Future/callback mental model still helps, but the bottom I/O mechanism is different.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Backup / Q&amp;A only. This topic matches a performance-oriented audience but costs too much main-talk time. Use it if someone asks about lower-level protocol performance or receive-buffer allocation.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040" cy="49680"/>
          </a:xfrm>
          <a:prstGeom prst="rect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5400" rIns="90000" bIns="5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561320" y="6492240"/>
            <a:ext cx="1142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PyCon NL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sldNum" idx="1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BA3E00-79FF-4616-8C2F-A3531C1E11A5}" type="slidenum"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&lt;number&gt;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the title 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MASTER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/>
          <p:cNvSpPr/>
          <p:nvPr/>
        </p:nvSpPr>
        <p:spPr>
          <a:xfrm>
            <a:off x="0" y="0"/>
            <a:ext cx="12191040" cy="49680"/>
          </a:xfrm>
          <a:prstGeom prst="rect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5400" rIns="90000" bIns="5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1"/>
          <p:cNvSpPr/>
          <p:nvPr/>
        </p:nvSpPr>
        <p:spPr>
          <a:xfrm>
            <a:off x="10561320" y="6492240"/>
            <a:ext cx="1142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PyCon NL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sldNum" idx="2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A67F73-7A06-4AD6-AF8D-AE831BD84F95}" type="slidenum"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&lt;number&gt;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ic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k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di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th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tit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fo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m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685800" y="1225440"/>
            <a:ext cx="75888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What's Inside an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685800" y="1847160"/>
            <a:ext cx="960048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D43B"/>
                </a:solidFill>
                <a:effectLst/>
                <a:uFillTx/>
                <a:latin typeface="DejaVu Sans Mono"/>
                <a:ea typeface="DejaVu Sans Mono"/>
              </a:rPr>
              <a:t>asyncio Event Loop?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3"/>
          <p:cNvSpPr/>
          <p:nvPr/>
        </p:nvSpPr>
        <p:spPr>
          <a:xfrm>
            <a:off x="8888040" y="1143000"/>
            <a:ext cx="986760" cy="986760"/>
          </a:xfrm>
          <a:prstGeom prst="ellipse">
            <a:avLst/>
          </a:prstGeom>
          <a:solidFill>
            <a:srgbClr val="4B8BBE"/>
          </a:solidFill>
          <a:ln w="1270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8888040" y="1389960"/>
            <a:ext cx="98676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I/O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5"/>
          <p:cNvSpPr/>
          <p:nvPr/>
        </p:nvSpPr>
        <p:spPr>
          <a:xfrm>
            <a:off x="10287000" y="1965960"/>
            <a:ext cx="986760" cy="986760"/>
          </a:xfrm>
          <a:prstGeom prst="ellipse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6"/>
          <p:cNvSpPr/>
          <p:nvPr/>
        </p:nvSpPr>
        <p:spPr>
          <a:xfrm>
            <a:off x="10287000" y="2212920"/>
            <a:ext cx="98676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timer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7"/>
          <p:cNvSpPr/>
          <p:nvPr/>
        </p:nvSpPr>
        <p:spPr>
          <a:xfrm>
            <a:off x="9464040" y="3364920"/>
            <a:ext cx="986760" cy="986760"/>
          </a:xfrm>
          <a:prstGeom prst="ellipse">
            <a:avLst/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8"/>
          <p:cNvSpPr/>
          <p:nvPr/>
        </p:nvSpPr>
        <p:spPr>
          <a:xfrm>
            <a:off x="9464040" y="3611880"/>
            <a:ext cx="98676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Task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9"/>
          <p:cNvSpPr/>
          <p:nvPr/>
        </p:nvSpPr>
        <p:spPr>
          <a:xfrm>
            <a:off x="8065080" y="2560320"/>
            <a:ext cx="986760" cy="986760"/>
          </a:xfrm>
          <a:prstGeom prst="ellipse">
            <a:avLst/>
          </a:prstGeom>
          <a:solidFill>
            <a:srgbClr val="5CE1E6"/>
          </a:solidFill>
          <a:ln w="12700">
            <a:solidFill>
              <a:srgbClr val="5C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0"/>
          <p:cNvSpPr/>
          <p:nvPr/>
        </p:nvSpPr>
        <p:spPr>
          <a:xfrm>
            <a:off x="8065080" y="2807280"/>
            <a:ext cx="98676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cb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1"/>
          <p:cNvSpPr/>
          <p:nvPr/>
        </p:nvSpPr>
        <p:spPr>
          <a:xfrm>
            <a:off x="9874800" y="1847160"/>
            <a:ext cx="412200" cy="365760"/>
          </a:xfrm>
          <a:prstGeom prst="line">
            <a:avLst/>
          </a:prstGeom>
          <a:ln w="22860">
            <a:solidFill>
              <a:srgbClr val="8F9AB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2"/>
          <p:cNvSpPr/>
          <p:nvPr/>
        </p:nvSpPr>
        <p:spPr>
          <a:xfrm flipH="1">
            <a:off x="10287000" y="2971800"/>
            <a:ext cx="228600" cy="393120"/>
          </a:xfrm>
          <a:prstGeom prst="line">
            <a:avLst/>
          </a:prstGeom>
          <a:ln w="22860">
            <a:solidFill>
              <a:srgbClr val="8F9AB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3"/>
          <p:cNvSpPr/>
          <p:nvPr/>
        </p:nvSpPr>
        <p:spPr>
          <a:xfrm flipH="1" flipV="1">
            <a:off x="8915400" y="3547080"/>
            <a:ext cx="429480" cy="275040"/>
          </a:xfrm>
          <a:prstGeom prst="line">
            <a:avLst/>
          </a:prstGeom>
          <a:ln w="22860">
            <a:solidFill>
              <a:srgbClr val="8F9AB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4"/>
          <p:cNvSpPr/>
          <p:nvPr/>
        </p:nvSpPr>
        <p:spPr>
          <a:xfrm flipV="1">
            <a:off x="8676720" y="2154600"/>
            <a:ext cx="276120" cy="335160"/>
          </a:xfrm>
          <a:prstGeom prst="line">
            <a:avLst/>
          </a:prstGeom>
          <a:ln w="22860">
            <a:solidFill>
              <a:srgbClr val="8F9AB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sldNum" idx="6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TextBox 59"/>
          <p:cNvSpPr/>
          <p:nvPr/>
        </p:nvSpPr>
        <p:spPr>
          <a:xfrm>
            <a:off x="8632800" y="5943600"/>
            <a:ext cx="211140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Taras Kozlov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PyCon NL 2026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sldNum" idx="7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TextBox 25"/>
          <p:cNvSpPr/>
          <p:nvPr/>
        </p:nvSpPr>
        <p:spPr>
          <a:xfrm>
            <a:off x="567000" y="347400"/>
            <a:ext cx="4937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 · MOTIVATION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Box 26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Why do we need an event loop?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27"/>
          <p:cNvSpPr/>
          <p:nvPr/>
        </p:nvSpPr>
        <p:spPr>
          <a:xfrm>
            <a:off x="621720" y="1234440"/>
            <a:ext cx="10697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Some programs finish. Others spend most of their life waiting for something to happen.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Rounded Rectangle 28"/>
          <p:cNvSpPr/>
          <p:nvPr/>
        </p:nvSpPr>
        <p:spPr>
          <a:xfrm>
            <a:off x="685800" y="1847160"/>
            <a:ext cx="3245400" cy="32454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9" name="TextBox 29"/>
          <p:cNvSpPr/>
          <p:nvPr/>
        </p:nvSpPr>
        <p:spPr>
          <a:xfrm>
            <a:off x="932760" y="2057400"/>
            <a:ext cx="27424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ONE-OFF PROGRAM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Box 30"/>
          <p:cNvSpPr/>
          <p:nvPr/>
        </p:nvSpPr>
        <p:spPr>
          <a:xfrm>
            <a:off x="932760" y="2560320"/>
            <a:ext cx="2696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9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start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1" name="Connector 31"/>
          <p:cNvCxnSpPr/>
          <p:nvPr/>
        </p:nvCxnSpPr>
        <p:spPr>
          <a:xfrm>
            <a:off x="1353240" y="3090600"/>
            <a:ext cx="720" cy="887400"/>
          </a:xfrm>
          <a:prstGeom prst="straightConnector1">
            <a:avLst/>
          </a:prstGeom>
          <a:ln w="25400">
            <a:solidFill>
              <a:srgbClr val="8292A2"/>
            </a:solidFill>
            <a:round/>
          </a:ln>
        </p:spPr>
      </p:cxnSp>
      <p:sp>
        <p:nvSpPr>
          <p:cNvPr id="42" name="Down Arrow 32"/>
          <p:cNvSpPr/>
          <p:nvPr/>
        </p:nvSpPr>
        <p:spPr>
          <a:xfrm>
            <a:off x="1115640" y="3200400"/>
            <a:ext cx="474840" cy="7491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B8BBE"/>
          </a:solidFill>
          <a:ln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43" name="TextBox 33"/>
          <p:cNvSpPr/>
          <p:nvPr/>
        </p:nvSpPr>
        <p:spPr>
          <a:xfrm>
            <a:off x="1874520" y="3182040"/>
            <a:ext cx="1416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do one thing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Box 34"/>
          <p:cNvSpPr/>
          <p:nvPr/>
        </p:nvSpPr>
        <p:spPr>
          <a:xfrm>
            <a:off x="932760" y="4233600"/>
            <a:ext cx="26967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9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finish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Rounded Rectangle 35"/>
          <p:cNvSpPr/>
          <p:nvPr/>
        </p:nvSpPr>
        <p:spPr>
          <a:xfrm>
            <a:off x="4224600" y="1847160"/>
            <a:ext cx="7268760" cy="32454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46" name="TextBox 36"/>
          <p:cNvSpPr/>
          <p:nvPr/>
        </p:nvSpPr>
        <p:spPr>
          <a:xfrm>
            <a:off x="4498920" y="2057400"/>
            <a:ext cx="29253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EVENT-DRIVEN APPLICATION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Rounded Rectangle 37"/>
          <p:cNvSpPr/>
          <p:nvPr/>
        </p:nvSpPr>
        <p:spPr>
          <a:xfrm>
            <a:off x="4572000" y="2624400"/>
            <a:ext cx="1233720" cy="43812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48" name="TextBox 38"/>
          <p:cNvSpPr/>
          <p:nvPr/>
        </p:nvSpPr>
        <p:spPr>
          <a:xfrm>
            <a:off x="4572000" y="2724840"/>
            <a:ext cx="1233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Rounded Rectangle 39"/>
          <p:cNvSpPr/>
          <p:nvPr/>
        </p:nvSpPr>
        <p:spPr>
          <a:xfrm>
            <a:off x="6144840" y="2624400"/>
            <a:ext cx="1233720" cy="43812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50" name="TextBox 40"/>
          <p:cNvSpPr/>
          <p:nvPr/>
        </p:nvSpPr>
        <p:spPr>
          <a:xfrm>
            <a:off x="6144840" y="2724840"/>
            <a:ext cx="1233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GUI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Rounded Rectangle 41"/>
          <p:cNvSpPr/>
          <p:nvPr/>
        </p:nvSpPr>
        <p:spPr>
          <a:xfrm>
            <a:off x="7461360" y="2624400"/>
            <a:ext cx="1233720" cy="43812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52" name="TextBox 42"/>
          <p:cNvSpPr/>
          <p:nvPr/>
        </p:nvSpPr>
        <p:spPr>
          <a:xfrm>
            <a:off x="7461360" y="2724840"/>
            <a:ext cx="1233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signals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Rounded Rectangle 43"/>
          <p:cNvSpPr/>
          <p:nvPr/>
        </p:nvSpPr>
        <p:spPr>
          <a:xfrm>
            <a:off x="9070920" y="2624400"/>
            <a:ext cx="1233720" cy="43812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54" name="TextBox 44"/>
          <p:cNvSpPr/>
          <p:nvPr/>
        </p:nvSpPr>
        <p:spPr>
          <a:xfrm>
            <a:off x="9070920" y="2724840"/>
            <a:ext cx="12337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timers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Rounded Rectangle 45"/>
          <p:cNvSpPr/>
          <p:nvPr/>
        </p:nvSpPr>
        <p:spPr>
          <a:xfrm>
            <a:off x="10104120" y="2624400"/>
            <a:ext cx="1142280" cy="43812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56" name="TextBox 46"/>
          <p:cNvSpPr/>
          <p:nvPr/>
        </p:nvSpPr>
        <p:spPr>
          <a:xfrm>
            <a:off x="10104120" y="2724840"/>
            <a:ext cx="1142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other threads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7" name="Connector 47"/>
          <p:cNvCxnSpPr/>
          <p:nvPr/>
        </p:nvCxnSpPr>
        <p:spPr>
          <a:xfrm>
            <a:off x="5166360" y="3072240"/>
            <a:ext cx="720" cy="43956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58" name="Connector 48"/>
          <p:cNvCxnSpPr/>
          <p:nvPr/>
        </p:nvCxnSpPr>
        <p:spPr>
          <a:xfrm>
            <a:off x="6738840" y="3072240"/>
            <a:ext cx="720" cy="43956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59" name="Connector 49"/>
          <p:cNvCxnSpPr/>
          <p:nvPr/>
        </p:nvCxnSpPr>
        <p:spPr>
          <a:xfrm>
            <a:off x="8064720" y="3072240"/>
            <a:ext cx="720" cy="43956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60" name="Connector 50"/>
          <p:cNvCxnSpPr/>
          <p:nvPr/>
        </p:nvCxnSpPr>
        <p:spPr>
          <a:xfrm>
            <a:off x="9674280" y="3072240"/>
            <a:ext cx="720" cy="43956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61" name="Connector 51"/>
          <p:cNvCxnSpPr/>
          <p:nvPr/>
        </p:nvCxnSpPr>
        <p:spPr>
          <a:xfrm>
            <a:off x="10680120" y="3072240"/>
            <a:ext cx="720" cy="43956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sp>
        <p:nvSpPr>
          <p:cNvPr id="62" name="Rounded Rectangle 52"/>
          <p:cNvSpPr/>
          <p:nvPr/>
        </p:nvSpPr>
        <p:spPr>
          <a:xfrm>
            <a:off x="4645080" y="3511440"/>
            <a:ext cx="6381720" cy="685080"/>
          </a:xfrm>
          <a:prstGeom prst="roundRect">
            <a:avLst>
              <a:gd name="adj" fmla="val 16667"/>
            </a:avLst>
          </a:prstGeom>
          <a:solidFill>
            <a:srgbClr val="0A0F1D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63" name="TextBox 53"/>
          <p:cNvSpPr/>
          <p:nvPr/>
        </p:nvSpPr>
        <p:spPr>
          <a:xfrm>
            <a:off x="4846320" y="3684960"/>
            <a:ext cx="59886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wait for next event  →  dispatch to handler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4" name="Connector 54"/>
          <p:cNvCxnSpPr/>
          <p:nvPr/>
        </p:nvCxnSpPr>
        <p:spPr>
          <a:xfrm>
            <a:off x="7845480" y="4206240"/>
            <a:ext cx="720" cy="38448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sp>
        <p:nvSpPr>
          <p:cNvPr id="65" name="TextBox 55"/>
          <p:cNvSpPr/>
          <p:nvPr/>
        </p:nvSpPr>
        <p:spPr>
          <a:xfrm>
            <a:off x="4709160" y="4590360"/>
            <a:ext cx="62172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repeat for the lifetime of the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Rounded Rectangle 56"/>
          <p:cNvSpPr/>
          <p:nvPr/>
        </p:nvSpPr>
        <p:spPr>
          <a:xfrm>
            <a:off x="987480" y="5413320"/>
            <a:ext cx="10057680" cy="7124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67" name="TextBox 57"/>
          <p:cNvSpPr/>
          <p:nvPr/>
        </p:nvSpPr>
        <p:spPr>
          <a:xfrm>
            <a:off x="1234440" y="5596200"/>
            <a:ext cx="95637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An event loop automates the OS-level waiting and gives us a convenient, often cross-platform interface.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8"/>
          <p:cNvSpPr/>
          <p:nvPr/>
        </p:nvSpPr>
        <p:spPr>
          <a:xfrm>
            <a:off x="567000" y="384840"/>
            <a:ext cx="1126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2 · ASYNCIO LOOP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567000" y="685080"/>
            <a:ext cx="514692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asyncio event loop at a glance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82"/>
          <p:cNvSpPr/>
          <p:nvPr/>
        </p:nvSpPr>
        <p:spPr>
          <a:xfrm>
            <a:off x="621720" y="1298520"/>
            <a:ext cx="609228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large API — but only a small part of it is fundamental.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"/>
          <p:cNvSpPr/>
          <p:nvPr/>
        </p:nvSpPr>
        <p:spPr>
          <a:xfrm>
            <a:off x="658440" y="1856160"/>
            <a:ext cx="6720120" cy="35013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4604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2" name="TextBox 83"/>
          <p:cNvSpPr/>
          <p:nvPr/>
        </p:nvSpPr>
        <p:spPr>
          <a:xfrm>
            <a:off x="896040" y="2086560"/>
            <a:ext cx="20908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WHAT THE LOOP TAKES CARE OF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2"/>
          <p:cNvSpPr/>
          <p:nvPr/>
        </p:nvSpPr>
        <p:spPr>
          <a:xfrm>
            <a:off x="896040" y="2459880"/>
            <a:ext cx="72360" cy="51120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4" name="TextBox 84"/>
          <p:cNvSpPr/>
          <p:nvPr/>
        </p:nvSpPr>
        <p:spPr>
          <a:xfrm>
            <a:off x="1078920" y="2464200"/>
            <a:ext cx="87264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Scheduling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85"/>
          <p:cNvSpPr/>
          <p:nvPr/>
        </p:nvSpPr>
        <p:spPr>
          <a:xfrm>
            <a:off x="1078920" y="2679120"/>
            <a:ext cx="250236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callbacks · timers · Tasks / Futures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3"/>
          <p:cNvSpPr/>
          <p:nvPr/>
        </p:nvSpPr>
        <p:spPr>
          <a:xfrm>
            <a:off x="3840480" y="2459880"/>
            <a:ext cx="72360" cy="51120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7" name="TextBox 86"/>
          <p:cNvSpPr/>
          <p:nvPr/>
        </p:nvSpPr>
        <p:spPr>
          <a:xfrm>
            <a:off x="4023360" y="2464200"/>
            <a:ext cx="2538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57D19C"/>
                </a:solidFill>
                <a:effectLst/>
                <a:uFillTx/>
                <a:latin typeface="Noto Sans"/>
              </a:rPr>
              <a:t>I/O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87"/>
          <p:cNvSpPr/>
          <p:nvPr/>
        </p:nvSpPr>
        <p:spPr>
          <a:xfrm>
            <a:off x="4023360" y="2679120"/>
            <a:ext cx="182592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networking · DNS · pipes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5"/>
          <p:cNvSpPr/>
          <p:nvPr/>
        </p:nvSpPr>
        <p:spPr>
          <a:xfrm>
            <a:off x="896040" y="3300840"/>
            <a:ext cx="72360" cy="511200"/>
          </a:xfrm>
          <a:prstGeom prst="roundRect">
            <a:avLst>
              <a:gd name="adj" fmla="val 16667"/>
            </a:avLst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0" name="TextBox 88"/>
          <p:cNvSpPr/>
          <p:nvPr/>
        </p:nvSpPr>
        <p:spPr>
          <a:xfrm>
            <a:off x="1078920" y="3305520"/>
            <a:ext cx="11541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OS integration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89"/>
          <p:cNvSpPr/>
          <p:nvPr/>
        </p:nvSpPr>
        <p:spPr>
          <a:xfrm>
            <a:off x="1078920" y="3520440"/>
            <a:ext cx="204804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signals (Unix) ·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subprocess communication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23"/>
          <p:cNvSpPr/>
          <p:nvPr/>
        </p:nvSpPr>
        <p:spPr>
          <a:xfrm>
            <a:off x="3840480" y="3300840"/>
            <a:ext cx="72360" cy="51120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3" name="TextBox 90"/>
          <p:cNvSpPr/>
          <p:nvPr/>
        </p:nvSpPr>
        <p:spPr>
          <a:xfrm>
            <a:off x="4023360" y="3305520"/>
            <a:ext cx="113112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B89CFF"/>
                </a:solidFill>
                <a:effectLst/>
                <a:uFillTx/>
                <a:latin typeface="Noto Sans"/>
              </a:rPr>
              <a:t>Blocking work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91"/>
          <p:cNvSpPr/>
          <p:nvPr/>
        </p:nvSpPr>
        <p:spPr>
          <a:xfrm>
            <a:off x="4023360" y="3520440"/>
            <a:ext cx="292752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thread / process / interpreter executors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24"/>
          <p:cNvSpPr/>
          <p:nvPr/>
        </p:nvSpPr>
        <p:spPr>
          <a:xfrm>
            <a:off x="896040" y="4142160"/>
            <a:ext cx="72360" cy="51120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6" name="TextBox 92"/>
          <p:cNvSpPr/>
          <p:nvPr/>
        </p:nvSpPr>
        <p:spPr>
          <a:xfrm>
            <a:off x="1078920" y="4146840"/>
            <a:ext cx="67968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Runtime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93"/>
          <p:cNvSpPr/>
          <p:nvPr/>
        </p:nvSpPr>
        <p:spPr>
          <a:xfrm>
            <a:off x="1078920" y="4361760"/>
            <a:ext cx="1596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run / stop · shutdown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25"/>
          <p:cNvSpPr/>
          <p:nvPr/>
        </p:nvSpPr>
        <p:spPr>
          <a:xfrm>
            <a:off x="3840480" y="4142160"/>
            <a:ext cx="72360" cy="51120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45000" rIns="36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9" name="TextBox 94"/>
          <p:cNvSpPr/>
          <p:nvPr/>
        </p:nvSpPr>
        <p:spPr>
          <a:xfrm>
            <a:off x="4023360" y="4146840"/>
            <a:ext cx="92052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Diagnostics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95"/>
          <p:cNvSpPr/>
          <p:nvPr/>
        </p:nvSpPr>
        <p:spPr>
          <a:xfrm>
            <a:off x="4023360" y="4361760"/>
            <a:ext cx="21564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error handling · debug mode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40"/>
          <p:cNvSpPr/>
          <p:nvPr/>
        </p:nvSpPr>
        <p:spPr>
          <a:xfrm>
            <a:off x="7644240" y="1856160"/>
            <a:ext cx="3876480" cy="35013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4604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92" name="TextBox 96"/>
          <p:cNvSpPr/>
          <p:nvPr/>
        </p:nvSpPr>
        <p:spPr>
          <a:xfrm>
            <a:off x="7992000" y="2124720"/>
            <a:ext cx="95976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44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&gt;50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97"/>
          <p:cNvSpPr/>
          <p:nvPr/>
        </p:nvSpPr>
        <p:spPr>
          <a:xfrm>
            <a:off x="7992000" y="2788920"/>
            <a:ext cx="192312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public methods 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AbstractEventLoop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1"/>
          <p:cNvSpPr/>
          <p:nvPr/>
        </p:nvSpPr>
        <p:spPr>
          <a:xfrm>
            <a:off x="7992000" y="3968640"/>
            <a:ext cx="2879640" cy="10080"/>
          </a:xfrm>
          <a:prstGeom prst="rect">
            <a:avLst/>
          </a:prstGeom>
          <a:solidFill>
            <a:srgbClr val="667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95" name="TextBox 100"/>
          <p:cNvSpPr/>
          <p:nvPr/>
        </p:nvSpPr>
        <p:spPr>
          <a:xfrm>
            <a:off x="694800" y="5673240"/>
            <a:ext cx="17236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0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IMPORTANT CONSTRAINTS</a:t>
            </a:r>
            <a:endParaRPr lang="en-US" sz="10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01"/>
          <p:cNvSpPr/>
          <p:nvPr/>
        </p:nvSpPr>
        <p:spPr>
          <a:xfrm>
            <a:off x="2560320" y="5662800"/>
            <a:ext cx="17362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118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ONE THREAD</a:t>
            </a:r>
            <a:endParaRPr lang="en-U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8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cooperative scheduling</a:t>
            </a:r>
            <a:endParaRPr lang="en-U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02"/>
          <p:cNvSpPr/>
          <p:nvPr/>
        </p:nvSpPr>
        <p:spPr>
          <a:xfrm>
            <a:off x="5175360" y="5673240"/>
            <a:ext cx="26431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111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NOT GENERALLY THREAD-SAFE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1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cross-thread → call_soon_threadsafe()</a:t>
            </a:r>
            <a:endParaRPr lang="en-US" sz="11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03"/>
          <p:cNvSpPr/>
          <p:nvPr/>
        </p:nvSpPr>
        <p:spPr>
          <a:xfrm>
            <a:off x="8394120" y="5671800"/>
            <a:ext cx="208800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112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NO PREEMPTION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2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blocking code blocks the loop</a:t>
            </a:r>
            <a:endParaRPr lang="en-US" sz="11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/>
          <p:nvPr/>
        </p:nvSpPr>
        <p:spPr>
          <a:xfrm>
            <a:off x="567000" y="347400"/>
            <a:ext cx="4937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2 · THE CORE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2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asyncio event loop: the core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621720" y="1234440"/>
            <a:ext cx="10697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At its lowest useful level, the loop manages callbacks, timers, and I/O readiness.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4"/>
          <p:cNvSpPr/>
          <p:nvPr/>
        </p:nvSpPr>
        <p:spPr>
          <a:xfrm>
            <a:off x="685800" y="1874520"/>
            <a:ext cx="2285640" cy="13892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3" name="TextBox 5"/>
          <p:cNvSpPr/>
          <p:nvPr/>
        </p:nvSpPr>
        <p:spPr>
          <a:xfrm>
            <a:off x="914400" y="2057400"/>
            <a:ext cx="218484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call_soon(callback,*)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6"/>
          <p:cNvSpPr/>
          <p:nvPr/>
        </p:nvSpPr>
        <p:spPr>
          <a:xfrm>
            <a:off x="914400" y="2624400"/>
            <a:ext cx="18284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READY QUEUE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7"/>
          <p:cNvSpPr/>
          <p:nvPr/>
        </p:nvSpPr>
        <p:spPr>
          <a:xfrm>
            <a:off x="914400" y="2898720"/>
            <a:ext cx="21848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FIFO deque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8"/>
          <p:cNvSpPr/>
          <p:nvPr/>
        </p:nvSpPr>
        <p:spPr>
          <a:xfrm>
            <a:off x="3200400" y="1874520"/>
            <a:ext cx="2660040" cy="13892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7" name="TextBox 9"/>
          <p:cNvSpPr/>
          <p:nvPr/>
        </p:nvSpPr>
        <p:spPr>
          <a:xfrm>
            <a:off x="3321000" y="2039040"/>
            <a:ext cx="253944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call_later(delay,callback,*)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0"/>
          <p:cNvSpPr/>
          <p:nvPr/>
        </p:nvSpPr>
        <p:spPr>
          <a:xfrm>
            <a:off x="3321000" y="2624400"/>
            <a:ext cx="21848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TIMER HEAP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1"/>
          <p:cNvSpPr/>
          <p:nvPr/>
        </p:nvSpPr>
        <p:spPr>
          <a:xfrm>
            <a:off x="3321000" y="2898720"/>
            <a:ext cx="21848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ordered by deadline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Rounded Rectangle 12"/>
          <p:cNvSpPr/>
          <p:nvPr/>
        </p:nvSpPr>
        <p:spPr>
          <a:xfrm>
            <a:off x="6007680" y="1874520"/>
            <a:ext cx="2907360" cy="13892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1" name="TextBox 13"/>
          <p:cNvSpPr/>
          <p:nvPr/>
        </p:nvSpPr>
        <p:spPr>
          <a:xfrm>
            <a:off x="6172200" y="2039040"/>
            <a:ext cx="2742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add_reader(fd, callback, 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add_writer(fd, callback, 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4"/>
          <p:cNvSpPr/>
          <p:nvPr/>
        </p:nvSpPr>
        <p:spPr>
          <a:xfrm>
            <a:off x="6172200" y="2590200"/>
            <a:ext cx="21848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57D19C"/>
                </a:solidFill>
                <a:effectLst/>
                <a:uFillTx/>
                <a:latin typeface="Noto Sans"/>
              </a:rPr>
              <a:t>I/O REGISTRATION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5"/>
          <p:cNvSpPr/>
          <p:nvPr/>
        </p:nvSpPr>
        <p:spPr>
          <a:xfrm>
            <a:off x="6172200" y="2898720"/>
            <a:ext cx="21848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wait for readiness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16"/>
          <p:cNvSpPr/>
          <p:nvPr/>
        </p:nvSpPr>
        <p:spPr>
          <a:xfrm>
            <a:off x="9144000" y="1874520"/>
            <a:ext cx="2038320" cy="13892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5" name="TextBox 17"/>
          <p:cNvSpPr/>
          <p:nvPr/>
        </p:nvSpPr>
        <p:spPr>
          <a:xfrm>
            <a:off x="9372600" y="2039040"/>
            <a:ext cx="1645200" cy="52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run_forever()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stop()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8"/>
          <p:cNvSpPr/>
          <p:nvPr/>
        </p:nvSpPr>
        <p:spPr>
          <a:xfrm>
            <a:off x="9327240" y="2624400"/>
            <a:ext cx="16452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B89CFF"/>
                </a:solidFill>
                <a:effectLst/>
                <a:uFillTx/>
                <a:latin typeface="Noto Sans"/>
              </a:rPr>
              <a:t>LOOP CONTROL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9"/>
          <p:cNvSpPr/>
          <p:nvPr/>
        </p:nvSpPr>
        <p:spPr>
          <a:xfrm>
            <a:off x="8832960" y="2898720"/>
            <a:ext cx="2184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repeat run_once()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20"/>
          <p:cNvSpPr/>
          <p:nvPr/>
        </p:nvSpPr>
        <p:spPr>
          <a:xfrm>
            <a:off x="685800" y="3611880"/>
            <a:ext cx="10514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Everything converges on one simple operation: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21"/>
          <p:cNvSpPr/>
          <p:nvPr/>
        </p:nvSpPr>
        <p:spPr>
          <a:xfrm>
            <a:off x="1938600" y="4005000"/>
            <a:ext cx="8301960" cy="1188000"/>
          </a:xfrm>
          <a:prstGeom prst="roundRect">
            <a:avLst>
              <a:gd name="adj" fmla="val 16667"/>
            </a:avLst>
          </a:prstGeom>
          <a:solidFill>
            <a:srgbClr val="0A0F1D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20" name="TextBox 22"/>
          <p:cNvSpPr/>
          <p:nvPr/>
        </p:nvSpPr>
        <p:spPr>
          <a:xfrm>
            <a:off x="2240280" y="4233600"/>
            <a:ext cx="76986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run_once()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23"/>
          <p:cNvSpPr/>
          <p:nvPr/>
        </p:nvSpPr>
        <p:spPr>
          <a:xfrm>
            <a:off x="2240280" y="4617720"/>
            <a:ext cx="7698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collect work that became ready  →  run the callbacks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24"/>
          <p:cNvSpPr/>
          <p:nvPr/>
        </p:nvSpPr>
        <p:spPr>
          <a:xfrm>
            <a:off x="2057400" y="5596200"/>
            <a:ext cx="8091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Let's have a closer look at these pieces.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Num" idx="8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4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TextBox 25"/>
          <p:cNvSpPr/>
          <p:nvPr/>
        </p:nvSpPr>
        <p:spPr>
          <a:xfrm>
            <a:off x="567000" y="347400"/>
            <a:ext cx="4937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3 · CALLBACKS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26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The smallest possible event loop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27"/>
          <p:cNvSpPr/>
          <p:nvPr/>
        </p:nvSpPr>
        <p:spPr>
          <a:xfrm>
            <a:off x="621720" y="1234440"/>
            <a:ext cx="1069776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It begins with only two ideas: enqueue a callback, then keep executing callbacks from the queue.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Rounded Rectangle 30"/>
          <p:cNvSpPr/>
          <p:nvPr/>
        </p:nvSpPr>
        <p:spPr>
          <a:xfrm>
            <a:off x="7113960" y="1847160"/>
            <a:ext cx="4159800" cy="10598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28" name="TextBox 31"/>
          <p:cNvSpPr/>
          <p:nvPr/>
        </p:nvSpPr>
        <p:spPr>
          <a:xfrm>
            <a:off x="7360920" y="2011680"/>
            <a:ext cx="15994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READY QUEUE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Rounded Rectangle 32"/>
          <p:cNvSpPr/>
          <p:nvPr/>
        </p:nvSpPr>
        <p:spPr>
          <a:xfrm>
            <a:off x="7360920" y="2359080"/>
            <a:ext cx="913680" cy="34668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30" name="TextBox 33"/>
          <p:cNvSpPr/>
          <p:nvPr/>
        </p:nvSpPr>
        <p:spPr>
          <a:xfrm>
            <a:off x="7360920" y="2432160"/>
            <a:ext cx="913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cb₁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34"/>
          <p:cNvSpPr/>
          <p:nvPr/>
        </p:nvSpPr>
        <p:spPr>
          <a:xfrm>
            <a:off x="8503920" y="2359080"/>
            <a:ext cx="913680" cy="34668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32" name="TextBox 35"/>
          <p:cNvSpPr/>
          <p:nvPr/>
        </p:nvSpPr>
        <p:spPr>
          <a:xfrm>
            <a:off x="8503920" y="2432160"/>
            <a:ext cx="913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cb₂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36"/>
          <p:cNvSpPr/>
          <p:nvPr/>
        </p:nvSpPr>
        <p:spPr>
          <a:xfrm>
            <a:off x="9646920" y="2359080"/>
            <a:ext cx="913680" cy="34668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34" name="TextBox 37"/>
          <p:cNvSpPr/>
          <p:nvPr/>
        </p:nvSpPr>
        <p:spPr>
          <a:xfrm>
            <a:off x="9646920" y="2432160"/>
            <a:ext cx="913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cb₃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"/>
          <p:cNvPicPr/>
          <p:nvPr/>
        </p:nvPicPr>
        <p:blipFill>
          <a:blip r:embed="rId1"/>
          <a:stretch/>
        </p:blipFill>
        <p:spPr>
          <a:xfrm>
            <a:off x="590760" y="1705320"/>
            <a:ext cx="6038280" cy="4725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Num" idx="9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TextBox 25"/>
          <p:cNvSpPr/>
          <p:nvPr/>
        </p:nvSpPr>
        <p:spPr>
          <a:xfrm>
            <a:off x="567000" y="347400"/>
            <a:ext cx="49370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4 · TIMERS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26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We need timers too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27"/>
          <p:cNvSpPr/>
          <p:nvPr/>
        </p:nvSpPr>
        <p:spPr>
          <a:xfrm>
            <a:off x="621720" y="1234440"/>
            <a:ext cx="1069776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callback that must be run after some time. A min-heap keeps the earliest callback on top.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30"/>
          <p:cNvSpPr/>
          <p:nvPr/>
        </p:nvSpPr>
        <p:spPr>
          <a:xfrm>
            <a:off x="7772400" y="1856160"/>
            <a:ext cx="3336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MIN-HEAP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31"/>
          <p:cNvSpPr/>
          <p:nvPr/>
        </p:nvSpPr>
        <p:spPr>
          <a:xfrm>
            <a:off x="9070920" y="2240280"/>
            <a:ext cx="712440" cy="50220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42" name="TextBox 32"/>
          <p:cNvSpPr/>
          <p:nvPr/>
        </p:nvSpPr>
        <p:spPr>
          <a:xfrm>
            <a:off x="9070920" y="2368440"/>
            <a:ext cx="712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1.2s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Rounded Rectangle 33"/>
          <p:cNvSpPr/>
          <p:nvPr/>
        </p:nvSpPr>
        <p:spPr>
          <a:xfrm>
            <a:off x="8092440" y="3154680"/>
            <a:ext cx="712440" cy="50220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44" name="TextBox 34"/>
          <p:cNvSpPr/>
          <p:nvPr/>
        </p:nvSpPr>
        <p:spPr>
          <a:xfrm>
            <a:off x="8092440" y="3282840"/>
            <a:ext cx="712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3.7s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Rounded Rectangle 35"/>
          <p:cNvSpPr/>
          <p:nvPr/>
        </p:nvSpPr>
        <p:spPr>
          <a:xfrm>
            <a:off x="10040040" y="3154680"/>
            <a:ext cx="712440" cy="50220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46" name="TextBox 36"/>
          <p:cNvSpPr/>
          <p:nvPr/>
        </p:nvSpPr>
        <p:spPr>
          <a:xfrm>
            <a:off x="10040040" y="3282840"/>
            <a:ext cx="712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2.4s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Rounded Rectangle 37"/>
          <p:cNvSpPr/>
          <p:nvPr/>
        </p:nvSpPr>
        <p:spPr>
          <a:xfrm>
            <a:off x="7708320" y="4069080"/>
            <a:ext cx="712440" cy="50220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48" name="TextBox 38"/>
          <p:cNvSpPr/>
          <p:nvPr/>
        </p:nvSpPr>
        <p:spPr>
          <a:xfrm>
            <a:off x="7708320" y="4197240"/>
            <a:ext cx="712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8.0s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39"/>
          <p:cNvSpPr/>
          <p:nvPr/>
        </p:nvSpPr>
        <p:spPr>
          <a:xfrm>
            <a:off x="8568000" y="4069080"/>
            <a:ext cx="712440" cy="50220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50" name="TextBox 40"/>
          <p:cNvSpPr/>
          <p:nvPr/>
        </p:nvSpPr>
        <p:spPr>
          <a:xfrm>
            <a:off x="8568000" y="4197240"/>
            <a:ext cx="712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5.1s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51" name="Connector 41"/>
          <p:cNvCxnSpPr/>
          <p:nvPr/>
        </p:nvCxnSpPr>
        <p:spPr>
          <a:xfrm flipH="1">
            <a:off x="8448840" y="2743200"/>
            <a:ext cx="979200" cy="41220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52" name="Connector 42"/>
          <p:cNvCxnSpPr/>
          <p:nvPr/>
        </p:nvCxnSpPr>
        <p:spPr>
          <a:xfrm>
            <a:off x="9427320" y="2743200"/>
            <a:ext cx="969840" cy="41220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53" name="Connector 43"/>
          <p:cNvCxnSpPr/>
          <p:nvPr/>
        </p:nvCxnSpPr>
        <p:spPr>
          <a:xfrm flipH="1">
            <a:off x="8064720" y="3657600"/>
            <a:ext cx="384840" cy="41220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54" name="Connector 44"/>
          <p:cNvCxnSpPr/>
          <p:nvPr/>
        </p:nvCxnSpPr>
        <p:spPr>
          <a:xfrm>
            <a:off x="8448840" y="3657600"/>
            <a:ext cx="476280" cy="41220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55" name="Connector 45"/>
          <p:cNvCxnSpPr/>
          <p:nvPr/>
        </p:nvCxnSpPr>
        <p:spPr>
          <a:xfrm>
            <a:off x="9427320" y="4736520"/>
            <a:ext cx="720" cy="366480"/>
          </a:xfrm>
          <a:prstGeom prst="straightConnector1">
            <a:avLst/>
          </a:prstGeom>
          <a:ln w="20320">
            <a:solidFill>
              <a:srgbClr val="8292A2"/>
            </a:solidFill>
            <a:round/>
          </a:ln>
        </p:spPr>
      </p:cxnSp>
      <p:pic>
        <p:nvPicPr>
          <p:cNvPr id="156" name=""/>
          <p:cNvPicPr/>
          <p:nvPr/>
        </p:nvPicPr>
        <p:blipFill>
          <a:blip r:embed="rId1"/>
          <a:stretch/>
        </p:blipFill>
        <p:spPr>
          <a:xfrm>
            <a:off x="562320" y="1972080"/>
            <a:ext cx="6698880" cy="3056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Num" idx="10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TextBox 12"/>
          <p:cNvSpPr/>
          <p:nvPr/>
        </p:nvSpPr>
        <p:spPr>
          <a:xfrm>
            <a:off x="567000" y="347400"/>
            <a:ext cx="493704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4 · TIMERS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16"/>
          <p:cNvSpPr/>
          <p:nvPr/>
        </p:nvSpPr>
        <p:spPr>
          <a:xfrm>
            <a:off x="567000" y="640080"/>
            <a:ext cx="10880640" cy="41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We need timers too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21"/>
          <p:cNvSpPr/>
          <p:nvPr/>
        </p:nvSpPr>
        <p:spPr>
          <a:xfrm>
            <a:off x="621720" y="1234440"/>
            <a:ext cx="1069776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callback that must be run after some time. A min-heap keeps the earliest deadline on top.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45"/>
          <p:cNvSpPr/>
          <p:nvPr/>
        </p:nvSpPr>
        <p:spPr>
          <a:xfrm>
            <a:off x="7772400" y="1856160"/>
            <a:ext cx="33368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MIN-HEAP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7"/>
          <p:cNvSpPr/>
          <p:nvPr/>
        </p:nvSpPr>
        <p:spPr>
          <a:xfrm>
            <a:off x="9070920" y="2240280"/>
            <a:ext cx="712440" cy="50220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63" name="TextBox 50"/>
          <p:cNvSpPr/>
          <p:nvPr/>
        </p:nvSpPr>
        <p:spPr>
          <a:xfrm>
            <a:off x="9070920" y="2368440"/>
            <a:ext cx="7124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1.2s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9"/>
          <p:cNvSpPr/>
          <p:nvPr/>
        </p:nvSpPr>
        <p:spPr>
          <a:xfrm>
            <a:off x="8092440" y="3154680"/>
            <a:ext cx="712440" cy="50220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65" name="TextBox 51"/>
          <p:cNvSpPr/>
          <p:nvPr/>
        </p:nvSpPr>
        <p:spPr>
          <a:xfrm>
            <a:off x="8092440" y="3282840"/>
            <a:ext cx="7124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3.7s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Rounded Rectangle 10"/>
          <p:cNvSpPr/>
          <p:nvPr/>
        </p:nvSpPr>
        <p:spPr>
          <a:xfrm>
            <a:off x="10040040" y="3154680"/>
            <a:ext cx="712440" cy="50220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67" name="TextBox 52"/>
          <p:cNvSpPr/>
          <p:nvPr/>
        </p:nvSpPr>
        <p:spPr>
          <a:xfrm>
            <a:off x="10040040" y="3282840"/>
            <a:ext cx="7124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2.4s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11"/>
          <p:cNvSpPr/>
          <p:nvPr/>
        </p:nvSpPr>
        <p:spPr>
          <a:xfrm>
            <a:off x="7708320" y="4069080"/>
            <a:ext cx="712440" cy="50220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69" name="TextBox 54"/>
          <p:cNvSpPr/>
          <p:nvPr/>
        </p:nvSpPr>
        <p:spPr>
          <a:xfrm>
            <a:off x="7708320" y="4197240"/>
            <a:ext cx="7124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8.0s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Rounded Rectangle 13"/>
          <p:cNvSpPr/>
          <p:nvPr/>
        </p:nvSpPr>
        <p:spPr>
          <a:xfrm>
            <a:off x="8568000" y="4069080"/>
            <a:ext cx="712440" cy="50220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71" name="TextBox 56"/>
          <p:cNvSpPr/>
          <p:nvPr/>
        </p:nvSpPr>
        <p:spPr>
          <a:xfrm>
            <a:off x="8568000" y="4197240"/>
            <a:ext cx="7124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5.1s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72" name="Connector 6"/>
          <p:cNvCxnSpPr/>
          <p:nvPr/>
        </p:nvCxnSpPr>
        <p:spPr>
          <a:xfrm flipH="1">
            <a:off x="8448840" y="2743200"/>
            <a:ext cx="979200" cy="41220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73" name="Connector 7"/>
          <p:cNvCxnSpPr/>
          <p:nvPr/>
        </p:nvCxnSpPr>
        <p:spPr>
          <a:xfrm>
            <a:off x="9427320" y="2743200"/>
            <a:ext cx="969840" cy="41220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74" name="Connector 8"/>
          <p:cNvCxnSpPr/>
          <p:nvPr/>
        </p:nvCxnSpPr>
        <p:spPr>
          <a:xfrm flipH="1">
            <a:off x="8064720" y="3657600"/>
            <a:ext cx="384840" cy="41220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75" name="Connector 9"/>
          <p:cNvCxnSpPr/>
          <p:nvPr/>
        </p:nvCxnSpPr>
        <p:spPr>
          <a:xfrm>
            <a:off x="8448840" y="3657600"/>
            <a:ext cx="476280" cy="41220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76" name="Connector 10"/>
          <p:cNvCxnSpPr/>
          <p:nvPr/>
        </p:nvCxnSpPr>
        <p:spPr>
          <a:xfrm>
            <a:off x="9427320" y="4736520"/>
            <a:ext cx="720" cy="366480"/>
          </a:xfrm>
          <a:prstGeom prst="straightConnector1">
            <a:avLst/>
          </a:prstGeom>
          <a:ln w="20320">
            <a:solidFill>
              <a:srgbClr val="8292A2"/>
            </a:solidFill>
            <a:round/>
          </a:ln>
        </p:spPr>
      </p:cxnSp>
      <p:sp>
        <p:nvSpPr>
          <p:cNvPr id="177" name="Down Arrow 2"/>
          <p:cNvSpPr/>
          <p:nvPr/>
        </p:nvSpPr>
        <p:spPr>
          <a:xfrm>
            <a:off x="9198720" y="4736880"/>
            <a:ext cx="456480" cy="4107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D43B"/>
          </a:solidFill>
          <a:ln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78" name="TextBox 58"/>
          <p:cNvSpPr/>
          <p:nvPr/>
        </p:nvSpPr>
        <p:spPr>
          <a:xfrm>
            <a:off x="7818120" y="5148000"/>
            <a:ext cx="324540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expired timers → ready queue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9" name=""/>
          <p:cNvPicPr/>
          <p:nvPr/>
        </p:nvPicPr>
        <p:blipFill>
          <a:blip r:embed="rId1"/>
          <a:stretch/>
        </p:blipFill>
        <p:spPr>
          <a:xfrm>
            <a:off x="533880" y="1905480"/>
            <a:ext cx="6552360" cy="469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5 · I/O CHANGES THE PROBLEM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Sleep only knows about time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621720" y="1225440"/>
            <a:ext cx="1088064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We want to sleep until the next timer… unless a socket becomes ready first.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3"/>
          <p:cNvSpPr/>
          <p:nvPr/>
        </p:nvSpPr>
        <p:spPr>
          <a:xfrm>
            <a:off x="1005840" y="3108960"/>
            <a:ext cx="10012680" cy="360"/>
          </a:xfrm>
          <a:prstGeom prst="line">
            <a:avLst/>
          </a:prstGeom>
          <a:ln w="38100">
            <a:solidFill>
              <a:srgbClr val="2A35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4"/>
          <p:cNvSpPr/>
          <p:nvPr/>
        </p:nvSpPr>
        <p:spPr>
          <a:xfrm>
            <a:off x="1847160" y="2917080"/>
            <a:ext cx="383400" cy="383400"/>
          </a:xfrm>
          <a:prstGeom prst="ellipse">
            <a:avLst/>
          </a:prstGeom>
          <a:solidFill>
            <a:srgbClr val="5CE1E6"/>
          </a:solidFill>
          <a:ln w="12700">
            <a:solidFill>
              <a:srgbClr val="5C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"/>
          <p:cNvSpPr/>
          <p:nvPr/>
        </p:nvSpPr>
        <p:spPr>
          <a:xfrm>
            <a:off x="1636920" y="3401640"/>
            <a:ext cx="7308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8F9AB3"/>
                </a:solidFill>
                <a:effectLst/>
                <a:uFillTx/>
                <a:latin typeface="Noto Sans"/>
                <a:ea typeface="Noto Sans"/>
              </a:rPr>
              <a:t>now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6"/>
          <p:cNvSpPr/>
          <p:nvPr/>
        </p:nvSpPr>
        <p:spPr>
          <a:xfrm>
            <a:off x="9655920" y="2816280"/>
            <a:ext cx="602640" cy="602640"/>
          </a:xfrm>
          <a:prstGeom prst="ellipse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7"/>
          <p:cNvSpPr/>
          <p:nvPr/>
        </p:nvSpPr>
        <p:spPr>
          <a:xfrm>
            <a:off x="9655920" y="2967120"/>
            <a:ext cx="6026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timer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8"/>
          <p:cNvSpPr/>
          <p:nvPr/>
        </p:nvSpPr>
        <p:spPr>
          <a:xfrm>
            <a:off x="9272160" y="3502080"/>
            <a:ext cx="1370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next timer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9"/>
          <p:cNvSpPr/>
          <p:nvPr/>
        </p:nvSpPr>
        <p:spPr>
          <a:xfrm>
            <a:off x="5733360" y="2816280"/>
            <a:ext cx="602640" cy="602640"/>
          </a:xfrm>
          <a:prstGeom prst="ellipse">
            <a:avLst/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0"/>
          <p:cNvSpPr/>
          <p:nvPr/>
        </p:nvSpPr>
        <p:spPr>
          <a:xfrm>
            <a:off x="5733360" y="2967120"/>
            <a:ext cx="60264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I/O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1"/>
          <p:cNvSpPr/>
          <p:nvPr/>
        </p:nvSpPr>
        <p:spPr>
          <a:xfrm>
            <a:off x="5294520" y="3502080"/>
            <a:ext cx="15537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socket ready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2"/>
          <p:cNvSpPr/>
          <p:nvPr/>
        </p:nvSpPr>
        <p:spPr>
          <a:xfrm>
            <a:off x="2304000" y="2432160"/>
            <a:ext cx="7123320" cy="360"/>
          </a:xfrm>
          <a:prstGeom prst="line">
            <a:avLst/>
          </a:prstGeom>
          <a:ln w="35560">
            <a:solidFill>
              <a:srgbClr val="FF6B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3"/>
          <p:cNvSpPr/>
          <p:nvPr/>
        </p:nvSpPr>
        <p:spPr>
          <a:xfrm>
            <a:off x="4096440" y="1993320"/>
            <a:ext cx="3016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B5B5"/>
                </a:solidFill>
                <a:effectLst/>
                <a:uFillTx/>
                <a:latin typeface="Noto Sans"/>
                <a:ea typeface="Noto Sans"/>
              </a:rPr>
              <a:t>time.sleep(8.5s)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14"/>
          <p:cNvSpPr/>
          <p:nvPr/>
        </p:nvSpPr>
        <p:spPr>
          <a:xfrm>
            <a:off x="1920240" y="4617720"/>
            <a:ext cx="8960400" cy="867960"/>
          </a:xfrm>
          <a:prstGeom prst="roundRect">
            <a:avLst>
              <a:gd name="adj" fmla="val 14737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5"/>
          <p:cNvSpPr/>
          <p:nvPr/>
        </p:nvSpPr>
        <p:spPr>
          <a:xfrm>
            <a:off x="2240280" y="485532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We need a “sleep” that can be interrupted by I/O readiness.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1"/>
          <p:cNvSpPr>
            <a:spLocks noGrp="1"/>
          </p:cNvSpPr>
          <p:nvPr>
            <p:ph type="sldNum" idx="11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6 · READINESS I/O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register file descriptor for readiness event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1"/>
          <p:cNvSpPr>
            <a:spLocks noGrp="1"/>
          </p:cNvSpPr>
          <p:nvPr>
            <p:ph type="sldNum" idx="12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200" name=""/>
          <p:cNvPicPr/>
          <p:nvPr/>
        </p:nvPicPr>
        <p:blipFill>
          <a:blip r:embed="rId1"/>
          <a:stretch/>
        </p:blipFill>
        <p:spPr>
          <a:xfrm>
            <a:off x="600480" y="1209960"/>
            <a:ext cx="9457560" cy="537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 27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6 · READINESS I/O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8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sleep until next timer or I/O event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1"/>
          <p:cNvSpPr>
            <a:spLocks noGrp="1"/>
          </p:cNvSpPr>
          <p:nvPr>
            <p:ph type="sldNum" idx="13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204" name=""/>
          <p:cNvPicPr/>
          <p:nvPr/>
        </p:nvPicPr>
        <p:blipFill>
          <a:blip r:embed="rId1"/>
          <a:stretch/>
        </p:blipFill>
        <p:spPr>
          <a:xfrm>
            <a:off x="466920" y="1171800"/>
            <a:ext cx="7076880" cy="450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29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6 · READINESS I/O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0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sleep until next timer or I/O event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1"/>
          <p:cNvSpPr>
            <a:spLocks noGrp="1"/>
          </p:cNvSpPr>
          <p:nvPr>
            <p:ph type="sldNum" idx="14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208" name=""/>
          <p:cNvPicPr/>
          <p:nvPr/>
        </p:nvPicPr>
        <p:blipFill>
          <a:blip r:embed="rId1"/>
          <a:stretch/>
        </p:blipFill>
        <p:spPr>
          <a:xfrm>
            <a:off x="514800" y="1267200"/>
            <a:ext cx="7714800" cy="513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7 · PUT THE PIECES TOGETHER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1"/>
          <p:cNvSpPr>
            <a:spLocks noGrp="1"/>
          </p:cNvSpPr>
          <p:nvPr>
            <p:ph type="sldNum" idx="15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8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457200" y="640080"/>
            <a:ext cx="77706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run_once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" name=""/>
          <p:cNvPicPr/>
          <p:nvPr/>
        </p:nvPicPr>
        <p:blipFill>
          <a:blip r:embed="rId1"/>
          <a:stretch/>
        </p:blipFill>
        <p:spPr>
          <a:xfrm>
            <a:off x="543240" y="1198800"/>
            <a:ext cx="8600400" cy="5345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8 · CALLBACK EVENT LOOP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So far: zero async / await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"/>
          <p:cNvSpPr/>
          <p:nvPr/>
        </p:nvSpPr>
        <p:spPr>
          <a:xfrm>
            <a:off x="621720" y="1243440"/>
            <a:ext cx="6765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We already have a useful event-driven runtime.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3"/>
          <p:cNvSpPr/>
          <p:nvPr/>
        </p:nvSpPr>
        <p:spPr>
          <a:xfrm>
            <a:off x="822960" y="1901880"/>
            <a:ext cx="5074200" cy="602640"/>
          </a:xfrm>
          <a:prstGeom prst="roundRect">
            <a:avLst>
              <a:gd name="adj" fmla="val 21212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4"/>
          <p:cNvSpPr/>
          <p:nvPr/>
        </p:nvSpPr>
        <p:spPr>
          <a:xfrm>
            <a:off x="1051560" y="2048400"/>
            <a:ext cx="2056680" cy="310320"/>
          </a:xfrm>
          <a:prstGeom prst="roundRect">
            <a:avLst>
              <a:gd name="adj" fmla="val 47059"/>
            </a:avLst>
          </a:prstGeom>
          <a:solidFill>
            <a:srgbClr val="4B8BBE"/>
          </a:solidFill>
          <a:ln w="1270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1097280" y="2107800"/>
            <a:ext cx="19652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call_soon()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6"/>
          <p:cNvSpPr/>
          <p:nvPr/>
        </p:nvSpPr>
        <p:spPr>
          <a:xfrm>
            <a:off x="3401640" y="2048400"/>
            <a:ext cx="2010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ready queue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822960" y="2743200"/>
            <a:ext cx="5074200" cy="602640"/>
          </a:xfrm>
          <a:prstGeom prst="roundRect">
            <a:avLst>
              <a:gd name="adj" fmla="val 21212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8"/>
          <p:cNvSpPr/>
          <p:nvPr/>
        </p:nvSpPr>
        <p:spPr>
          <a:xfrm>
            <a:off x="1051560" y="2889360"/>
            <a:ext cx="2056680" cy="310320"/>
          </a:xfrm>
          <a:prstGeom prst="roundRect">
            <a:avLst>
              <a:gd name="adj" fmla="val 47059"/>
            </a:avLst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9"/>
          <p:cNvSpPr/>
          <p:nvPr/>
        </p:nvSpPr>
        <p:spPr>
          <a:xfrm>
            <a:off x="1097280" y="2949120"/>
            <a:ext cx="19652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call_later()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0"/>
          <p:cNvSpPr/>
          <p:nvPr/>
        </p:nvSpPr>
        <p:spPr>
          <a:xfrm>
            <a:off x="3401640" y="2889360"/>
            <a:ext cx="2010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timer heap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1"/>
          <p:cNvSpPr/>
          <p:nvPr/>
        </p:nvSpPr>
        <p:spPr>
          <a:xfrm>
            <a:off x="822960" y="3584520"/>
            <a:ext cx="5074200" cy="602640"/>
          </a:xfrm>
          <a:prstGeom prst="roundRect">
            <a:avLst>
              <a:gd name="adj" fmla="val 21212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2"/>
          <p:cNvSpPr/>
          <p:nvPr/>
        </p:nvSpPr>
        <p:spPr>
          <a:xfrm>
            <a:off x="1051560" y="3730680"/>
            <a:ext cx="2056680" cy="310320"/>
          </a:xfrm>
          <a:prstGeom prst="roundRect">
            <a:avLst>
              <a:gd name="adj" fmla="val 47059"/>
            </a:avLst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3"/>
          <p:cNvSpPr/>
          <p:nvPr/>
        </p:nvSpPr>
        <p:spPr>
          <a:xfrm>
            <a:off x="1097280" y="3790080"/>
            <a:ext cx="19652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add_reader() / add_writer()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4"/>
          <p:cNvSpPr/>
          <p:nvPr/>
        </p:nvSpPr>
        <p:spPr>
          <a:xfrm>
            <a:off x="3401640" y="3730680"/>
            <a:ext cx="2010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I/O registrations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5"/>
          <p:cNvSpPr/>
          <p:nvPr/>
        </p:nvSpPr>
        <p:spPr>
          <a:xfrm>
            <a:off x="822960" y="4425840"/>
            <a:ext cx="5074200" cy="602640"/>
          </a:xfrm>
          <a:prstGeom prst="roundRect">
            <a:avLst>
              <a:gd name="adj" fmla="val 21212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6"/>
          <p:cNvSpPr/>
          <p:nvPr/>
        </p:nvSpPr>
        <p:spPr>
          <a:xfrm>
            <a:off x="1051560" y="4572000"/>
            <a:ext cx="2056680" cy="310320"/>
          </a:xfrm>
          <a:prstGeom prst="roundRect">
            <a:avLst>
              <a:gd name="adj" fmla="val 47059"/>
            </a:avLst>
          </a:prstGeom>
          <a:solidFill>
            <a:srgbClr val="B89CFF"/>
          </a:solidFill>
          <a:ln w="12700">
            <a:solidFill>
              <a:srgbClr val="B89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7"/>
          <p:cNvSpPr/>
          <p:nvPr/>
        </p:nvSpPr>
        <p:spPr>
          <a:xfrm>
            <a:off x="1097280" y="4631400"/>
            <a:ext cx="19652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run_forever()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8"/>
          <p:cNvSpPr/>
          <p:nvPr/>
        </p:nvSpPr>
        <p:spPr>
          <a:xfrm>
            <a:off x="3401640" y="4572000"/>
            <a:ext cx="2010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repeat run_once()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9"/>
          <p:cNvSpPr/>
          <p:nvPr/>
        </p:nvSpPr>
        <p:spPr>
          <a:xfrm>
            <a:off x="6537960" y="1929240"/>
            <a:ext cx="4799880" cy="3218040"/>
          </a:xfrm>
          <a:prstGeom prst="roundRect">
            <a:avLst>
              <a:gd name="adj" fmla="val 3977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0"/>
          <p:cNvSpPr/>
          <p:nvPr/>
        </p:nvSpPr>
        <p:spPr>
          <a:xfrm>
            <a:off x="6995160" y="2331720"/>
            <a:ext cx="388548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Callbacks can express everything…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but complex control flow becomes painful.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1"/>
          <p:cNvSpPr/>
          <p:nvPr/>
        </p:nvSpPr>
        <p:spPr>
          <a:xfrm>
            <a:off x="6949440" y="3877200"/>
            <a:ext cx="3976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5CE1E6"/>
                </a:solidFill>
                <a:effectLst/>
                <a:uFillTx/>
                <a:latin typeface="Noto Sans"/>
                <a:ea typeface="Noto Sans"/>
              </a:rPr>
              <a:t>Now we add a nicer way to suspend and resume computation.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1"/>
          <p:cNvSpPr>
            <a:spLocks noGrp="1"/>
          </p:cNvSpPr>
          <p:nvPr>
            <p:ph type="sldNum" idx="16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9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9 · COROUTINES + FUTURES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Pausing and resuming a coroutine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 type="sldNum" idx="17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10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TextBox 25"/>
          <p:cNvSpPr/>
          <p:nvPr/>
        </p:nvSpPr>
        <p:spPr>
          <a:xfrm>
            <a:off x="621720" y="1225440"/>
            <a:ext cx="10697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The suspension point comes from the awaitable: Future.__await__() can yield control.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27"/>
          <p:cNvSpPr/>
          <p:nvPr/>
        </p:nvSpPr>
        <p:spPr>
          <a:xfrm>
            <a:off x="6939360" y="1828800"/>
            <a:ext cx="239508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Future: the </a:t>
            </a:r>
            <a:r>
              <a:rPr lang="en-US" sz="12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suspension </a:t>
            </a:r>
            <a:r>
              <a:rPr lang="en-US" sz="12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point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30"/>
          <p:cNvSpPr/>
          <p:nvPr/>
        </p:nvSpPr>
        <p:spPr>
          <a:xfrm>
            <a:off x="591840" y="1828800"/>
            <a:ext cx="49554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Drive the coroutine by hand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32"/>
          <p:cNvSpPr/>
          <p:nvPr/>
        </p:nvSpPr>
        <p:spPr>
          <a:xfrm>
            <a:off x="1234440" y="6144840"/>
            <a:ext cx="97376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2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First send → runs until Future.__await__() yields.   Second send → continues after await.</a:t>
            </a:r>
            <a:endParaRPr lang="en-US" sz="14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4" name=""/>
          <p:cNvPicPr/>
          <p:nvPr/>
        </p:nvPicPr>
        <p:blipFill>
          <a:blip r:embed="rId1"/>
          <a:stretch/>
        </p:blipFill>
        <p:spPr>
          <a:xfrm>
            <a:off x="540000" y="2267280"/>
            <a:ext cx="6104880" cy="344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5" name=""/>
          <p:cNvPicPr/>
          <p:nvPr/>
        </p:nvPicPr>
        <p:blipFill>
          <a:blip r:embed="rId2"/>
          <a:stretch/>
        </p:blipFill>
        <p:spPr>
          <a:xfrm>
            <a:off x="6930000" y="2286000"/>
            <a:ext cx="4592160" cy="274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10 · FUTURES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Future: completing something later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1"/>
          <p:cNvSpPr>
            <a:spLocks noGrp="1"/>
          </p:cNvSpPr>
          <p:nvPr>
            <p:ph type="sldNum" idx="18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TextBox 25"/>
          <p:cNvSpPr/>
          <p:nvPr/>
        </p:nvSpPr>
        <p:spPr>
          <a:xfrm>
            <a:off x="621720" y="1225440"/>
            <a:ext cx="10697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Future is pending until somebody supplies either a result or an exception.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ounded Rectangle 26"/>
          <p:cNvSpPr/>
          <p:nvPr/>
        </p:nvSpPr>
        <p:spPr>
          <a:xfrm>
            <a:off x="694800" y="1755720"/>
            <a:ext cx="3126600" cy="14439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51" name="TextBox 27"/>
          <p:cNvSpPr/>
          <p:nvPr/>
        </p:nvSpPr>
        <p:spPr>
          <a:xfrm>
            <a:off x="877680" y="1947600"/>
            <a:ext cx="2760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add_done_callback(cb)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28"/>
          <p:cNvSpPr/>
          <p:nvPr/>
        </p:nvSpPr>
        <p:spPr>
          <a:xfrm>
            <a:off x="923400" y="2295000"/>
            <a:ext cx="2669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register interest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29"/>
          <p:cNvSpPr/>
          <p:nvPr/>
        </p:nvSpPr>
        <p:spPr>
          <a:xfrm>
            <a:off x="896040" y="2615040"/>
            <a:ext cx="2724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Task uses this to say: resume me when you are 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Rounded Rectangle 30"/>
          <p:cNvSpPr/>
          <p:nvPr/>
        </p:nvSpPr>
        <p:spPr>
          <a:xfrm>
            <a:off x="4087440" y="1755720"/>
            <a:ext cx="3126600" cy="14439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55" name="TextBox 31"/>
          <p:cNvSpPr/>
          <p:nvPr/>
        </p:nvSpPr>
        <p:spPr>
          <a:xfrm>
            <a:off x="4270320" y="1947600"/>
            <a:ext cx="2760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set_result(value)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32"/>
          <p:cNvSpPr/>
          <p:nvPr/>
        </p:nvSpPr>
        <p:spPr>
          <a:xfrm>
            <a:off x="4316040" y="2295000"/>
            <a:ext cx="2669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complete successfully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33"/>
          <p:cNvSpPr/>
          <p:nvPr/>
        </p:nvSpPr>
        <p:spPr>
          <a:xfrm>
            <a:off x="4288680" y="2615040"/>
            <a:ext cx="2724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Store a value </a:t>
            </a: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and </a:t>
            </a: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transition the </a:t>
            </a: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Future to </a:t>
            </a: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Rounded Rectangle 34"/>
          <p:cNvSpPr/>
          <p:nvPr/>
        </p:nvSpPr>
        <p:spPr>
          <a:xfrm>
            <a:off x="7479720" y="1755720"/>
            <a:ext cx="3126600" cy="14439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59" name="TextBox 35"/>
          <p:cNvSpPr/>
          <p:nvPr/>
        </p:nvSpPr>
        <p:spPr>
          <a:xfrm>
            <a:off x="7662600" y="1947600"/>
            <a:ext cx="27608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set_exception(exc)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36"/>
          <p:cNvSpPr/>
          <p:nvPr/>
        </p:nvSpPr>
        <p:spPr>
          <a:xfrm>
            <a:off x="7708320" y="2295000"/>
            <a:ext cx="2669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complete with failure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37"/>
          <p:cNvSpPr/>
          <p:nvPr/>
        </p:nvSpPr>
        <p:spPr>
          <a:xfrm>
            <a:off x="7680960" y="2615040"/>
            <a:ext cx="2724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Store an </a:t>
            </a: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exception </a:t>
            </a: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and </a:t>
            </a: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transition the </a:t>
            </a: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Future to </a:t>
            </a: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Rounded Rectangle 38"/>
          <p:cNvSpPr/>
          <p:nvPr/>
        </p:nvSpPr>
        <p:spPr>
          <a:xfrm>
            <a:off x="896040" y="3703320"/>
            <a:ext cx="2102400" cy="77652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63" name="TextBox 39"/>
          <p:cNvSpPr/>
          <p:nvPr/>
        </p:nvSpPr>
        <p:spPr>
          <a:xfrm>
            <a:off x="1078920" y="3940920"/>
            <a:ext cx="173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PENDING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Right Arrow 40"/>
          <p:cNvSpPr/>
          <p:nvPr/>
        </p:nvSpPr>
        <p:spPr>
          <a:xfrm>
            <a:off x="3200400" y="3849480"/>
            <a:ext cx="2010960" cy="438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65" name="TextBox 41"/>
          <p:cNvSpPr/>
          <p:nvPr/>
        </p:nvSpPr>
        <p:spPr>
          <a:xfrm>
            <a:off x="3136320" y="3520440"/>
            <a:ext cx="2148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set_result / set_exception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Rounded Rectangle 42"/>
          <p:cNvSpPr/>
          <p:nvPr/>
        </p:nvSpPr>
        <p:spPr>
          <a:xfrm>
            <a:off x="5403960" y="3703320"/>
            <a:ext cx="2102400" cy="77652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67" name="TextBox 43"/>
          <p:cNvSpPr/>
          <p:nvPr/>
        </p:nvSpPr>
        <p:spPr>
          <a:xfrm>
            <a:off x="5586840" y="3940920"/>
            <a:ext cx="1736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DONE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Right Arrow 44"/>
          <p:cNvSpPr/>
          <p:nvPr/>
        </p:nvSpPr>
        <p:spPr>
          <a:xfrm>
            <a:off x="7680960" y="3849480"/>
            <a:ext cx="913680" cy="438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69" name="Rounded Rectangle 45"/>
          <p:cNvSpPr/>
          <p:nvPr/>
        </p:nvSpPr>
        <p:spPr>
          <a:xfrm>
            <a:off x="8796600" y="3493080"/>
            <a:ext cx="2331000" cy="1206360"/>
          </a:xfrm>
          <a:prstGeom prst="roundRect">
            <a:avLst>
              <a:gd name="adj" fmla="val 16667"/>
            </a:avLst>
          </a:prstGeom>
          <a:solidFill>
            <a:srgbClr val="0A0F1D"/>
          </a:solidFill>
          <a:ln w="12700"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70" name="TextBox 46"/>
          <p:cNvSpPr/>
          <p:nvPr/>
        </p:nvSpPr>
        <p:spPr>
          <a:xfrm>
            <a:off x="8961120" y="3648600"/>
            <a:ext cx="20109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80" b="0" u="none" strike="noStrike">
                <a:solidFill>
                  <a:srgbClr val="8292A2"/>
                </a:solidFill>
                <a:effectLst/>
                <a:uFillTx/>
                <a:latin typeface="Noto Sans"/>
              </a:rPr>
              <a:t>for each done callback</a:t>
            </a:r>
            <a:endParaRPr lang="en-U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47"/>
          <p:cNvSpPr/>
          <p:nvPr/>
        </p:nvSpPr>
        <p:spPr>
          <a:xfrm>
            <a:off x="8924400" y="4023360"/>
            <a:ext cx="20840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3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loop.call_soon(cb, future)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48"/>
          <p:cNvSpPr/>
          <p:nvPr/>
        </p:nvSpPr>
        <p:spPr>
          <a:xfrm>
            <a:off x="1389960" y="5230440"/>
            <a:ext cx="94176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Future completion becomes ordinary work in the event loop’s ready queue.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49"/>
          <p:cNvSpPr/>
          <p:nvPr/>
        </p:nvSpPr>
        <p:spPr>
          <a:xfrm>
            <a:off x="594360" y="6382440"/>
            <a:ext cx="104234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60" b="0" u="none" strike="noStrike">
                <a:solidFill>
                  <a:srgbClr val="8292A2"/>
                </a:solidFill>
                <a:effectLst/>
                <a:uFillTx/>
                <a:latin typeface="Noto Sans"/>
              </a:rPr>
              <a:t>Simplified model: real Future also handles cancellation, context, callbacks added after completion, and more.</a:t>
            </a:r>
            <a:endParaRPr lang="en-US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11 · TASKS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Task: automating coroutine resumption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1"/>
          <p:cNvSpPr>
            <a:spLocks noGrp="1"/>
          </p:cNvSpPr>
          <p:nvPr>
            <p:ph type="sldNum" idx="19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TextBox 25"/>
          <p:cNvSpPr/>
          <p:nvPr/>
        </p:nvSpPr>
        <p:spPr>
          <a:xfrm>
            <a:off x="621720" y="1225440"/>
            <a:ext cx="10697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Task owns a coroutine and repeatedly drives it while the coroutine yields a Future until StopIteration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Rounded Rectangle 29"/>
          <p:cNvSpPr/>
          <p:nvPr/>
        </p:nvSpPr>
        <p:spPr>
          <a:xfrm>
            <a:off x="6711840" y="1828800"/>
            <a:ext cx="4461480" cy="65772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79" name="TextBox 30"/>
          <p:cNvSpPr/>
          <p:nvPr/>
        </p:nvSpPr>
        <p:spPr>
          <a:xfrm>
            <a:off x="6903720" y="2020680"/>
            <a:ext cx="4077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Task.step()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Down Arrow 31"/>
          <p:cNvSpPr/>
          <p:nvPr/>
        </p:nvSpPr>
        <p:spPr>
          <a:xfrm>
            <a:off x="8732520" y="2514600"/>
            <a:ext cx="410760" cy="273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81" name="Rounded Rectangle 32"/>
          <p:cNvSpPr/>
          <p:nvPr/>
        </p:nvSpPr>
        <p:spPr>
          <a:xfrm>
            <a:off x="6711840" y="2834640"/>
            <a:ext cx="4461480" cy="65772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82" name="TextBox 33"/>
          <p:cNvSpPr/>
          <p:nvPr/>
        </p:nvSpPr>
        <p:spPr>
          <a:xfrm>
            <a:off x="6903720" y="3026520"/>
            <a:ext cx="4077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coro.send(None)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Down Arrow 34"/>
          <p:cNvSpPr/>
          <p:nvPr/>
        </p:nvSpPr>
        <p:spPr>
          <a:xfrm>
            <a:off x="8732520" y="3520440"/>
            <a:ext cx="410760" cy="273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84" name="Rounded Rectangle 35"/>
          <p:cNvSpPr/>
          <p:nvPr/>
        </p:nvSpPr>
        <p:spPr>
          <a:xfrm>
            <a:off x="6711840" y="3840480"/>
            <a:ext cx="4461480" cy="65772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85" name="TextBox 36"/>
          <p:cNvSpPr/>
          <p:nvPr/>
        </p:nvSpPr>
        <p:spPr>
          <a:xfrm>
            <a:off x="6903720" y="4032360"/>
            <a:ext cx="4077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Future is yielded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Down Arrow 37"/>
          <p:cNvSpPr/>
          <p:nvPr/>
        </p:nvSpPr>
        <p:spPr>
          <a:xfrm>
            <a:off x="8732520" y="4526280"/>
            <a:ext cx="410760" cy="273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87" name="Rounded Rectangle 38"/>
          <p:cNvSpPr/>
          <p:nvPr/>
        </p:nvSpPr>
        <p:spPr>
          <a:xfrm>
            <a:off x="6711840" y="4846320"/>
            <a:ext cx="4461480" cy="65772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88" name="TextBox 39"/>
          <p:cNvSpPr/>
          <p:nvPr/>
        </p:nvSpPr>
        <p:spPr>
          <a:xfrm>
            <a:off x="6903720" y="5038200"/>
            <a:ext cx="4077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1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add_done_callback(wakeup)</a:t>
            </a:r>
            <a:endParaRPr lang="en-US" sz="14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40"/>
          <p:cNvSpPr/>
          <p:nvPr/>
        </p:nvSpPr>
        <p:spPr>
          <a:xfrm>
            <a:off x="6602040" y="5696640"/>
            <a:ext cx="470844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When the Future completes, its done callback enters the ready queue. That callback drives the coroutine again.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"/>
          <p:cNvPicPr/>
          <p:nvPr/>
        </p:nvPicPr>
        <p:blipFill>
          <a:blip r:embed="rId1"/>
          <a:stretch/>
        </p:blipFill>
        <p:spPr>
          <a:xfrm>
            <a:off x="657720" y="1848240"/>
            <a:ext cx="5056920" cy="4161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12 · THE PAYOFF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The trick: Tasks turn “await”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into callbacks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2"/>
          <p:cNvSpPr/>
          <p:nvPr/>
        </p:nvSpPr>
        <p:spPr>
          <a:xfrm>
            <a:off x="694800" y="1993320"/>
            <a:ext cx="2056680" cy="95940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3"/>
          <p:cNvSpPr/>
          <p:nvPr/>
        </p:nvSpPr>
        <p:spPr>
          <a:xfrm>
            <a:off x="694800" y="1993320"/>
            <a:ext cx="63360" cy="959400"/>
          </a:xfrm>
          <a:prstGeom prst="rect">
            <a:avLst/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1680" tIns="45000" rIns="316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4"/>
          <p:cNvSpPr/>
          <p:nvPr/>
        </p:nvSpPr>
        <p:spPr>
          <a:xfrm>
            <a:off x="841320" y="2231280"/>
            <a:ext cx="1809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I/O or timer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completes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5"/>
          <p:cNvSpPr/>
          <p:nvPr/>
        </p:nvSpPr>
        <p:spPr>
          <a:xfrm>
            <a:off x="2797920" y="2468880"/>
            <a:ext cx="16452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2080" tIns="-44640" rIns="8208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6"/>
          <p:cNvSpPr/>
          <p:nvPr/>
        </p:nvSpPr>
        <p:spPr>
          <a:xfrm>
            <a:off x="3035880" y="1993320"/>
            <a:ext cx="2056680" cy="95940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7"/>
          <p:cNvSpPr/>
          <p:nvPr/>
        </p:nvSpPr>
        <p:spPr>
          <a:xfrm>
            <a:off x="3035880" y="1993320"/>
            <a:ext cx="63360" cy="959400"/>
          </a:xfrm>
          <a:prstGeom prst="rect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1680" tIns="45000" rIns="316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8"/>
          <p:cNvSpPr/>
          <p:nvPr/>
        </p:nvSpPr>
        <p:spPr>
          <a:xfrm>
            <a:off x="3182040" y="2231280"/>
            <a:ext cx="1809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Future becomes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DONE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9"/>
          <p:cNvSpPr/>
          <p:nvPr/>
        </p:nvSpPr>
        <p:spPr>
          <a:xfrm>
            <a:off x="5138640" y="2468880"/>
            <a:ext cx="16488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2440" tIns="-44640" rIns="824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0"/>
          <p:cNvSpPr/>
          <p:nvPr/>
        </p:nvSpPr>
        <p:spPr>
          <a:xfrm>
            <a:off x="5376600" y="1993320"/>
            <a:ext cx="2056680" cy="95940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11"/>
          <p:cNvSpPr/>
          <p:nvPr/>
        </p:nvSpPr>
        <p:spPr>
          <a:xfrm>
            <a:off x="5376600" y="1993320"/>
            <a:ext cx="63360" cy="959400"/>
          </a:xfrm>
          <a:prstGeom prst="rect">
            <a:avLst/>
          </a:prstGeom>
          <a:solidFill>
            <a:srgbClr val="4B8BBE"/>
          </a:solidFill>
          <a:ln w="1270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1680" tIns="45000" rIns="316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2"/>
          <p:cNvSpPr/>
          <p:nvPr/>
        </p:nvSpPr>
        <p:spPr>
          <a:xfrm>
            <a:off x="5523120" y="2231280"/>
            <a:ext cx="1809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loop.call_soon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(task wakeup)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3"/>
          <p:cNvSpPr/>
          <p:nvPr/>
        </p:nvSpPr>
        <p:spPr>
          <a:xfrm>
            <a:off x="7479720" y="2468880"/>
            <a:ext cx="16452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2080" tIns="-44640" rIns="8208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4"/>
          <p:cNvSpPr/>
          <p:nvPr/>
        </p:nvSpPr>
        <p:spPr>
          <a:xfrm>
            <a:off x="7717680" y="1993320"/>
            <a:ext cx="2056680" cy="95940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15"/>
          <p:cNvSpPr/>
          <p:nvPr/>
        </p:nvSpPr>
        <p:spPr>
          <a:xfrm>
            <a:off x="7717680" y="1993320"/>
            <a:ext cx="63360" cy="959400"/>
          </a:xfrm>
          <a:prstGeom prst="rect">
            <a:avLst/>
          </a:prstGeom>
          <a:solidFill>
            <a:srgbClr val="5CE1E6"/>
          </a:solidFill>
          <a:ln w="12700">
            <a:solidFill>
              <a:srgbClr val="5C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1680" tIns="45000" rIns="316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6"/>
          <p:cNvSpPr/>
          <p:nvPr/>
        </p:nvSpPr>
        <p:spPr>
          <a:xfrm>
            <a:off x="7863840" y="2231280"/>
            <a:ext cx="18097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Task drives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coroutine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7"/>
          <p:cNvSpPr/>
          <p:nvPr/>
        </p:nvSpPr>
        <p:spPr>
          <a:xfrm>
            <a:off x="9820440" y="2468880"/>
            <a:ext cx="146520" cy="360"/>
          </a:xfrm>
          <a:prstGeom prst="line">
            <a:avLst/>
          </a:prstGeom>
          <a:ln w="27940">
            <a:solidFill>
              <a:srgbClr val="2A355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73080" tIns="-44640" rIns="7308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8"/>
          <p:cNvSpPr/>
          <p:nvPr/>
        </p:nvSpPr>
        <p:spPr>
          <a:xfrm>
            <a:off x="10040040" y="1993320"/>
            <a:ext cx="1508040" cy="959400"/>
          </a:xfrm>
          <a:prstGeom prst="roundRect">
            <a:avLst>
              <a:gd name="adj" fmla="val 1333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9"/>
          <p:cNvSpPr/>
          <p:nvPr/>
        </p:nvSpPr>
        <p:spPr>
          <a:xfrm>
            <a:off x="10040040" y="1993320"/>
            <a:ext cx="63360" cy="959400"/>
          </a:xfrm>
          <a:prstGeom prst="rect">
            <a:avLst/>
          </a:prstGeom>
          <a:solidFill>
            <a:srgbClr val="B89CFF"/>
          </a:solidFill>
          <a:ln w="12700">
            <a:solidFill>
              <a:srgbClr val="B89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1680" tIns="45000" rIns="3168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20"/>
          <p:cNvSpPr/>
          <p:nvPr/>
        </p:nvSpPr>
        <p:spPr>
          <a:xfrm>
            <a:off x="10186560" y="2231280"/>
            <a:ext cx="1261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next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await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21"/>
          <p:cNvSpPr/>
          <p:nvPr/>
        </p:nvSpPr>
        <p:spPr>
          <a:xfrm>
            <a:off x="1069920" y="3886200"/>
            <a:ext cx="10057680" cy="1096560"/>
          </a:xfrm>
          <a:prstGeom prst="roundRect">
            <a:avLst>
              <a:gd name="adj" fmla="val 11667"/>
            </a:avLst>
          </a:prstGeom>
          <a:solidFill>
            <a:srgbClr val="10253A"/>
          </a:solidFill>
          <a:ln w="12700">
            <a:solidFill>
              <a:srgbClr val="10253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22"/>
          <p:cNvSpPr/>
          <p:nvPr/>
        </p:nvSpPr>
        <p:spPr>
          <a:xfrm>
            <a:off x="1463040" y="4114800"/>
            <a:ext cx="928044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The loop only sees Task.wakeup callbacks.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Task and Future provide the coroutine semantics above it.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23"/>
          <p:cNvSpPr/>
          <p:nvPr/>
        </p:nvSpPr>
        <p:spPr>
          <a:xfrm>
            <a:off x="1993320" y="5486400"/>
            <a:ext cx="8228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That is the bridge between event-driven callbacks and async / await.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1"/>
          <p:cNvSpPr>
            <a:spLocks noGrp="1"/>
          </p:cNvSpPr>
          <p:nvPr>
            <p:ph type="sldNum" idx="20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13 · ASYNCIO NETWORKING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Where does networking fit?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1"/>
          <p:cNvSpPr>
            <a:spLocks noGrp="1"/>
          </p:cNvSpPr>
          <p:nvPr>
            <p:ph type="sldNum" idx="21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14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TextBox 25"/>
          <p:cNvSpPr/>
          <p:nvPr/>
        </p:nvSpPr>
        <p:spPr>
          <a:xfrm>
            <a:off x="576000" y="1161360"/>
            <a:ext cx="101491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SelectorEventLoop view: networking builds outward from readiness callbacks.</a:t>
            </a:r>
            <a:endParaRPr lang="en-US" sz="1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0" name="Picture 26" descr="asyncio_networking_layers.png"/>
          <p:cNvPicPr/>
          <p:nvPr/>
        </p:nvPicPr>
        <p:blipFill>
          <a:blip r:embed="rId1"/>
          <a:stretch/>
        </p:blipFill>
        <p:spPr>
          <a:xfrm>
            <a:off x="713160" y="1627560"/>
            <a:ext cx="5439960" cy="532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1" name="Rounded Rectangle 27"/>
          <p:cNvSpPr/>
          <p:nvPr/>
        </p:nvSpPr>
        <p:spPr>
          <a:xfrm>
            <a:off x="6565320" y="1737360"/>
            <a:ext cx="4735800" cy="10965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22" name="Rounded Rectangle 28"/>
          <p:cNvSpPr/>
          <p:nvPr/>
        </p:nvSpPr>
        <p:spPr>
          <a:xfrm>
            <a:off x="6729840" y="1901880"/>
            <a:ext cx="99720" cy="76752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45000" rIns="50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23" name="TextBox 29"/>
          <p:cNvSpPr/>
          <p:nvPr/>
        </p:nvSpPr>
        <p:spPr>
          <a:xfrm>
            <a:off x="7004160" y="1856160"/>
            <a:ext cx="41324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Streams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Box 30"/>
          <p:cNvSpPr/>
          <p:nvPr/>
        </p:nvSpPr>
        <p:spPr>
          <a:xfrm>
            <a:off x="7004160" y="2221920"/>
            <a:ext cx="4132440" cy="4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loop.open_connection(...)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loop.start_server(...)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Rounded Rectangle 31"/>
          <p:cNvSpPr/>
          <p:nvPr/>
        </p:nvSpPr>
        <p:spPr>
          <a:xfrm>
            <a:off x="6565320" y="2971800"/>
            <a:ext cx="4735800" cy="109656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26" name="Rounded Rectangle 32"/>
          <p:cNvSpPr/>
          <p:nvPr/>
        </p:nvSpPr>
        <p:spPr>
          <a:xfrm>
            <a:off x="6729840" y="3136320"/>
            <a:ext cx="99720" cy="76752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45000" rIns="50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27" name="TextBox 33"/>
          <p:cNvSpPr/>
          <p:nvPr/>
        </p:nvSpPr>
        <p:spPr>
          <a:xfrm>
            <a:off x="7004160" y="3090600"/>
            <a:ext cx="41324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7D19C"/>
                </a:solidFill>
                <a:effectLst/>
                <a:uFillTx/>
                <a:latin typeface="Noto Sans"/>
              </a:rPr>
              <a:t>Transport / Protocol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34"/>
          <p:cNvSpPr/>
          <p:nvPr/>
        </p:nvSpPr>
        <p:spPr>
          <a:xfrm>
            <a:off x="7004160" y="3456360"/>
            <a:ext cx="4132440" cy="4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loop.create_connection(...)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loop.create_server(...)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Rounded Rectangle 35"/>
          <p:cNvSpPr/>
          <p:nvPr/>
        </p:nvSpPr>
        <p:spPr>
          <a:xfrm>
            <a:off x="6565320" y="4206240"/>
            <a:ext cx="4735800" cy="12798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30" name="Rounded Rectangle 36"/>
          <p:cNvSpPr/>
          <p:nvPr/>
        </p:nvSpPr>
        <p:spPr>
          <a:xfrm>
            <a:off x="6729840" y="4370760"/>
            <a:ext cx="99720" cy="886680"/>
          </a:xfrm>
          <a:prstGeom prst="roundRect">
            <a:avLst>
              <a:gd name="adj" fmla="val 16667"/>
            </a:avLst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0040" tIns="45000" rIns="50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331" name="TextBox 37"/>
          <p:cNvSpPr/>
          <p:nvPr/>
        </p:nvSpPr>
        <p:spPr>
          <a:xfrm>
            <a:off x="7004160" y="4325040"/>
            <a:ext cx="41324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Socket coroutines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Box 38"/>
          <p:cNvSpPr/>
          <p:nvPr/>
        </p:nvSpPr>
        <p:spPr>
          <a:xfrm>
            <a:off x="7004160" y="4690800"/>
            <a:ext cx="4132440" cy="6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loop.sock_recv()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loop.sock_sendall()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...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39"/>
          <p:cNvSpPr/>
          <p:nvPr/>
        </p:nvSpPr>
        <p:spPr>
          <a:xfrm>
            <a:off x="6830640" y="5431680"/>
            <a:ext cx="4205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Streams use Transport / Protocol; sock_* is a parallel path.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14 · LOWER-LEVEL NETWORKING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Transport + Protocol: a connection as callbacks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2"/>
          <p:cNvSpPr/>
          <p:nvPr/>
        </p:nvSpPr>
        <p:spPr>
          <a:xfrm>
            <a:off x="713160" y="1508760"/>
            <a:ext cx="4735800" cy="420552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"/>
          <p:cNvSpPr/>
          <p:nvPr/>
        </p:nvSpPr>
        <p:spPr>
          <a:xfrm>
            <a:off x="1033200" y="1783080"/>
            <a:ext cx="1370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PROTOCOL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4"/>
          <p:cNvSpPr/>
          <p:nvPr/>
        </p:nvSpPr>
        <p:spPr>
          <a:xfrm>
            <a:off x="1051560" y="2212920"/>
            <a:ext cx="40683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connection_made(transport)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1051560" y="2898720"/>
            <a:ext cx="40683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data_received(data)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6"/>
          <p:cNvSpPr/>
          <p:nvPr/>
        </p:nvSpPr>
        <p:spPr>
          <a:xfrm>
            <a:off x="1051560" y="3584520"/>
            <a:ext cx="40683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connection_lost(exc)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7"/>
          <p:cNvSpPr/>
          <p:nvPr/>
        </p:nvSpPr>
        <p:spPr>
          <a:xfrm>
            <a:off x="1051560" y="4782240"/>
            <a:ext cx="40410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Your application reacts to events.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8"/>
          <p:cNvSpPr/>
          <p:nvPr/>
        </p:nvSpPr>
        <p:spPr>
          <a:xfrm>
            <a:off x="6711840" y="1508760"/>
            <a:ext cx="4735800" cy="420552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9"/>
          <p:cNvSpPr/>
          <p:nvPr/>
        </p:nvSpPr>
        <p:spPr>
          <a:xfrm>
            <a:off x="7040880" y="1783080"/>
            <a:ext cx="13708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  <a:ea typeface="Noto Sans"/>
              </a:rPr>
              <a:t>TRANSPORT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0"/>
          <p:cNvSpPr/>
          <p:nvPr/>
        </p:nvSpPr>
        <p:spPr>
          <a:xfrm>
            <a:off x="7040880" y="2212920"/>
            <a:ext cx="40410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write(data)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1"/>
          <p:cNvSpPr/>
          <p:nvPr/>
        </p:nvSpPr>
        <p:spPr>
          <a:xfrm>
            <a:off x="7040880" y="2898720"/>
            <a:ext cx="40410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pause_reading() / resume_reading()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2"/>
          <p:cNvSpPr/>
          <p:nvPr/>
        </p:nvSpPr>
        <p:spPr>
          <a:xfrm>
            <a:off x="7040880" y="3584520"/>
            <a:ext cx="40410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close()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3"/>
          <p:cNvSpPr/>
          <p:nvPr/>
        </p:nvSpPr>
        <p:spPr>
          <a:xfrm>
            <a:off x="7040880" y="4782240"/>
            <a:ext cx="40410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asyncio owns the I/O channel.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4"/>
          <p:cNvSpPr/>
          <p:nvPr/>
        </p:nvSpPr>
        <p:spPr>
          <a:xfrm>
            <a:off x="5468040" y="2359080"/>
            <a:ext cx="1152000" cy="360"/>
          </a:xfrm>
          <a:prstGeom prst="line">
            <a:avLst/>
          </a:prstGeom>
          <a:ln w="30480">
            <a:solidFill>
              <a:srgbClr val="4B8BB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5"/>
          <p:cNvSpPr/>
          <p:nvPr/>
        </p:nvSpPr>
        <p:spPr>
          <a:xfrm>
            <a:off x="5513760" y="2011680"/>
            <a:ext cx="10508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  <a:ea typeface="Noto Sans"/>
              </a:rPr>
              <a:t>send bytes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6"/>
          <p:cNvSpPr/>
          <p:nvPr/>
        </p:nvSpPr>
        <p:spPr>
          <a:xfrm flipH="1">
            <a:off x="5468040" y="3108960"/>
            <a:ext cx="1152000" cy="360"/>
          </a:xfrm>
          <a:prstGeom prst="line">
            <a:avLst/>
          </a:prstGeom>
          <a:ln w="30480">
            <a:solidFill>
              <a:srgbClr val="57D19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7"/>
          <p:cNvSpPr/>
          <p:nvPr/>
        </p:nvSpPr>
        <p:spPr>
          <a:xfrm>
            <a:off x="5486400" y="3255120"/>
            <a:ext cx="11149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received bytes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8"/>
          <p:cNvSpPr/>
          <p:nvPr/>
        </p:nvSpPr>
        <p:spPr>
          <a:xfrm>
            <a:off x="5394960" y="4206240"/>
            <a:ext cx="13251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 : 1 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1"/>
          <p:cNvSpPr>
            <a:spLocks noGrp="1"/>
          </p:cNvSpPr>
          <p:nvPr>
            <p:ph type="sldNum" idx="22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15 · TWO COROUTINE-FACING APIS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Streams vs. loop.sock_*()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2"/>
          <p:cNvSpPr/>
          <p:nvPr/>
        </p:nvSpPr>
        <p:spPr>
          <a:xfrm>
            <a:off x="713160" y="1444680"/>
            <a:ext cx="5229720" cy="4525560"/>
          </a:xfrm>
          <a:prstGeom prst="roundRect">
            <a:avLst>
              <a:gd name="adj" fmla="val 2828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3"/>
          <p:cNvSpPr/>
          <p:nvPr/>
        </p:nvSpPr>
        <p:spPr>
          <a:xfrm>
            <a:off x="1078920" y="1719000"/>
            <a:ext cx="1261080" cy="310320"/>
          </a:xfrm>
          <a:prstGeom prst="roundRect">
            <a:avLst>
              <a:gd name="adj" fmla="val 47059"/>
            </a:avLst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4"/>
          <p:cNvSpPr/>
          <p:nvPr/>
        </p:nvSpPr>
        <p:spPr>
          <a:xfrm>
            <a:off x="1124640" y="1778400"/>
            <a:ext cx="11696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Streams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5"/>
          <p:cNvSpPr/>
          <p:nvPr/>
        </p:nvSpPr>
        <p:spPr>
          <a:xfrm>
            <a:off x="1060560" y="2331720"/>
            <a:ext cx="45072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reader, writer = await open_connection(...)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6"/>
          <p:cNvSpPr/>
          <p:nvPr/>
        </p:nvSpPr>
        <p:spPr>
          <a:xfrm>
            <a:off x="1060560" y="2853000"/>
            <a:ext cx="45072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data = await reader.read(4096)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7"/>
          <p:cNvSpPr/>
          <p:nvPr/>
        </p:nvSpPr>
        <p:spPr>
          <a:xfrm>
            <a:off x="1060560" y="3374280"/>
            <a:ext cx="450720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writer.write(data)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await writer.drain()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8"/>
          <p:cNvSpPr/>
          <p:nvPr/>
        </p:nvSpPr>
        <p:spPr>
          <a:xfrm>
            <a:off x="1060560" y="4297680"/>
            <a:ext cx="44341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buffering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backpressure helpers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convenient application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9"/>
          <p:cNvSpPr/>
          <p:nvPr/>
        </p:nvSpPr>
        <p:spPr>
          <a:xfrm>
            <a:off x="6245280" y="1444680"/>
            <a:ext cx="5229720" cy="4525560"/>
          </a:xfrm>
          <a:prstGeom prst="roundRect">
            <a:avLst>
              <a:gd name="adj" fmla="val 2828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10"/>
          <p:cNvSpPr/>
          <p:nvPr/>
        </p:nvSpPr>
        <p:spPr>
          <a:xfrm>
            <a:off x="6611040" y="1719000"/>
            <a:ext cx="1626840" cy="310320"/>
          </a:xfrm>
          <a:prstGeom prst="roundRect">
            <a:avLst>
              <a:gd name="adj" fmla="val 47059"/>
            </a:avLst>
          </a:prstGeom>
          <a:solidFill>
            <a:srgbClr val="5CE1E6"/>
          </a:solidFill>
          <a:ln w="12700">
            <a:solidFill>
              <a:srgbClr val="5C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1"/>
          <p:cNvSpPr/>
          <p:nvPr/>
        </p:nvSpPr>
        <p:spPr>
          <a:xfrm>
            <a:off x="6656760" y="1778400"/>
            <a:ext cx="15354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loop.sock_*()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2"/>
          <p:cNvSpPr/>
          <p:nvPr/>
        </p:nvSpPr>
        <p:spPr>
          <a:xfrm>
            <a:off x="6602040" y="2331720"/>
            <a:ext cx="44982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data = await loop.sock_recv(sock, 4096)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3"/>
          <p:cNvSpPr/>
          <p:nvPr/>
        </p:nvSpPr>
        <p:spPr>
          <a:xfrm>
            <a:off x="6602040" y="2853000"/>
            <a:ext cx="44982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await loop.sock_sendall(sock, data)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4"/>
          <p:cNvSpPr/>
          <p:nvPr/>
        </p:nvSpPr>
        <p:spPr>
          <a:xfrm>
            <a:off x="6602040" y="3511440"/>
            <a:ext cx="449820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sock must be non-blocking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5"/>
          <p:cNvSpPr/>
          <p:nvPr/>
        </p:nvSpPr>
        <p:spPr>
          <a:xfrm>
            <a:off x="6602040" y="4297680"/>
            <a:ext cx="44341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direct socket ownership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fewer abstractions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separate API path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• replicate socket stdlib module, but with async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1"/>
          <p:cNvSpPr>
            <a:spLocks noGrp="1"/>
          </p:cNvSpPr>
          <p:nvPr>
            <p:ph type="sldNum" idx="23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16 · THE BOTTOM LAYER CAN DIFFER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Reactor vs. Proactor: event loop implementation details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2"/>
          <p:cNvSpPr/>
          <p:nvPr/>
        </p:nvSpPr>
        <p:spPr>
          <a:xfrm>
            <a:off x="713160" y="1417320"/>
            <a:ext cx="5257080" cy="4525560"/>
          </a:xfrm>
          <a:prstGeom prst="roundRect">
            <a:avLst>
              <a:gd name="adj" fmla="val 2828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3"/>
          <p:cNvSpPr/>
          <p:nvPr/>
        </p:nvSpPr>
        <p:spPr>
          <a:xfrm>
            <a:off x="1069920" y="1700640"/>
            <a:ext cx="1325160" cy="310320"/>
          </a:xfrm>
          <a:prstGeom prst="roundRect">
            <a:avLst>
              <a:gd name="adj" fmla="val 47059"/>
            </a:avLst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4"/>
          <p:cNvSpPr/>
          <p:nvPr/>
        </p:nvSpPr>
        <p:spPr>
          <a:xfrm>
            <a:off x="1115640" y="1760400"/>
            <a:ext cx="12337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REACTOR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5"/>
          <p:cNvSpPr/>
          <p:nvPr/>
        </p:nvSpPr>
        <p:spPr>
          <a:xfrm>
            <a:off x="1078920" y="2359080"/>
            <a:ext cx="4525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1. Ask: “when is this socket ready?”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6"/>
          <p:cNvSpPr/>
          <p:nvPr/>
        </p:nvSpPr>
        <p:spPr>
          <a:xfrm>
            <a:off x="3319200" y="2761200"/>
            <a:ext cx="360" cy="420840"/>
          </a:xfrm>
          <a:prstGeom prst="line">
            <a:avLst/>
          </a:prstGeom>
          <a:ln w="27940">
            <a:solidFill>
              <a:srgbClr val="57D19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7"/>
          <p:cNvSpPr/>
          <p:nvPr/>
        </p:nvSpPr>
        <p:spPr>
          <a:xfrm>
            <a:off x="1078920" y="3246120"/>
            <a:ext cx="4525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2. readiness notification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8"/>
          <p:cNvSpPr/>
          <p:nvPr/>
        </p:nvSpPr>
        <p:spPr>
          <a:xfrm>
            <a:off x="3319200" y="3648240"/>
            <a:ext cx="360" cy="420840"/>
          </a:xfrm>
          <a:prstGeom prst="line">
            <a:avLst/>
          </a:prstGeom>
          <a:ln w="27940">
            <a:solidFill>
              <a:srgbClr val="57D19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9"/>
          <p:cNvSpPr/>
          <p:nvPr/>
        </p:nvSpPr>
        <p:spPr>
          <a:xfrm>
            <a:off x="1078920" y="4133160"/>
            <a:ext cx="4525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3. perform recv()/send()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1"/>
          <p:cNvSpPr/>
          <p:nvPr/>
        </p:nvSpPr>
        <p:spPr>
          <a:xfrm>
            <a:off x="6236280" y="1417320"/>
            <a:ext cx="5257080" cy="4525560"/>
          </a:xfrm>
          <a:prstGeom prst="roundRect">
            <a:avLst>
              <a:gd name="adj" fmla="val 2828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12"/>
          <p:cNvSpPr/>
          <p:nvPr/>
        </p:nvSpPr>
        <p:spPr>
          <a:xfrm>
            <a:off x="6602040" y="1700640"/>
            <a:ext cx="1480680" cy="310320"/>
          </a:xfrm>
          <a:prstGeom prst="roundRect">
            <a:avLst>
              <a:gd name="adj" fmla="val 47059"/>
            </a:avLst>
          </a:prstGeom>
          <a:solidFill>
            <a:srgbClr val="4B8BBE"/>
          </a:solidFill>
          <a:ln w="1270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3"/>
          <p:cNvSpPr/>
          <p:nvPr/>
        </p:nvSpPr>
        <p:spPr>
          <a:xfrm>
            <a:off x="6647760" y="1760400"/>
            <a:ext cx="13892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PROACTOR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4"/>
          <p:cNvSpPr/>
          <p:nvPr/>
        </p:nvSpPr>
        <p:spPr>
          <a:xfrm>
            <a:off x="6602040" y="2359080"/>
            <a:ext cx="4525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1. Start the I/O operation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15"/>
          <p:cNvSpPr/>
          <p:nvPr/>
        </p:nvSpPr>
        <p:spPr>
          <a:xfrm>
            <a:off x="8841960" y="2761200"/>
            <a:ext cx="360" cy="420840"/>
          </a:xfrm>
          <a:prstGeom prst="line">
            <a:avLst/>
          </a:prstGeom>
          <a:ln w="27940">
            <a:solidFill>
              <a:srgbClr val="4B8BB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6"/>
          <p:cNvSpPr/>
          <p:nvPr/>
        </p:nvSpPr>
        <p:spPr>
          <a:xfrm>
            <a:off x="6602040" y="3246120"/>
            <a:ext cx="4525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4B8BBE"/>
                </a:solidFill>
                <a:effectLst/>
                <a:uFillTx/>
                <a:latin typeface="Noto Sans"/>
                <a:ea typeface="Noto Sans"/>
              </a:rPr>
              <a:t>2. OS performs it asynchronously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7"/>
          <p:cNvSpPr/>
          <p:nvPr/>
        </p:nvSpPr>
        <p:spPr>
          <a:xfrm>
            <a:off x="8841960" y="3648240"/>
            <a:ext cx="360" cy="420840"/>
          </a:xfrm>
          <a:prstGeom prst="line">
            <a:avLst/>
          </a:prstGeom>
          <a:ln w="27940">
            <a:solidFill>
              <a:srgbClr val="4B8BB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8"/>
          <p:cNvSpPr/>
          <p:nvPr/>
        </p:nvSpPr>
        <p:spPr>
          <a:xfrm>
            <a:off x="6602040" y="4133160"/>
            <a:ext cx="45255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3. completion notification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19"/>
          <p:cNvSpPr/>
          <p:nvPr/>
        </p:nvSpPr>
        <p:spPr>
          <a:xfrm>
            <a:off x="6602040" y="5230440"/>
            <a:ext cx="452556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Windows default: ProactorEventLoop (IOCP).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0"/>
          <p:cNvSpPr/>
          <p:nvPr/>
        </p:nvSpPr>
        <p:spPr>
          <a:xfrm>
            <a:off x="2395800" y="6099120"/>
            <a:ext cx="74059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Same high-level asyncio; different mechanics underneath.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 type="sldNum" idx="24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ext 0"/>
          <p:cNvSpPr/>
          <p:nvPr/>
        </p:nvSpPr>
        <p:spPr>
          <a:xfrm>
            <a:off x="567000" y="347400"/>
            <a:ext cx="4388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81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BACKUP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"/>
          <p:cNvSpPr/>
          <p:nvPr/>
        </p:nvSpPr>
        <p:spPr>
          <a:xfrm>
            <a:off x="567000" y="640080"/>
            <a:ext cx="10880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BufferedProtocol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"/>
          <p:cNvSpPr/>
          <p:nvPr/>
        </p:nvSpPr>
        <p:spPr>
          <a:xfrm>
            <a:off x="621720" y="1225440"/>
            <a:ext cx="107892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Useful when receive-buffer ownership and copying matter — but not needed for the main mental model.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3"/>
          <p:cNvSpPr/>
          <p:nvPr/>
        </p:nvSpPr>
        <p:spPr>
          <a:xfrm>
            <a:off x="841320" y="1828800"/>
            <a:ext cx="5028480" cy="3611160"/>
          </a:xfrm>
          <a:prstGeom prst="roundRect">
            <a:avLst>
              <a:gd name="adj" fmla="val 3544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4"/>
          <p:cNvSpPr/>
          <p:nvPr/>
        </p:nvSpPr>
        <p:spPr>
          <a:xfrm>
            <a:off x="1234440" y="2121480"/>
            <a:ext cx="1233720" cy="310320"/>
          </a:xfrm>
          <a:prstGeom prst="roundRect">
            <a:avLst>
              <a:gd name="adj" fmla="val 47059"/>
            </a:avLst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5"/>
          <p:cNvSpPr/>
          <p:nvPr/>
        </p:nvSpPr>
        <p:spPr>
          <a:xfrm>
            <a:off x="1280160" y="2180880"/>
            <a:ext cx="11422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Protocol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6"/>
          <p:cNvSpPr/>
          <p:nvPr/>
        </p:nvSpPr>
        <p:spPr>
          <a:xfrm>
            <a:off x="1225440" y="2788920"/>
            <a:ext cx="425124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event loop allocates / receives bytes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→ data_received(data)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7"/>
          <p:cNvSpPr/>
          <p:nvPr/>
        </p:nvSpPr>
        <p:spPr>
          <a:xfrm>
            <a:off x="1225440" y="4389120"/>
            <a:ext cx="4251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8F9AB3"/>
                </a:solidFill>
                <a:effectLst/>
                <a:uFillTx/>
                <a:latin typeface="Noto Sans"/>
                <a:ea typeface="Noto Sans"/>
              </a:rPr>
              <a:t>simple, common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8"/>
          <p:cNvSpPr/>
          <p:nvPr/>
        </p:nvSpPr>
        <p:spPr>
          <a:xfrm>
            <a:off x="6309360" y="1828800"/>
            <a:ext cx="5028480" cy="3611160"/>
          </a:xfrm>
          <a:prstGeom prst="roundRect">
            <a:avLst>
              <a:gd name="adj" fmla="val 3544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9"/>
          <p:cNvSpPr/>
          <p:nvPr/>
        </p:nvSpPr>
        <p:spPr>
          <a:xfrm>
            <a:off x="6720840" y="2121480"/>
            <a:ext cx="1782360" cy="310320"/>
          </a:xfrm>
          <a:prstGeom prst="roundRect">
            <a:avLst>
              <a:gd name="adj" fmla="val 47059"/>
            </a:avLst>
          </a:prstGeom>
          <a:solidFill>
            <a:srgbClr val="5CE1E6"/>
          </a:solidFill>
          <a:ln w="12700">
            <a:solidFill>
              <a:srgbClr val="5C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0"/>
          <p:cNvSpPr/>
          <p:nvPr/>
        </p:nvSpPr>
        <p:spPr>
          <a:xfrm>
            <a:off x="6766560" y="2180880"/>
            <a:ext cx="1690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BufferedProtocol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1"/>
          <p:cNvSpPr/>
          <p:nvPr/>
        </p:nvSpPr>
        <p:spPr>
          <a:xfrm>
            <a:off x="6711840" y="2788920"/>
            <a:ext cx="425124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protocol provides receive buffer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→ buffer_updated(nbytes)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2"/>
          <p:cNvSpPr/>
          <p:nvPr/>
        </p:nvSpPr>
        <p:spPr>
          <a:xfrm>
            <a:off x="6711840" y="4389120"/>
            <a:ext cx="4251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8F9AB3"/>
                </a:solidFill>
                <a:effectLst/>
                <a:uFillTx/>
                <a:latin typeface="Noto Sans"/>
                <a:ea typeface="Noto Sans"/>
              </a:rPr>
              <a:t>can reduce allocations / copies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1"/>
          <p:cNvSpPr>
            <a:spLocks noGrp="1"/>
          </p:cNvSpPr>
          <p:nvPr>
            <p:ph type="sldNum" idx="25"/>
          </p:nvPr>
        </p:nvSpPr>
        <p:spPr>
          <a:xfrm>
            <a:off x="11777400" y="6492240"/>
            <a:ext cx="227880" cy="200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19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" pitchFamily="0" charset="1"/>
        <a:ea typeface=""/>
        <a:cs typeface=""/>
      </a:majorFont>
      <a:minorFont>
        <a:latin typeface="Noto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289</TotalTime>
  <Application>LibreOffice/26.2.5.2$Linux_X86_64 LibreOffice_project/6d2b0d33fb0f5da53a12f98bed3e9973e56ff1f0</Application>
  <AppVersion>15.0000</AppVersion>
  <Words>0</Words>
  <Paragraphs>0</Paragraphs>
  <Company>PyCon NL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2026-09-22T10:00:55Z</dcterms:created>
  <dc:creator>OpenAI</dc:creator>
  <dc:description/>
  <dc:language>en-US</dc:language>
  <cp:lastModifiedBy/>
  <dcterms:modified xsi:type="dcterms:W3CDTF">2026-10-07T14:29:16Z</dcterms:modified>
  <cp:revision>22</cp:revision>
  <dc:subject>What's Inside an asyncio Event Loop?</dc:subject>
  <dc:title>What's Inside an asyncio Event Loop?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19</vt:i4>
  </property>
  <property fmtid="{D5CDD505-2E9C-101B-9397-08002B2CF9AE}" pid="3" name="PresentationFormat">
    <vt:lpwstr>On-screen Show (16:9)</vt:lpwstr>
  </property>
  <property fmtid="{D5CDD505-2E9C-101B-9397-08002B2CF9AE}" pid="4" name="Slides">
    <vt:i4>19</vt:i4>
  </property>
</Properties>
</file>