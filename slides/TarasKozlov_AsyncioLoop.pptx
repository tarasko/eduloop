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14.svg" ContentType="image/svg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9" r:id="rId28"/>
    <p:sldId id="278" r:id="rId26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?>
<Relationships xmlns="http://schemas.openxmlformats.org/package/2006/relationships"><Relationship Id="rId1" Type="http://schemas.openxmlformats.org/officeDocument/2006/relationships/theme" Target="theme/theme1.xml" /><Relationship Id="rId2" Type="http://schemas.openxmlformats.org/officeDocument/2006/relationships/slideMaster" Target="slideMasters/slideMaster1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slide" Target="slides/slide2.xml" /><Relationship Id="rId6" Type="http://schemas.openxmlformats.org/officeDocument/2006/relationships/slide" Target="slides/slide3.xml" /><Relationship Id="rId7" Type="http://schemas.openxmlformats.org/officeDocument/2006/relationships/slide" Target="slides/slide4.xml" /><Relationship Id="rId8" Type="http://schemas.openxmlformats.org/officeDocument/2006/relationships/slide" Target="slides/slide5.xml" /><Relationship Id="rId9" Type="http://schemas.openxmlformats.org/officeDocument/2006/relationships/slide" Target="slides/slide6.xml" /><Relationship Id="rId10" Type="http://schemas.openxmlformats.org/officeDocument/2006/relationships/slide" Target="slides/slide7.xml" /><Relationship Id="rId11" Type="http://schemas.openxmlformats.org/officeDocument/2006/relationships/slide" Target="slides/slide8.xml" /><Relationship Id="rId12" Type="http://schemas.openxmlformats.org/officeDocument/2006/relationships/slide" Target="slides/slide9.xml" /><Relationship Id="rId13" Type="http://schemas.openxmlformats.org/officeDocument/2006/relationships/slide" Target="slides/slide10.xml" /><Relationship Id="rId14" Type="http://schemas.openxmlformats.org/officeDocument/2006/relationships/slide" Target="slides/slide11.xml" /><Relationship Id="rId15" Type="http://schemas.openxmlformats.org/officeDocument/2006/relationships/slide" Target="slides/slide12.xml" /><Relationship Id="rId16" Type="http://schemas.openxmlformats.org/officeDocument/2006/relationships/slide" Target="slides/slide13.xml" /><Relationship Id="rId17" Type="http://schemas.openxmlformats.org/officeDocument/2006/relationships/slide" Target="slides/slide14.xml" /><Relationship Id="rId18" Type="http://schemas.openxmlformats.org/officeDocument/2006/relationships/slide" Target="slides/slide15.xml" /><Relationship Id="rId19" Type="http://schemas.openxmlformats.org/officeDocument/2006/relationships/slide" Target="slides/slide16.xml" /><Relationship Id="rId20" Type="http://schemas.openxmlformats.org/officeDocument/2006/relationships/slide" Target="slides/slide17.xml" /><Relationship Id="rId21" Type="http://schemas.openxmlformats.org/officeDocument/2006/relationships/slide" Target="slides/slide18.xml" /><Relationship Id="rId22" Type="http://schemas.openxmlformats.org/officeDocument/2006/relationships/slide" Target="slides/slide19.xml" /><Relationship Id="rId23" Type="http://schemas.openxmlformats.org/officeDocument/2006/relationships/slide" Target="slides/slide20.xml" /><Relationship Id="rId24" Type="http://schemas.openxmlformats.org/officeDocument/2006/relationships/slide" Target="slides/slide21.xml" /><Relationship Id="rId25" Type="http://schemas.openxmlformats.org/officeDocument/2006/relationships/slide" Target="slides/slide22.xml" /><Relationship Id="rId26" Type="http://schemas.openxmlformats.org/officeDocument/2006/relationships/slide" Target="slides/slide23.xml" /><Relationship Id="rId27" Type="http://schemas.openxmlformats.org/officeDocument/2006/relationships/presProps" Target="presProps.xml" />
<Relationship Id="rId28" Type="http://schemas.openxmlformats.org/officeDocument/2006/relationships/slide" Target="slides/slide24.xml" />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0B2940B-588D-432B-8208-5BA8523540E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(~30s)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goal is not to teach async/await syntax. We will temporarily forget async/await and build the machinery underneath it from small, understandable pieces. By the time Tasks and networking appear, they should feel inevitable rather than magical.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narrow the discussion to asyncio. At its core, the event loop has only a few basic responsibilities.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call_soon puts callback work into the ready queue. call_later manages callbacks that should become ready in the future. add_reader and add_writer register I/O readiness interest. run_forever repeatedly performs one loop iteration until stop is requested.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real signatures have some extra details, but these are the essential pieces.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next few slides build these functions one by 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with the smallest thing that deserves to be called an event loop. call_soon just appends a callback and its arguments to a deque. run_forever repeatedly takes the next item and calls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 the mental model, deliberately omit lifecycle details such as stop(): they are trivial compared with the scheduling mechanism we want to understand.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 this point there is no async/await, no Tasks, no sockets — just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obvious problem is that when the ready queue is empty this implementation busy-spins. We will fix that gradually.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add timers. call_later calculates an absolute deadline using monotonic time and pushes the callback into a min-heap.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iteration checks the heap. Every timer whose deadline has passed is removed and moved into the same ready queue that call_soon uses. Then we execute the ready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there is nothing ready, we can now avoid busy-spinning: look at the earliest timer and sleep until that deadline.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an important step because timers do not create a separate execution mechanism. They only decide when a callback becomes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now we are ready for the next problem: time.sleep knows only about time, but an event loop also needs to wake for I/O.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add timers. call_later calculates an absolute deadline using monotonic time and pushes the callback into a min-heap.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iteration checks the heap. Every timer whose deadline has passed is removed and moved into the same ready queue that call_soon uses. Then we execute the ready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there is nothing ready, we can now avoid busy-spinning: look at the earliest timer and sleep until that deadline.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an important step because timers do not create a separate execution mechanism. They only decide when a callback becomes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now we are ready for the next problem: time.sleep knows only about time, but an event loop also needs to wake for I/O.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narrative hinge. time.sleep knows only time. If the next timer is 8 seconds away but a socket receives a packet after 2 ms, sleep cannot wake early.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replace “sleep until timeout” with “wait for I/O, but no longer than timeout”. That is exactly the service a selector provides.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add I/O registration. add_reader and add_writer associate a file descriptor plus an event mask with the callback that should become runnable when the descriptor is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implementation on the slide is deliberately small but handles the important case where the same fd may be watched for both reading and writing: update the combined selector mask and keep a callback per event.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selector.select(timeout) is the blocking point. It returns either because an fd became ready or because the timer-derived timeout expired.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select/poll/epoll/kqueue only as examples of the same readiness abstraction; do not dive into their differences.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add I/O registration. add_reader and add_writer associate a file descriptor plus an event mask with the callback that should become runnable when the descriptor is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implementation on the slide is deliberately small but handles the important case where the same fd may be watched for both reading and writing: update the combined selector mask and keep a callback per event.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selector.select(timeout) is the blocking point. It returns either because an fd became ready or because the timer-derived timeout expired.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select/poll/epoll/kqueue only as examples of the same readiness abstraction; do not dive into their differences.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add I/O registration. add_reader and add_writer associate a file descriptor plus an event mask with the callback that should become runnable when the descriptor is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implementation on the slide is deliberately small but handles the important case where the same fd may be watched for both reading and writing: update the combined selector mask and keep a callback per event.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selector.select(timeout) is the blocking point. It returns either because an fd became ready or because the timer-derived timeout expired.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select/poll/epoll/kqueue only as examples of the same readiness abstraction; do not dive into their differences.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slide to dwell on. The exact CPython implementation has cancellation cleanup, clock resolution handling, debug timing, etc., but conceptually the loop does these four things.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Important subtlety: run a snapshot/current batch of ready callbacks, not an unbounded loop over callbacks appended by callbacks. Newly scheduled callbacks generally wait for the next iteration.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~30s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Pause and emphasize this. Nothing about an event loop inherently requires coroutines. libevent, GUI loops, Node's internals, and old-school async code can all be callback-driven.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introduce coroutines as a control-flow abstraction layered on top of the callback scheduler.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direct answer to “how do you actually pause and resume a coroutine?”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coroutine itself contains `await future`. Python enters Future.__await__(). If the Future is not done, that method executes `yield self`. That yield is what gives control back to the coroutine driver.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first coro.send(None) therefore runs conversation() until the Future yields itself. Later we mark the Future done and send None again. Execution continues inside Future.__await__(), which returns the stored result; that becomes the value of the await expression.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example mutates private fields only to keep this slide focused. The next slide introduces the public completion API: set_result(), set_exception(), and add_done_callback().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conversation() finally returns, send(None) raises StopIteration to its driver; mention this only if useful.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introduce the Future API that replaces the private field manipulation from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previous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add_done_callback(cb): somebody can register interest in completion. A Task will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this to arrange its own resumption.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set_result(value) and set_exception(exc) are the two important ways to complete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Future.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key connection back to our event loop: asyncio schedules Future done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callbacks through loop.call_soon rather than invoking them inline. So Future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simply creates normal ready-queue work.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conceptual; cancellation and other production details are deliberately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omitted.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the three pieces join together. A Task owns a coroutine. Its step callback calls coro.send(None).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the coroutine reaches `await future`, Future.__await__() yields that Future back to Task.step(). The Task registers wakeup as a done callback and stops doing anything.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the Future completes, Future schedules wakeup through loop.call_soon. Because wakeup itself is now an event-loop callback, it can immediately drive the coroutine again by calling step().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Notice the important detail from slide 10: we send None when resuming. Future.__await__() returns its stored result internally, so that value becomes the result of the await expression.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pseudocode intentionally ignores cancellation and exception injection. The payoff slide next shows the whole cycle.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conceptual reveal. Trace one complete cycle from an I/O event to the next await.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 precise: Futures and Tasks are attached to / use an event loop; they are not literally disconnected. The useful architectural point is that the event-loop iteration does not need to understand Python coroutine control flow. It executes scheduled callbacks; Task/Future machinery converts coroutine suspension/resumption into those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conceptual reveal. Trace one complete cycle from an I/O event to the next await.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 precise: Futures and Tasks are attached to / use an event loop; they are not literally disconnected. The useful architectural point is that the event-loop iteration does not need to understand Python coroutine control flow. It executes scheduled callbacks; Task/Future machinery converts coroutine suspension/resumption into those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networking map for a SelectorEventLoop. At the center are readiness callbacks: add_reader() and add_writer(). One layer out there are two paths. Transport/Protocol is created through create_connection()/create_server(). The sock_* coroutines are a parallel path that works directly with non-blocking sockets. Streams are built on the Transport/Protocol path: open_connection() uses create_connection(), and start_server() uses create_server(). Later I will qualify the center for Windows, where ProactorEventLoop uses IOCP completion operations instead.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720" cy="308160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720" cy="359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concrete. Protocol is the application-facing callback object; Transport abstracts the channel and exposes write/control methods. The event loop constructs them together.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Mention flow control only briefly if time allows. BufferedProtocol is appendix material, not part of the main path.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7120" cy="45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7080" cy="45720"/>
          </a:xfrm>
          <a:prstGeom prst="rect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5400" rIns="90000" bIns="5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561320" y="6492240"/>
            <a:ext cx="113832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PyCon NL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sldNum" idx="1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4D74A8-AA6D-43A3-9F71-AA4992596285}" type="slidenum"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&lt;number&gt;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812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8120" cy="397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MASTER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/>
          <p:cNvSpPr/>
          <p:nvPr/>
        </p:nvSpPr>
        <p:spPr>
          <a:xfrm>
            <a:off x="0" y="0"/>
            <a:ext cx="12187080" cy="45720"/>
          </a:xfrm>
          <a:prstGeom prst="rect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5400" rIns="90000" bIns="5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1"/>
          <p:cNvSpPr/>
          <p:nvPr/>
        </p:nvSpPr>
        <p:spPr>
          <a:xfrm>
            <a:off x="10561320" y="6492240"/>
            <a:ext cx="113832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PyCon NL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sldNum" idx="2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7D2751-CBCE-432E-8374-10D06C852EF5}" type="slidenum"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&lt;number&gt;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812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the title text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8120" cy="397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685800" y="1225440"/>
            <a:ext cx="10740600" cy="357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What's </a:t>
            </a:r>
            <a:r>
              <a:rPr lang="en-US" sz="34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inside </a:t>
            </a:r>
            <a:r>
              <a:rPr lang="en-US" sz="34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an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asyncio </a:t>
            </a:r>
            <a:r>
              <a:rPr lang="en-US" sz="34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event </a:t>
            </a:r>
            <a:r>
              <a:rPr lang="en-US" sz="34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loop?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sldNum" idx="6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TextBox 59"/>
          <p:cNvSpPr/>
          <p:nvPr/>
        </p:nvSpPr>
        <p:spPr>
          <a:xfrm>
            <a:off x="9547560" y="5943600"/>
            <a:ext cx="21074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Taras Kozlov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PyCon NL 2026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ection label"/>
          <p:cNvSpPr/>
          <p:nvPr/>
        </p:nvSpPr>
        <p:spPr>
          <a:xfrm>
            <a:off x="567000" y="384120"/>
            <a:ext cx="2373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 · ASYNCIO MODULE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itle"/>
          <p:cNvSpPr/>
          <p:nvPr/>
        </p:nvSpPr>
        <p:spPr>
          <a:xfrm>
            <a:off x="567000" y="658440"/>
            <a:ext cx="813456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asyncio: more than an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event loop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ubtitle"/>
          <p:cNvSpPr/>
          <p:nvPr/>
        </p:nvSpPr>
        <p:spPr>
          <a:xfrm>
            <a:off x="567000" y="1216080"/>
            <a:ext cx="107863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Hi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g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h-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le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ve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l 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or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di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n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at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io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n 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ar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u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n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d 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lo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p 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th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at 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w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n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 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th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 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p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er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at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in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g-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sy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st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m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-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fa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ci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n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g 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w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or</a:t>
            </a:r>
            <a:r>
              <a:rPr lang="en-US" sz="16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k.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4" name="Tasks spoke"/>
          <p:cNvCxnSpPr/>
          <p:nvPr/>
        </p:nvCxnSpPr>
        <p:spPr>
          <a:xfrm>
            <a:off x="3584160" y="2322360"/>
            <a:ext cx="305640" cy="17748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  <p:cxnSp>
        <p:nvCxnSpPr>
          <p:cNvPr id="25" name="Orchestration spoke"/>
          <p:cNvCxnSpPr/>
          <p:nvPr/>
        </p:nvCxnSpPr>
        <p:spPr>
          <a:xfrm>
            <a:off x="3584160" y="3712320"/>
            <a:ext cx="305640" cy="360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  <p:cxnSp>
        <p:nvCxnSpPr>
          <p:cNvPr id="26" name="Synchronization spoke"/>
          <p:cNvCxnSpPr/>
          <p:nvPr/>
        </p:nvCxnSpPr>
        <p:spPr>
          <a:xfrm flipV="1">
            <a:off x="3584160" y="4846320"/>
            <a:ext cx="305640" cy="25956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  <p:cxnSp>
        <p:nvCxnSpPr>
          <p:cNvPr id="27" name="Distribution spoke"/>
          <p:cNvCxnSpPr/>
          <p:nvPr/>
        </p:nvCxnSpPr>
        <p:spPr>
          <a:xfrm flipV="1">
            <a:off x="8302680" y="2322360"/>
            <a:ext cx="314280" cy="17748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  <p:cxnSp>
        <p:nvCxnSpPr>
          <p:cNvPr id="28" name="Lifecycle spoke"/>
          <p:cNvCxnSpPr/>
          <p:nvPr/>
        </p:nvCxnSpPr>
        <p:spPr>
          <a:xfrm>
            <a:off x="8302680" y="3712320"/>
            <a:ext cx="314280" cy="360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  <p:cxnSp>
        <p:nvCxnSpPr>
          <p:cNvPr id="29" name="Insight spoke"/>
          <p:cNvCxnSpPr/>
          <p:nvPr/>
        </p:nvCxnSpPr>
        <p:spPr>
          <a:xfrm>
            <a:off x="8302680" y="4846320"/>
            <a:ext cx="314280" cy="25956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  <p:sp>
        <p:nvSpPr>
          <p:cNvPr id="30" name="Event loop hub"/>
          <p:cNvSpPr/>
          <p:nvPr/>
        </p:nvSpPr>
        <p:spPr>
          <a:xfrm>
            <a:off x="3886200" y="1828800"/>
            <a:ext cx="4412880" cy="3197160"/>
          </a:xfrm>
          <a:prstGeom prst="roundRect">
            <a:avLst>
              <a:gd name="adj" fmla="val 11000"/>
            </a:avLst>
          </a:prstGeom>
          <a:solidFill>
            <a:srgbClr val="111A2E"/>
          </a:solidFill>
          <a:ln w="25400">
            <a:solidFill>
              <a:srgbClr val="FFD43B"/>
            </a:solidFill>
            <a:round/>
          </a:ln>
          <a:effectLst>
            <a:outerShdw algn="ctr" blurRad="76320" dir="5400000" dist="255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37160" tIns="164520" rIns="137160" bIns="2743200" anchor="t">
            <a:noAutofit/>
          </a:bodyPr>
          <a:p>
            <a:pPr algn="ctr">
              <a:lnSpc>
                <a:spcPct val="100000"/>
              </a:lnSpc>
              <a:spcAft>
                <a:spcPts val="349"/>
              </a:spcAft>
            </a:pPr>
            <a:r>
              <a:rPr lang="en-US" sz="12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EVENT LOOP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WAIT · SCHEDULE · DISPATCH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Callbacks"/>
          <p:cNvSpPr/>
          <p:nvPr/>
        </p:nvSpPr>
        <p:spPr>
          <a:xfrm>
            <a:off x="4553640" y="2779920"/>
            <a:ext cx="1139400" cy="36216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CALLBACKS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imers"/>
          <p:cNvSpPr/>
          <p:nvPr/>
        </p:nvSpPr>
        <p:spPr>
          <a:xfrm>
            <a:off x="5833800" y="2779920"/>
            <a:ext cx="929160" cy="36216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TIMERS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IO"/>
          <p:cNvSpPr/>
          <p:nvPr/>
        </p:nvSpPr>
        <p:spPr>
          <a:xfrm>
            <a:off x="6903720" y="2779920"/>
            <a:ext cx="709560" cy="36216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I/O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ransports"/>
          <p:cNvSpPr/>
          <p:nvPr/>
        </p:nvSpPr>
        <p:spPr>
          <a:xfrm>
            <a:off x="6136200" y="3886200"/>
            <a:ext cx="1596960" cy="36216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5DE0A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5DE0AE"/>
                </a:solidFill>
                <a:effectLst/>
                <a:uFillTx/>
                <a:latin typeface="Noto Sans"/>
              </a:rPr>
              <a:t>TRANSPORTS / STREAMS FACTORY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Executors"/>
          <p:cNvSpPr/>
          <p:nvPr/>
        </p:nvSpPr>
        <p:spPr>
          <a:xfrm>
            <a:off x="5422320" y="4435200"/>
            <a:ext cx="1239840" cy="36216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B28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B28CFF"/>
                </a:solidFill>
                <a:effectLst/>
                <a:uFillTx/>
                <a:latin typeface="Noto Sans"/>
              </a:rPr>
              <a:t>EXECUTORS BRIDGE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asks and futures"/>
          <p:cNvSpPr/>
          <p:nvPr/>
        </p:nvSpPr>
        <p:spPr>
          <a:xfrm>
            <a:off x="567000" y="1828800"/>
            <a:ext cx="3013920" cy="98388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TASKS &amp; FUTURES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81"/>
              </a:spcAft>
            </a:pPr>
            <a:r>
              <a:rPr lang="en-US" sz="1100" b="0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Task · Future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cancellation · context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Orchestration"/>
          <p:cNvSpPr/>
          <p:nvPr/>
        </p:nvSpPr>
        <p:spPr>
          <a:xfrm>
            <a:off x="567000" y="3218760"/>
            <a:ext cx="3013920" cy="98388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ORCHESTRATION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81"/>
              </a:spcAft>
            </a:pPr>
            <a:r>
              <a:rPr lang="en-US" sz="1100" b="0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TaskGroup · gather · wait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as_completed · timeout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ynchronization"/>
          <p:cNvSpPr/>
          <p:nvPr/>
        </p:nvSpPr>
        <p:spPr>
          <a:xfrm>
            <a:off x="567000" y="4608720"/>
            <a:ext cx="3013920" cy="98388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63D7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63D7E3"/>
                </a:solidFill>
                <a:effectLst/>
                <a:uFillTx/>
                <a:latin typeface="Noto Sans"/>
              </a:rPr>
              <a:t>SYNCHRONIZATION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81"/>
              </a:spcAft>
            </a:pPr>
            <a:r>
              <a:rPr lang="en-US" sz="1100" b="0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Lock · Event · Semaphore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Condition · Barrier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Work distribution"/>
          <p:cNvSpPr/>
          <p:nvPr/>
        </p:nvSpPr>
        <p:spPr>
          <a:xfrm>
            <a:off x="8613720" y="1828800"/>
            <a:ext cx="3013920" cy="98388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5DE0A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5DE0AE"/>
                </a:solidFill>
                <a:effectLst/>
                <a:uFillTx/>
                <a:latin typeface="Noto Sans"/>
              </a:rPr>
              <a:t>WORK DISTRIBUTION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81"/>
              </a:spcAft>
            </a:pPr>
            <a:r>
              <a:rPr lang="en-US" sz="1100" b="0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Queue · PriorityQueue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Program lifecycle"/>
          <p:cNvSpPr/>
          <p:nvPr/>
        </p:nvSpPr>
        <p:spPr>
          <a:xfrm>
            <a:off x="8613720" y="3218760"/>
            <a:ext cx="3013920" cy="98388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B28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B28CFF"/>
                </a:solidFill>
                <a:effectLst/>
                <a:uFillTx/>
                <a:latin typeface="Noto Sans"/>
              </a:rPr>
              <a:t>PROGRAM LIFECYCLE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81"/>
              </a:spcAft>
            </a:pPr>
            <a:r>
              <a:rPr lang="en-US" sz="1100" b="0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run · Runner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loop factory · shutdown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Observability"/>
          <p:cNvSpPr/>
          <p:nvPr/>
        </p:nvSpPr>
        <p:spPr>
          <a:xfrm>
            <a:off x="8613720" y="4608720"/>
            <a:ext cx="3013920" cy="98388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OBSERVABILITY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81"/>
              </a:spcAft>
            </a:pPr>
            <a:r>
              <a:rPr lang="en-US" sz="1100" b="0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current_task · all_tasks · debug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stacks · call graphs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Callbacks 1"/>
          <p:cNvSpPr/>
          <p:nvPr/>
        </p:nvSpPr>
        <p:spPr>
          <a:xfrm>
            <a:off x="5989320" y="3284280"/>
            <a:ext cx="1826280" cy="36216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FUTURE / TASK FACTORY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Callbacks 2"/>
          <p:cNvSpPr/>
          <p:nvPr/>
        </p:nvSpPr>
        <p:spPr>
          <a:xfrm>
            <a:off x="4769640" y="3284640"/>
            <a:ext cx="1139400" cy="36216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SIGNALS HANDLING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ransports 1"/>
          <p:cNvSpPr/>
          <p:nvPr/>
        </p:nvSpPr>
        <p:spPr>
          <a:xfrm>
            <a:off x="4552560" y="3886560"/>
            <a:ext cx="1423800" cy="362160"/>
          </a:xfrm>
          <a:prstGeom prst="roundRect">
            <a:avLst>
              <a:gd name="adj" fmla="val 45000"/>
            </a:avLst>
          </a:prstGeom>
          <a:solidFill>
            <a:srgbClr val="0B1020"/>
          </a:solidFill>
          <a:ln w="10160">
            <a:solidFill>
              <a:srgbClr val="5DE0A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5DE0AE"/>
                </a:solidFill>
                <a:effectLst/>
                <a:uFillTx/>
                <a:latin typeface="Noto Sans"/>
              </a:rPr>
              <a:t>ASYNC SOCKET OPS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Orchestration 1"/>
          <p:cNvSpPr/>
          <p:nvPr/>
        </p:nvSpPr>
        <p:spPr>
          <a:xfrm>
            <a:off x="3840840" y="5413680"/>
            <a:ext cx="1870920" cy="75528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TRANSPORTS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Program lifecycle 1"/>
          <p:cNvSpPr/>
          <p:nvPr/>
        </p:nvSpPr>
        <p:spPr>
          <a:xfrm>
            <a:off x="6126840" y="5414400"/>
            <a:ext cx="1870920" cy="755280"/>
          </a:xfrm>
          <a:prstGeom prst="roundRect">
            <a:avLst>
              <a:gd name="adj" fmla="val 14000"/>
            </a:avLst>
          </a:prstGeom>
          <a:solidFill>
            <a:srgbClr val="111A2E"/>
          </a:solidFill>
          <a:ln w="15240">
            <a:solidFill>
              <a:srgbClr val="B28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1240" tIns="73080" rIns="146160" bIns="54720" anchor="ctr">
            <a:noAutofit/>
          </a:bodyPr>
          <a:p>
            <a:pPr>
              <a:lnSpc>
                <a:spcPct val="100000"/>
              </a:lnSpc>
              <a:spcAft>
                <a:spcPts val="550"/>
              </a:spcAft>
            </a:pPr>
            <a:r>
              <a:rPr lang="en-US" sz="1100" b="1" u="none" strike="noStrike">
                <a:solidFill>
                  <a:srgbClr val="B28CFF"/>
                </a:solidFill>
                <a:effectLst/>
                <a:uFillTx/>
                <a:latin typeface="Noto Sans"/>
              </a:rPr>
              <a:t>STREAMS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Synchronization spoke 1"/>
          <p:cNvCxnSpPr/>
          <p:nvPr/>
        </p:nvCxnSpPr>
        <p:spPr>
          <a:xfrm flipH="1" flipV="1">
            <a:off x="4664520" y="5028480"/>
            <a:ext cx="18000" cy="39924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  <p:cxnSp>
        <p:nvCxnSpPr>
          <p:cNvPr id="48" name="Synchronization spoke 2"/>
          <p:cNvCxnSpPr/>
          <p:nvPr/>
        </p:nvCxnSpPr>
        <p:spPr>
          <a:xfrm flipH="1" flipV="1">
            <a:off x="6788520" y="5028840"/>
            <a:ext cx="18000" cy="399240"/>
          </a:xfrm>
          <a:prstGeom prst="straightConnector1">
            <a:avLst/>
          </a:prstGeom>
          <a:ln w="12700">
            <a:solidFill>
              <a:srgbClr val="3A5A78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ection label"/>
          <p:cNvSpPr/>
          <p:nvPr/>
        </p:nvSpPr>
        <p:spPr>
          <a:xfrm>
            <a:off x="567000" y="384120"/>
            <a:ext cx="21913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2 · ASYNCIO LOOP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itle"/>
          <p:cNvSpPr/>
          <p:nvPr/>
        </p:nvSpPr>
        <p:spPr>
          <a:xfrm>
            <a:off x="567000" y="658440"/>
            <a:ext cx="767772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asyncio event loop at a glance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ubtitle"/>
          <p:cNvSpPr/>
          <p:nvPr/>
        </p:nvSpPr>
        <p:spPr>
          <a:xfrm>
            <a:off x="612720" y="1225440"/>
            <a:ext cx="87750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large API — but only a small part of it is fundamental.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Loop API surface"/>
          <p:cNvSpPr/>
          <p:nvPr/>
        </p:nvSpPr>
        <p:spPr>
          <a:xfrm>
            <a:off x="658440" y="1856160"/>
            <a:ext cx="6781680" cy="3471480"/>
          </a:xfrm>
          <a:prstGeom prst="roundRect">
            <a:avLst>
              <a:gd name="adj" fmla="val 11000"/>
            </a:avLst>
          </a:prstGeom>
          <a:solidFill>
            <a:srgbClr val="111A2E"/>
          </a:solidFill>
          <a:ln w="1524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5960" tIns="109800" rIns="255960" bIns="9144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Loop API surface label"/>
          <p:cNvSpPr/>
          <p:nvPr/>
        </p:nvSpPr>
        <p:spPr>
          <a:xfrm>
            <a:off x="1024200" y="2112120"/>
            <a:ext cx="2099880" cy="2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LOOP API SURFACE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ocket operations"/>
          <p:cNvSpPr/>
          <p:nvPr/>
        </p:nvSpPr>
        <p:spPr>
          <a:xfrm>
            <a:off x="1024200" y="2441520"/>
            <a:ext cx="1322640" cy="38088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63D7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63D7E3"/>
                </a:solidFill>
                <a:effectLst/>
                <a:uFillTx/>
                <a:latin typeface="Noto Sans"/>
              </a:rPr>
              <a:t>SOCKET OPS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DNS"/>
          <p:cNvSpPr/>
          <p:nvPr/>
        </p:nvSpPr>
        <p:spPr>
          <a:xfrm>
            <a:off x="2487240" y="2441520"/>
            <a:ext cx="746640" cy="38088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63D7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63D7E3"/>
                </a:solidFill>
                <a:effectLst/>
                <a:uFillTx/>
                <a:latin typeface="Noto Sans"/>
              </a:rPr>
              <a:t>DNS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Signals"/>
          <p:cNvSpPr/>
          <p:nvPr/>
        </p:nvSpPr>
        <p:spPr>
          <a:xfrm>
            <a:off x="3374280" y="2441520"/>
            <a:ext cx="956880" cy="38088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63D7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63D7E3"/>
                </a:solidFill>
                <a:effectLst/>
                <a:uFillTx/>
                <a:latin typeface="Noto Sans"/>
              </a:rPr>
              <a:t>SIGNALS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ubprocesses"/>
          <p:cNvSpPr/>
          <p:nvPr/>
        </p:nvSpPr>
        <p:spPr>
          <a:xfrm>
            <a:off x="4471560" y="2441520"/>
            <a:ext cx="1386720" cy="38088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B28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B28CFF"/>
                </a:solidFill>
                <a:effectLst/>
                <a:uFillTx/>
                <a:latin typeface="Noto Sans"/>
              </a:rPr>
              <a:t>SUBPROCESSES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Executors"/>
          <p:cNvSpPr/>
          <p:nvPr/>
        </p:nvSpPr>
        <p:spPr>
          <a:xfrm>
            <a:off x="5998320" y="2441520"/>
            <a:ext cx="1094040" cy="38088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B28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B28CFF"/>
                </a:solidFill>
                <a:effectLst/>
                <a:uFillTx/>
                <a:latin typeface="Noto Sans"/>
              </a:rPr>
              <a:t>EXECUTORS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ransports"/>
          <p:cNvSpPr/>
          <p:nvPr/>
        </p:nvSpPr>
        <p:spPr>
          <a:xfrm>
            <a:off x="1417320" y="2999160"/>
            <a:ext cx="1185480" cy="38088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5DE0A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5DE0AE"/>
                </a:solidFill>
                <a:effectLst/>
                <a:uFillTx/>
                <a:latin typeface="Noto Sans"/>
              </a:rPr>
              <a:t>TRANSPORTS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treams"/>
          <p:cNvSpPr/>
          <p:nvPr/>
        </p:nvSpPr>
        <p:spPr>
          <a:xfrm>
            <a:off x="2743200" y="2999160"/>
            <a:ext cx="984240" cy="38088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5DE0A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5DE0AE"/>
                </a:solidFill>
                <a:effectLst/>
                <a:uFillTx/>
                <a:latin typeface="Noto Sans"/>
              </a:rPr>
              <a:t>STREAMS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Runtime"/>
          <p:cNvSpPr/>
          <p:nvPr/>
        </p:nvSpPr>
        <p:spPr>
          <a:xfrm>
            <a:off x="3867840" y="2999160"/>
            <a:ext cx="965880" cy="38088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RUNTIME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Diagnostics"/>
          <p:cNvSpPr/>
          <p:nvPr/>
        </p:nvSpPr>
        <p:spPr>
          <a:xfrm>
            <a:off x="4974480" y="2999160"/>
            <a:ext cx="1258560" cy="38088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DIAGNOSTICS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Built on"/>
          <p:cNvSpPr/>
          <p:nvPr/>
        </p:nvSpPr>
        <p:spPr>
          <a:xfrm>
            <a:off x="2743200" y="3502080"/>
            <a:ext cx="2602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7F8AA3"/>
                </a:solidFill>
                <a:effectLst/>
                <a:uFillTx/>
                <a:latin typeface="Noto Sans"/>
              </a:rPr>
              <a:t>BUILT 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Fundamental core"/>
          <p:cNvSpPr/>
          <p:nvPr/>
        </p:nvSpPr>
        <p:spPr>
          <a:xfrm>
            <a:off x="1261800" y="3822120"/>
            <a:ext cx="5574600" cy="113976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254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4520" tIns="109800" rIns="164520" bIns="91440" anchor="ctr">
            <a:noAutofit/>
          </a:bodyPr>
          <a:p>
            <a:pPr algn="ctr">
              <a:lnSpc>
                <a:spcPct val="100000"/>
              </a:lnSpc>
              <a:spcAft>
                <a:spcPts val="451"/>
              </a:spcAft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FUNDAMENTAL 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CORE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CALLBACK</a:t>
            </a: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S  ·  </a:t>
            </a: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TIMERS  ·  </a:t>
            </a: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I/O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one iteration at </a:t>
            </a: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a time:  </a:t>
            </a: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run_once()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API versus core"/>
          <p:cNvSpPr/>
          <p:nvPr/>
        </p:nvSpPr>
        <p:spPr>
          <a:xfrm>
            <a:off x="7717680" y="1856160"/>
            <a:ext cx="3745800" cy="3471480"/>
          </a:xfrm>
          <a:prstGeom prst="roundRect">
            <a:avLst>
              <a:gd name="adj" fmla="val 11000"/>
            </a:avLst>
          </a:prstGeom>
          <a:solidFill>
            <a:srgbClr val="111A2E"/>
          </a:solidFill>
          <a:ln w="1524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9040" tIns="109800" rIns="329040" bIns="9144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US" sz="39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&gt;50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public methods 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AbstractEventLoop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9"/>
              </a:spcAft>
            </a:pPr>
            <a:r>
              <a:rPr lang="en-US" sz="3000" b="1" u="none" strike="noStrike">
                <a:solidFill>
                  <a:srgbClr val="63D7E3"/>
                </a:solidFill>
                <a:effectLst/>
                <a:uFillTx/>
                <a:latin typeface="Noto Sans"/>
              </a:rPr>
              <a:t>3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fundamental mechanisms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callbacks · timers · I/O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6" name="Comparison divider"/>
          <p:cNvCxnSpPr/>
          <p:nvPr/>
        </p:nvCxnSpPr>
        <p:spPr>
          <a:xfrm>
            <a:off x="8128800" y="3812760"/>
            <a:ext cx="2929320" cy="3240"/>
          </a:xfrm>
          <a:prstGeom prst="straightConnector1">
            <a:avLst/>
          </a:prstGeom>
          <a:ln w="12700">
            <a:solidFill>
              <a:srgbClr val="53627C"/>
            </a:solidFill>
            <a:round/>
          </a:ln>
        </p:spPr>
      </p:cxnSp>
      <p:sp>
        <p:nvSpPr>
          <p:cNvPr id="67" name="Constraints label"/>
          <p:cNvSpPr/>
          <p:nvPr/>
        </p:nvSpPr>
        <p:spPr>
          <a:xfrm>
            <a:off x="685800" y="5724000"/>
            <a:ext cx="19634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IMPORTANT CONSTRAINTS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One thread"/>
          <p:cNvSpPr/>
          <p:nvPr/>
        </p:nvSpPr>
        <p:spPr>
          <a:xfrm>
            <a:off x="2788920" y="5687640"/>
            <a:ext cx="2054160" cy="4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  <a:spcAft>
                <a:spcPts val="119"/>
              </a:spcAft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ONE THREAD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cooperative scheduling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hread safety"/>
          <p:cNvSpPr/>
          <p:nvPr/>
        </p:nvSpPr>
        <p:spPr>
          <a:xfrm>
            <a:off x="5074920" y="5687640"/>
            <a:ext cx="3151440" cy="4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  <a:spcAft>
                <a:spcPts val="119"/>
              </a:spcAft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NOT GENERALLY THREAD-SAFE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cross-thread → call_soon_threadsafe()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No preemption"/>
          <p:cNvSpPr/>
          <p:nvPr/>
        </p:nvSpPr>
        <p:spPr>
          <a:xfrm>
            <a:off x="8412480" y="5687640"/>
            <a:ext cx="3060000" cy="4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  <a:spcAft>
                <a:spcPts val="119"/>
              </a:spcAft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NO PREEMPTION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blocking code blocks the loop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1"/>
          <p:cNvSpPr/>
          <p:nvPr/>
        </p:nvSpPr>
        <p:spPr>
          <a:xfrm>
            <a:off x="567000" y="347400"/>
            <a:ext cx="493308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2 · THE CORE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asyncio event loop: the core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"/>
          <p:cNvSpPr/>
          <p:nvPr/>
        </p:nvSpPr>
        <p:spPr>
          <a:xfrm>
            <a:off x="621720" y="1234440"/>
            <a:ext cx="10693800" cy="40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At its lowest useful level, the loop manages callbacks, timers, and I/O readiness.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4"/>
          <p:cNvSpPr/>
          <p:nvPr/>
        </p:nvSpPr>
        <p:spPr>
          <a:xfrm>
            <a:off x="685800" y="1874520"/>
            <a:ext cx="2281680" cy="138528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75" name="TextBox 5"/>
          <p:cNvSpPr/>
          <p:nvPr/>
        </p:nvSpPr>
        <p:spPr>
          <a:xfrm>
            <a:off x="914400" y="2057400"/>
            <a:ext cx="218088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call_soon(callback,*)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6"/>
          <p:cNvSpPr/>
          <p:nvPr/>
        </p:nvSpPr>
        <p:spPr>
          <a:xfrm>
            <a:off x="914400" y="2624400"/>
            <a:ext cx="182448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READY QUEUE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7"/>
          <p:cNvSpPr/>
          <p:nvPr/>
        </p:nvSpPr>
        <p:spPr>
          <a:xfrm>
            <a:off x="914400" y="2898720"/>
            <a:ext cx="218088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FIFO queue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Rounded Rectangle 8"/>
          <p:cNvSpPr/>
          <p:nvPr/>
        </p:nvSpPr>
        <p:spPr>
          <a:xfrm>
            <a:off x="3200400" y="1874520"/>
            <a:ext cx="2656080" cy="138528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79" name="TextBox 9"/>
          <p:cNvSpPr/>
          <p:nvPr/>
        </p:nvSpPr>
        <p:spPr>
          <a:xfrm>
            <a:off x="3321000" y="2039040"/>
            <a:ext cx="253548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call_later(delay,callback,*)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3321000" y="2624400"/>
            <a:ext cx="218088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TIMER HEAP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1"/>
          <p:cNvSpPr/>
          <p:nvPr/>
        </p:nvSpPr>
        <p:spPr>
          <a:xfrm>
            <a:off x="3321000" y="2898720"/>
            <a:ext cx="218088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ordered by deadline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12"/>
          <p:cNvSpPr/>
          <p:nvPr/>
        </p:nvSpPr>
        <p:spPr>
          <a:xfrm>
            <a:off x="6007680" y="1874520"/>
            <a:ext cx="2903400" cy="138528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83" name="TextBox 13"/>
          <p:cNvSpPr/>
          <p:nvPr/>
        </p:nvSpPr>
        <p:spPr>
          <a:xfrm>
            <a:off x="6172200" y="2039040"/>
            <a:ext cx="273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add_reader(fd, callback, 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add_writer(fd, callback, 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4"/>
          <p:cNvSpPr/>
          <p:nvPr/>
        </p:nvSpPr>
        <p:spPr>
          <a:xfrm>
            <a:off x="6172200" y="2590200"/>
            <a:ext cx="218088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</a:rPr>
              <a:t>I/O REGISTRATION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5"/>
          <p:cNvSpPr/>
          <p:nvPr/>
        </p:nvSpPr>
        <p:spPr>
          <a:xfrm>
            <a:off x="6172200" y="2898720"/>
            <a:ext cx="218088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wait for readiness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Rounded Rectangle 16"/>
          <p:cNvSpPr/>
          <p:nvPr/>
        </p:nvSpPr>
        <p:spPr>
          <a:xfrm>
            <a:off x="9144000" y="1874520"/>
            <a:ext cx="2034360" cy="138528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87" name="TextBox 17"/>
          <p:cNvSpPr/>
          <p:nvPr/>
        </p:nvSpPr>
        <p:spPr>
          <a:xfrm>
            <a:off x="9372600" y="2039040"/>
            <a:ext cx="16412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run_forever()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stop()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8"/>
          <p:cNvSpPr/>
          <p:nvPr/>
        </p:nvSpPr>
        <p:spPr>
          <a:xfrm>
            <a:off x="9327240" y="2624400"/>
            <a:ext cx="164124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B89CFF"/>
                </a:solidFill>
                <a:effectLst/>
                <a:uFillTx/>
                <a:latin typeface="Noto Sans"/>
              </a:rPr>
              <a:t>LOOP CONTROL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9"/>
          <p:cNvSpPr/>
          <p:nvPr/>
        </p:nvSpPr>
        <p:spPr>
          <a:xfrm>
            <a:off x="8832960" y="2898720"/>
            <a:ext cx="218088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repeat run_once()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0"/>
          <p:cNvSpPr/>
          <p:nvPr/>
        </p:nvSpPr>
        <p:spPr>
          <a:xfrm>
            <a:off x="685800" y="3611880"/>
            <a:ext cx="105109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Everything converges on one simple operation: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21"/>
          <p:cNvSpPr/>
          <p:nvPr/>
        </p:nvSpPr>
        <p:spPr>
          <a:xfrm>
            <a:off x="1938600" y="4005000"/>
            <a:ext cx="8298000" cy="1184040"/>
          </a:xfrm>
          <a:prstGeom prst="roundRect">
            <a:avLst>
              <a:gd name="adj" fmla="val 16667"/>
            </a:avLst>
          </a:prstGeom>
          <a:solidFill>
            <a:srgbClr val="0A0F1D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92" name="TextBox 22"/>
          <p:cNvSpPr/>
          <p:nvPr/>
        </p:nvSpPr>
        <p:spPr>
          <a:xfrm>
            <a:off x="2240280" y="4233600"/>
            <a:ext cx="7694640" cy="3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run_once()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23"/>
          <p:cNvSpPr/>
          <p:nvPr/>
        </p:nvSpPr>
        <p:spPr>
          <a:xfrm>
            <a:off x="2240280" y="4617720"/>
            <a:ext cx="769464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collect work that became ready  →  run the callbacks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24"/>
          <p:cNvSpPr/>
          <p:nvPr/>
        </p:nvSpPr>
        <p:spPr>
          <a:xfrm>
            <a:off x="2057400" y="5596200"/>
            <a:ext cx="808776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Let's have a closer look at these pieces.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ldNum" idx="7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4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TextBox 25"/>
          <p:cNvSpPr/>
          <p:nvPr/>
        </p:nvSpPr>
        <p:spPr>
          <a:xfrm>
            <a:off x="567000" y="347400"/>
            <a:ext cx="493308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3 · CALLBACKS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26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The smallest possible event loop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7"/>
          <p:cNvSpPr/>
          <p:nvPr/>
        </p:nvSpPr>
        <p:spPr>
          <a:xfrm>
            <a:off x="621720" y="1234440"/>
            <a:ext cx="1069380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It begins with only two ideas: enqueue a callback, then keep executing callbacks from the queue.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Rounded Rectangle 30"/>
          <p:cNvSpPr/>
          <p:nvPr/>
        </p:nvSpPr>
        <p:spPr>
          <a:xfrm>
            <a:off x="7113960" y="1847160"/>
            <a:ext cx="4155840" cy="105588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00" name="TextBox 31"/>
          <p:cNvSpPr/>
          <p:nvPr/>
        </p:nvSpPr>
        <p:spPr>
          <a:xfrm>
            <a:off x="7360920" y="2011680"/>
            <a:ext cx="159552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READY QUEUE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Rounded Rectangle 32"/>
          <p:cNvSpPr/>
          <p:nvPr/>
        </p:nvSpPr>
        <p:spPr>
          <a:xfrm>
            <a:off x="7360920" y="2359080"/>
            <a:ext cx="909720" cy="34272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02" name="TextBox 33"/>
          <p:cNvSpPr/>
          <p:nvPr/>
        </p:nvSpPr>
        <p:spPr>
          <a:xfrm>
            <a:off x="7360920" y="2432160"/>
            <a:ext cx="9097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cb₁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34"/>
          <p:cNvSpPr/>
          <p:nvPr/>
        </p:nvSpPr>
        <p:spPr>
          <a:xfrm>
            <a:off x="8503920" y="2359080"/>
            <a:ext cx="909720" cy="34272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04" name="TextBox 35"/>
          <p:cNvSpPr/>
          <p:nvPr/>
        </p:nvSpPr>
        <p:spPr>
          <a:xfrm>
            <a:off x="8503920" y="2432160"/>
            <a:ext cx="9097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cb₂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36"/>
          <p:cNvSpPr/>
          <p:nvPr/>
        </p:nvSpPr>
        <p:spPr>
          <a:xfrm>
            <a:off x="9646920" y="2359080"/>
            <a:ext cx="909720" cy="34272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06" name="TextBox 37"/>
          <p:cNvSpPr/>
          <p:nvPr/>
        </p:nvSpPr>
        <p:spPr>
          <a:xfrm>
            <a:off x="9646920" y="2432160"/>
            <a:ext cx="9097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cb₃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7" name=""/>
          <p:cNvPicPr/>
          <p:nvPr/>
        </p:nvPicPr>
        <p:blipFill>
          <a:blip r:embed="rId1"/>
          <a:stretch/>
        </p:blipFill>
        <p:spPr>
          <a:xfrm>
            <a:off x="590760" y="1705320"/>
            <a:ext cx="6034320" cy="4721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Num" idx="8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TextBox 4"/>
          <p:cNvSpPr/>
          <p:nvPr/>
        </p:nvSpPr>
        <p:spPr>
          <a:xfrm>
            <a:off x="567000" y="347400"/>
            <a:ext cx="493308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4 · TIMERS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8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We need timers too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42"/>
          <p:cNvSpPr/>
          <p:nvPr/>
        </p:nvSpPr>
        <p:spPr>
          <a:xfrm>
            <a:off x="621720" y="1234440"/>
            <a:ext cx="1069380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callback that must be run after some time. A min-heap keeps the earliest callback on top.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44"/>
          <p:cNvSpPr/>
          <p:nvPr/>
        </p:nvSpPr>
        <p:spPr>
          <a:xfrm>
            <a:off x="7772400" y="1856160"/>
            <a:ext cx="333288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MIN-HEAP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Rounded Rectangle 1"/>
          <p:cNvSpPr/>
          <p:nvPr/>
        </p:nvSpPr>
        <p:spPr>
          <a:xfrm>
            <a:off x="9070920" y="2240280"/>
            <a:ext cx="708480" cy="49824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 w="12700"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14" name="TextBox 53"/>
          <p:cNvSpPr/>
          <p:nvPr/>
        </p:nvSpPr>
        <p:spPr>
          <a:xfrm>
            <a:off x="9070920" y="2368440"/>
            <a:ext cx="70848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1.2s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Rounded Rectangle 2"/>
          <p:cNvSpPr/>
          <p:nvPr/>
        </p:nvSpPr>
        <p:spPr>
          <a:xfrm>
            <a:off x="8092440" y="3154680"/>
            <a:ext cx="708480" cy="49824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16" name="TextBox 55"/>
          <p:cNvSpPr/>
          <p:nvPr/>
        </p:nvSpPr>
        <p:spPr>
          <a:xfrm>
            <a:off x="8092440" y="3282840"/>
            <a:ext cx="70848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3.7s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3"/>
          <p:cNvSpPr/>
          <p:nvPr/>
        </p:nvSpPr>
        <p:spPr>
          <a:xfrm>
            <a:off x="10040040" y="3154680"/>
            <a:ext cx="708480" cy="49824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18" name="TextBox 57"/>
          <p:cNvSpPr/>
          <p:nvPr/>
        </p:nvSpPr>
        <p:spPr>
          <a:xfrm>
            <a:off x="10040040" y="3282840"/>
            <a:ext cx="70848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2.4s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Rounded Rectangle 5"/>
          <p:cNvSpPr/>
          <p:nvPr/>
        </p:nvSpPr>
        <p:spPr>
          <a:xfrm>
            <a:off x="7708320" y="4069080"/>
            <a:ext cx="708480" cy="49824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20" name="TextBox 60"/>
          <p:cNvSpPr/>
          <p:nvPr/>
        </p:nvSpPr>
        <p:spPr>
          <a:xfrm>
            <a:off x="7708320" y="4197240"/>
            <a:ext cx="70848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8.0s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Rounded Rectangle 6"/>
          <p:cNvSpPr/>
          <p:nvPr/>
        </p:nvSpPr>
        <p:spPr>
          <a:xfrm>
            <a:off x="8568000" y="4069080"/>
            <a:ext cx="708480" cy="49824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22" name="TextBox 61"/>
          <p:cNvSpPr/>
          <p:nvPr/>
        </p:nvSpPr>
        <p:spPr>
          <a:xfrm>
            <a:off x="8568000" y="4197240"/>
            <a:ext cx="70848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5.1s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23" name="Connector 1"/>
          <p:cNvCxnSpPr/>
          <p:nvPr/>
        </p:nvCxnSpPr>
        <p:spPr>
          <a:xfrm flipH="1">
            <a:off x="8448840" y="2743200"/>
            <a:ext cx="983160" cy="41616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124" name="Connector 2"/>
          <p:cNvCxnSpPr/>
          <p:nvPr/>
        </p:nvCxnSpPr>
        <p:spPr>
          <a:xfrm>
            <a:off x="9427320" y="2743200"/>
            <a:ext cx="973800" cy="41616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125" name="Connector 3"/>
          <p:cNvCxnSpPr/>
          <p:nvPr/>
        </p:nvCxnSpPr>
        <p:spPr>
          <a:xfrm flipH="1">
            <a:off x="8064720" y="3657600"/>
            <a:ext cx="388800" cy="41616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126" name="Connector 4"/>
          <p:cNvCxnSpPr/>
          <p:nvPr/>
        </p:nvCxnSpPr>
        <p:spPr>
          <a:xfrm>
            <a:off x="8448840" y="3657600"/>
            <a:ext cx="480240" cy="41616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127" name="Connector 5"/>
          <p:cNvCxnSpPr/>
          <p:nvPr/>
        </p:nvCxnSpPr>
        <p:spPr>
          <a:xfrm>
            <a:off x="9427320" y="4736520"/>
            <a:ext cx="4680" cy="370440"/>
          </a:xfrm>
          <a:prstGeom prst="straightConnector1">
            <a:avLst/>
          </a:prstGeom>
          <a:ln w="20320">
            <a:solidFill>
              <a:srgbClr val="8292A2"/>
            </a:solidFill>
            <a:round/>
          </a:ln>
        </p:spPr>
      </p:cxnSp>
      <p:pic>
        <p:nvPicPr>
          <p:cNvPr id="128" name=""/>
          <p:cNvPicPr/>
          <p:nvPr/>
        </p:nvPicPr>
        <p:blipFill>
          <a:blip r:embed="rId1"/>
          <a:stretch/>
        </p:blipFill>
        <p:spPr>
          <a:xfrm>
            <a:off x="562320" y="1972080"/>
            <a:ext cx="6694920" cy="3052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Num" idx="9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TextBox 12"/>
          <p:cNvSpPr/>
          <p:nvPr/>
        </p:nvSpPr>
        <p:spPr>
          <a:xfrm>
            <a:off x="567000" y="347400"/>
            <a:ext cx="49330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4 · TIMERS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6"/>
          <p:cNvSpPr/>
          <p:nvPr/>
        </p:nvSpPr>
        <p:spPr>
          <a:xfrm>
            <a:off x="567000" y="640080"/>
            <a:ext cx="10876680" cy="4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We need timers too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21"/>
          <p:cNvSpPr/>
          <p:nvPr/>
        </p:nvSpPr>
        <p:spPr>
          <a:xfrm>
            <a:off x="621720" y="1234440"/>
            <a:ext cx="1069380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callback that must be run after some time. A min-heap keeps the earliest deadline on top.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45"/>
          <p:cNvSpPr/>
          <p:nvPr/>
        </p:nvSpPr>
        <p:spPr>
          <a:xfrm>
            <a:off x="7772400" y="1856160"/>
            <a:ext cx="33328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MIN-HEAP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7"/>
          <p:cNvSpPr/>
          <p:nvPr/>
        </p:nvSpPr>
        <p:spPr>
          <a:xfrm>
            <a:off x="9070920" y="2240280"/>
            <a:ext cx="708480" cy="49824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 w="12700"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35" name="TextBox 50"/>
          <p:cNvSpPr/>
          <p:nvPr/>
        </p:nvSpPr>
        <p:spPr>
          <a:xfrm>
            <a:off x="9070920" y="2368440"/>
            <a:ext cx="70848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1.2s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Rounded Rectangle 9"/>
          <p:cNvSpPr/>
          <p:nvPr/>
        </p:nvSpPr>
        <p:spPr>
          <a:xfrm>
            <a:off x="8092440" y="3154680"/>
            <a:ext cx="708480" cy="49824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37" name="TextBox 51"/>
          <p:cNvSpPr/>
          <p:nvPr/>
        </p:nvSpPr>
        <p:spPr>
          <a:xfrm>
            <a:off x="8092440" y="3282840"/>
            <a:ext cx="70848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3.7s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Rounded Rectangle 10"/>
          <p:cNvSpPr/>
          <p:nvPr/>
        </p:nvSpPr>
        <p:spPr>
          <a:xfrm>
            <a:off x="10040040" y="3154680"/>
            <a:ext cx="708480" cy="49824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39" name="TextBox 52"/>
          <p:cNvSpPr/>
          <p:nvPr/>
        </p:nvSpPr>
        <p:spPr>
          <a:xfrm>
            <a:off x="10040040" y="3282840"/>
            <a:ext cx="70848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2.4s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11"/>
          <p:cNvSpPr/>
          <p:nvPr/>
        </p:nvSpPr>
        <p:spPr>
          <a:xfrm>
            <a:off x="7708320" y="4069080"/>
            <a:ext cx="708480" cy="49824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41" name="TextBox 54"/>
          <p:cNvSpPr/>
          <p:nvPr/>
        </p:nvSpPr>
        <p:spPr>
          <a:xfrm>
            <a:off x="7708320" y="4197240"/>
            <a:ext cx="70848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8.0s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Rounded Rectangle 13"/>
          <p:cNvSpPr/>
          <p:nvPr/>
        </p:nvSpPr>
        <p:spPr>
          <a:xfrm>
            <a:off x="8568000" y="4069080"/>
            <a:ext cx="708480" cy="49824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43" name="TextBox 56"/>
          <p:cNvSpPr/>
          <p:nvPr/>
        </p:nvSpPr>
        <p:spPr>
          <a:xfrm>
            <a:off x="8568000" y="4197240"/>
            <a:ext cx="70848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5.1s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44" name="Connector 6"/>
          <p:cNvCxnSpPr/>
          <p:nvPr/>
        </p:nvCxnSpPr>
        <p:spPr>
          <a:xfrm flipH="1">
            <a:off x="8448840" y="2743200"/>
            <a:ext cx="983160" cy="41616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145" name="Connector 7"/>
          <p:cNvCxnSpPr/>
          <p:nvPr/>
        </p:nvCxnSpPr>
        <p:spPr>
          <a:xfrm>
            <a:off x="9427320" y="2743200"/>
            <a:ext cx="973800" cy="41616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146" name="Connector 8"/>
          <p:cNvCxnSpPr/>
          <p:nvPr/>
        </p:nvCxnSpPr>
        <p:spPr>
          <a:xfrm flipH="1">
            <a:off x="8064720" y="3657600"/>
            <a:ext cx="388800" cy="41616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147" name="Connector 9"/>
          <p:cNvCxnSpPr/>
          <p:nvPr/>
        </p:nvCxnSpPr>
        <p:spPr>
          <a:xfrm>
            <a:off x="8448840" y="3657600"/>
            <a:ext cx="480240" cy="41616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148" name="Connector 10"/>
          <p:cNvCxnSpPr/>
          <p:nvPr/>
        </p:nvCxnSpPr>
        <p:spPr>
          <a:xfrm>
            <a:off x="9427320" y="4736520"/>
            <a:ext cx="4680" cy="370440"/>
          </a:xfrm>
          <a:prstGeom prst="straightConnector1">
            <a:avLst/>
          </a:prstGeom>
          <a:ln w="20320">
            <a:solidFill>
              <a:srgbClr val="8292A2"/>
            </a:solidFill>
            <a:round/>
          </a:ln>
        </p:spPr>
      </p:cxnSp>
      <p:sp>
        <p:nvSpPr>
          <p:cNvPr id="149" name="Down Arrow 2"/>
          <p:cNvSpPr/>
          <p:nvPr/>
        </p:nvSpPr>
        <p:spPr>
          <a:xfrm>
            <a:off x="9198720" y="4736880"/>
            <a:ext cx="452520" cy="4068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D43B"/>
          </a:solidFill>
          <a:ln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50" name="TextBox 58"/>
          <p:cNvSpPr/>
          <p:nvPr/>
        </p:nvSpPr>
        <p:spPr>
          <a:xfrm>
            <a:off x="7772400" y="5486400"/>
            <a:ext cx="3241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expired timers → ready queue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1" name=""/>
          <p:cNvPicPr/>
          <p:nvPr/>
        </p:nvPicPr>
        <p:blipFill>
          <a:blip r:embed="rId1"/>
          <a:stretch/>
        </p:blipFill>
        <p:spPr>
          <a:xfrm>
            <a:off x="533880" y="1905480"/>
            <a:ext cx="6548400" cy="4688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567000" y="347400"/>
            <a:ext cx="43844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5 · I/O CHANGES THE PROBLEM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l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p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o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n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l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y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k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n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o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b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o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u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i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m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"/>
          <p:cNvSpPr/>
          <p:nvPr/>
        </p:nvSpPr>
        <p:spPr>
          <a:xfrm>
            <a:off x="621720" y="1225440"/>
            <a:ext cx="1087668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We want to sleep until the next timer… unless a socket becomes ready first.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3"/>
          <p:cNvSpPr/>
          <p:nvPr/>
        </p:nvSpPr>
        <p:spPr>
          <a:xfrm>
            <a:off x="1005840" y="3108960"/>
            <a:ext cx="10012680" cy="360"/>
          </a:xfrm>
          <a:prstGeom prst="line">
            <a:avLst/>
          </a:prstGeom>
          <a:ln w="38100">
            <a:solidFill>
              <a:srgbClr val="2A35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"/>
          <p:cNvSpPr/>
          <p:nvPr/>
        </p:nvSpPr>
        <p:spPr>
          <a:xfrm>
            <a:off x="1847160" y="2917080"/>
            <a:ext cx="379440" cy="379440"/>
          </a:xfrm>
          <a:prstGeom prst="ellipse">
            <a:avLst/>
          </a:prstGeom>
          <a:solidFill>
            <a:srgbClr val="5CE1E6"/>
          </a:solidFill>
          <a:ln w="12700">
            <a:solidFill>
              <a:srgbClr val="5C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5"/>
          <p:cNvSpPr/>
          <p:nvPr/>
        </p:nvSpPr>
        <p:spPr>
          <a:xfrm>
            <a:off x="1636920" y="3401640"/>
            <a:ext cx="72684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8F9AB3"/>
                </a:solidFill>
                <a:effectLst/>
                <a:uFillTx/>
                <a:latin typeface="Noto Sans"/>
                <a:ea typeface="Noto Sans"/>
              </a:rPr>
              <a:t>now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6"/>
          <p:cNvSpPr/>
          <p:nvPr/>
        </p:nvSpPr>
        <p:spPr>
          <a:xfrm>
            <a:off x="9655920" y="2816280"/>
            <a:ext cx="598680" cy="598680"/>
          </a:xfrm>
          <a:prstGeom prst="ellipse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7"/>
          <p:cNvSpPr/>
          <p:nvPr/>
        </p:nvSpPr>
        <p:spPr>
          <a:xfrm>
            <a:off x="9655920" y="2967120"/>
            <a:ext cx="5986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timer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8"/>
          <p:cNvSpPr/>
          <p:nvPr/>
        </p:nvSpPr>
        <p:spPr>
          <a:xfrm>
            <a:off x="9272160" y="3502080"/>
            <a:ext cx="136692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next timer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9"/>
          <p:cNvSpPr/>
          <p:nvPr/>
        </p:nvSpPr>
        <p:spPr>
          <a:xfrm>
            <a:off x="5733360" y="2816280"/>
            <a:ext cx="598680" cy="598680"/>
          </a:xfrm>
          <a:prstGeom prst="ellipse">
            <a:avLst/>
          </a:prstGeom>
          <a:solidFill>
            <a:srgbClr val="57D19C"/>
          </a:solidFill>
          <a:ln w="12700">
            <a:solidFill>
              <a:srgbClr val="57D1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0"/>
          <p:cNvSpPr/>
          <p:nvPr/>
        </p:nvSpPr>
        <p:spPr>
          <a:xfrm>
            <a:off x="5733360" y="2967120"/>
            <a:ext cx="5986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I/O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1"/>
          <p:cNvSpPr/>
          <p:nvPr/>
        </p:nvSpPr>
        <p:spPr>
          <a:xfrm>
            <a:off x="5294520" y="3502080"/>
            <a:ext cx="154980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socket ready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2"/>
          <p:cNvSpPr/>
          <p:nvPr/>
        </p:nvSpPr>
        <p:spPr>
          <a:xfrm>
            <a:off x="2304000" y="2432160"/>
            <a:ext cx="7123320" cy="360"/>
          </a:xfrm>
          <a:prstGeom prst="line">
            <a:avLst/>
          </a:prstGeom>
          <a:ln w="35560">
            <a:solidFill>
              <a:srgbClr val="FF6B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3"/>
          <p:cNvSpPr/>
          <p:nvPr/>
        </p:nvSpPr>
        <p:spPr>
          <a:xfrm>
            <a:off x="4096440" y="1993320"/>
            <a:ext cx="30128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B5B5"/>
                </a:solidFill>
                <a:effectLst/>
                <a:uFillTx/>
                <a:latin typeface="Noto Sans"/>
                <a:ea typeface="Noto Sans"/>
              </a:rPr>
              <a:t>time.sleep(8.5s)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4"/>
          <p:cNvSpPr/>
          <p:nvPr/>
        </p:nvSpPr>
        <p:spPr>
          <a:xfrm>
            <a:off x="1920240" y="4617720"/>
            <a:ext cx="8956440" cy="864000"/>
          </a:xfrm>
          <a:prstGeom prst="roundRect">
            <a:avLst>
              <a:gd name="adj" fmla="val 14737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5"/>
          <p:cNvSpPr/>
          <p:nvPr/>
        </p:nvSpPr>
        <p:spPr>
          <a:xfrm>
            <a:off x="2240280" y="4855320"/>
            <a:ext cx="83163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We need a “sleep” that </a:t>
            </a:r>
            <a:r>
              <a:rPr lang="en-US" sz="19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can be interrupted by I/O </a:t>
            </a:r>
            <a:r>
              <a:rPr lang="en-US" sz="19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readiness.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 type="sldNum" idx="10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567000" y="347400"/>
            <a:ext cx="43844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6 · READINESS I/O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Selectors: register file descriptor for readiness event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1"/>
          <p:cNvSpPr>
            <a:spLocks noGrp="1"/>
          </p:cNvSpPr>
          <p:nvPr>
            <p:ph type="sldNum" idx="11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72" name=""/>
          <p:cNvPicPr/>
          <p:nvPr/>
        </p:nvPicPr>
        <p:blipFill>
          <a:blip r:embed="rId1"/>
          <a:stretch/>
        </p:blipFill>
        <p:spPr>
          <a:xfrm>
            <a:off x="600480" y="1209960"/>
            <a:ext cx="9453600" cy="5375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Text 27"/>
          <p:cNvSpPr/>
          <p:nvPr/>
        </p:nvSpPr>
        <p:spPr>
          <a:xfrm>
            <a:off x="567000" y="347400"/>
            <a:ext cx="43844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6 · READINESS I/O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8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Selectors: sleep until next timer or I/O event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1"/>
          <p:cNvSpPr>
            <a:spLocks noGrp="1"/>
          </p:cNvSpPr>
          <p:nvPr>
            <p:ph type="sldNum" idx="12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76" name=""/>
          <p:cNvPicPr/>
          <p:nvPr/>
        </p:nvPicPr>
        <p:blipFill>
          <a:blip r:embed="rId1"/>
          <a:stretch/>
        </p:blipFill>
        <p:spPr>
          <a:xfrm>
            <a:off x="466920" y="1171800"/>
            <a:ext cx="8220240" cy="5226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29"/>
          <p:cNvSpPr/>
          <p:nvPr/>
        </p:nvSpPr>
        <p:spPr>
          <a:xfrm>
            <a:off x="567000" y="347400"/>
            <a:ext cx="43844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6 · READINESS I/O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0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Selectors: sleep until next timer or I/O event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1"/>
          <p:cNvSpPr>
            <a:spLocks noGrp="1"/>
          </p:cNvSpPr>
          <p:nvPr>
            <p:ph type="sldNum" idx="13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80" name=""/>
          <p:cNvPicPr/>
          <p:nvPr/>
        </p:nvPicPr>
        <p:blipFill>
          <a:blip r:embed="rId1"/>
          <a:stretch/>
        </p:blipFill>
        <p:spPr>
          <a:xfrm>
            <a:off x="514800" y="1267200"/>
            <a:ext cx="8060400" cy="5360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/>
          <p:cNvSpPr/>
          <p:nvPr/>
        </p:nvSpPr>
        <p:spPr>
          <a:xfrm>
            <a:off x="567000" y="347400"/>
            <a:ext cx="43844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7 · PUT THE PIECES </a:t>
            </a: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TOGETHER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1"/>
          <p:cNvSpPr>
            <a:spLocks noGrp="1"/>
          </p:cNvSpPr>
          <p:nvPr>
            <p:ph type="sldNum" idx="14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8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457200" y="640080"/>
            <a:ext cx="77666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Selectors: run_once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5" name=""/>
          <p:cNvPicPr/>
          <p:nvPr/>
        </p:nvPicPr>
        <p:blipFill>
          <a:blip r:embed="rId1"/>
          <a:stretch/>
        </p:blipFill>
        <p:spPr>
          <a:xfrm>
            <a:off x="457200" y="1200600"/>
            <a:ext cx="7541640" cy="5491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 0"/>
          <p:cNvSpPr/>
          <p:nvPr/>
        </p:nvSpPr>
        <p:spPr>
          <a:xfrm>
            <a:off x="567000" y="347400"/>
            <a:ext cx="43844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8 · CALLBACK EVENT LOOP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So far: zero async / await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"/>
          <p:cNvSpPr/>
          <p:nvPr/>
        </p:nvSpPr>
        <p:spPr>
          <a:xfrm>
            <a:off x="552600" y="1139040"/>
            <a:ext cx="6761880" cy="40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But we already have a useful event-driven runtime.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1"/>
          <p:cNvSpPr>
            <a:spLocks noGrp="1"/>
          </p:cNvSpPr>
          <p:nvPr>
            <p:ph type="sldNum" idx="15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9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90" name=""/>
          <p:cNvPicPr/>
          <p:nvPr/>
        </p:nvPicPr>
        <p:blipFill>
          <a:blip r:embed="rId1"/>
          <a:stretch/>
        </p:blipFill>
        <p:spPr>
          <a:xfrm>
            <a:off x="567000" y="1665000"/>
            <a:ext cx="8820360" cy="4963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 0"/>
          <p:cNvSpPr/>
          <p:nvPr/>
        </p:nvSpPr>
        <p:spPr>
          <a:xfrm>
            <a:off x="567000" y="347400"/>
            <a:ext cx="43844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9 · COROUTINES + FUTURES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Pausing and resuming a coroutine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1"/>
          <p:cNvSpPr>
            <a:spLocks noGrp="1"/>
          </p:cNvSpPr>
          <p:nvPr>
            <p:ph type="sldNum" idx="16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10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TextBox 25"/>
          <p:cNvSpPr/>
          <p:nvPr/>
        </p:nvSpPr>
        <p:spPr>
          <a:xfrm>
            <a:off x="621720" y="1225440"/>
            <a:ext cx="1069380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The suspension point comes from the awaitable: Future.__await__() can yield control.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27"/>
          <p:cNvSpPr/>
          <p:nvPr/>
        </p:nvSpPr>
        <p:spPr>
          <a:xfrm>
            <a:off x="7435800" y="1828800"/>
            <a:ext cx="2391120" cy="18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2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Future: the suspension point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30"/>
          <p:cNvSpPr/>
          <p:nvPr/>
        </p:nvSpPr>
        <p:spPr>
          <a:xfrm>
            <a:off x="591840" y="1828800"/>
            <a:ext cx="4951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2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Drive the coroutine by hand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32"/>
          <p:cNvSpPr/>
          <p:nvPr/>
        </p:nvSpPr>
        <p:spPr>
          <a:xfrm>
            <a:off x="1234440" y="5928840"/>
            <a:ext cx="973368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2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First send → runs until Future.__await__() yields.   Second send → continues after await.</a:t>
            </a:r>
            <a:endParaRPr lang="en-US" sz="14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" name=""/>
          <p:cNvPicPr/>
          <p:nvPr/>
        </p:nvPicPr>
        <p:blipFill>
          <a:blip r:embed="rId1"/>
          <a:stretch/>
        </p:blipFill>
        <p:spPr>
          <a:xfrm>
            <a:off x="7372800" y="2286000"/>
            <a:ext cx="4356720" cy="296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9" name=""/>
          <p:cNvPicPr/>
          <p:nvPr/>
        </p:nvPicPr>
        <p:blipFill>
          <a:blip r:embed="rId2"/>
          <a:stretch/>
        </p:blipFill>
        <p:spPr>
          <a:xfrm>
            <a:off x="416160" y="2237400"/>
            <a:ext cx="6742800" cy="3198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 0"/>
          <p:cNvSpPr/>
          <p:nvPr/>
        </p:nvSpPr>
        <p:spPr>
          <a:xfrm>
            <a:off x="567000" y="347400"/>
            <a:ext cx="43844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10 · FUTURES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Future represents an eventual result of an async operation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1"/>
          <p:cNvSpPr>
            <a:spLocks noGrp="1"/>
          </p:cNvSpPr>
          <p:nvPr>
            <p:ph type="sldNum" idx="17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TextBox 25"/>
          <p:cNvSpPr/>
          <p:nvPr/>
        </p:nvSpPr>
        <p:spPr>
          <a:xfrm>
            <a:off x="621720" y="1225440"/>
            <a:ext cx="1069380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Future is pending until somebody supplies either a result or an exception.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Rounded Rectangle 26"/>
          <p:cNvSpPr/>
          <p:nvPr/>
        </p:nvSpPr>
        <p:spPr>
          <a:xfrm>
            <a:off x="694800" y="1755720"/>
            <a:ext cx="3122640" cy="14400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05" name="TextBox 27"/>
          <p:cNvSpPr/>
          <p:nvPr/>
        </p:nvSpPr>
        <p:spPr>
          <a:xfrm>
            <a:off x="877680" y="1947600"/>
            <a:ext cx="275688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3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add_done_callback(cb)</a:t>
            </a:r>
            <a:endParaRPr lang="en-US" sz="15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28"/>
          <p:cNvSpPr/>
          <p:nvPr/>
        </p:nvSpPr>
        <p:spPr>
          <a:xfrm>
            <a:off x="923400" y="2295000"/>
            <a:ext cx="266544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7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register interest</a:t>
            </a:r>
            <a:endParaRPr lang="en-US" sz="12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29"/>
          <p:cNvSpPr/>
          <p:nvPr/>
        </p:nvSpPr>
        <p:spPr>
          <a:xfrm>
            <a:off x="896040" y="2615040"/>
            <a:ext cx="272016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Task uses this to say: resume me when you are done.</a:t>
            </a:r>
            <a:endParaRPr lang="en-US" sz="11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Rounded Rectangle 30"/>
          <p:cNvSpPr/>
          <p:nvPr/>
        </p:nvSpPr>
        <p:spPr>
          <a:xfrm>
            <a:off x="4087440" y="1755720"/>
            <a:ext cx="3122640" cy="14400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09" name="TextBox 31"/>
          <p:cNvSpPr/>
          <p:nvPr/>
        </p:nvSpPr>
        <p:spPr>
          <a:xfrm>
            <a:off x="4270320" y="1947600"/>
            <a:ext cx="275688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3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set_result(value)</a:t>
            </a:r>
            <a:endParaRPr lang="en-US" sz="15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32"/>
          <p:cNvSpPr/>
          <p:nvPr/>
        </p:nvSpPr>
        <p:spPr>
          <a:xfrm>
            <a:off x="4316040" y="2295000"/>
            <a:ext cx="266544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7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complete successfully</a:t>
            </a:r>
            <a:endParaRPr lang="en-US" sz="12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33"/>
          <p:cNvSpPr/>
          <p:nvPr/>
        </p:nvSpPr>
        <p:spPr>
          <a:xfrm>
            <a:off x="4288680" y="2615040"/>
            <a:ext cx="272016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Store a value and transition the Future to DONE.</a:t>
            </a:r>
            <a:endParaRPr lang="en-US" sz="11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ounded Rectangle 34"/>
          <p:cNvSpPr/>
          <p:nvPr/>
        </p:nvSpPr>
        <p:spPr>
          <a:xfrm>
            <a:off x="7479720" y="1755720"/>
            <a:ext cx="3122640" cy="14400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13" name="TextBox 35"/>
          <p:cNvSpPr/>
          <p:nvPr/>
        </p:nvSpPr>
        <p:spPr>
          <a:xfrm>
            <a:off x="7662600" y="1947600"/>
            <a:ext cx="275688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3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set_exception(exc)</a:t>
            </a:r>
            <a:endParaRPr lang="en-US" sz="15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36"/>
          <p:cNvSpPr/>
          <p:nvPr/>
        </p:nvSpPr>
        <p:spPr>
          <a:xfrm>
            <a:off x="7708320" y="2295000"/>
            <a:ext cx="266544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7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complete with failure</a:t>
            </a:r>
            <a:endParaRPr lang="en-US" sz="12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37"/>
          <p:cNvSpPr/>
          <p:nvPr/>
        </p:nvSpPr>
        <p:spPr>
          <a:xfrm>
            <a:off x="7680960" y="2615040"/>
            <a:ext cx="272016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Store an exception and transition the Future to DONE.</a:t>
            </a:r>
            <a:endParaRPr lang="en-US" sz="11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Rounded Rectangle 38"/>
          <p:cNvSpPr/>
          <p:nvPr/>
        </p:nvSpPr>
        <p:spPr>
          <a:xfrm>
            <a:off x="896040" y="3703320"/>
            <a:ext cx="2098440" cy="7725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17" name="TextBox 39"/>
          <p:cNvSpPr/>
          <p:nvPr/>
        </p:nvSpPr>
        <p:spPr>
          <a:xfrm>
            <a:off x="1078920" y="3940920"/>
            <a:ext cx="173268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PENDING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ight Arrow 40"/>
          <p:cNvSpPr/>
          <p:nvPr/>
        </p:nvSpPr>
        <p:spPr>
          <a:xfrm>
            <a:off x="3200400" y="3849480"/>
            <a:ext cx="2007000" cy="434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19" name="TextBox 41"/>
          <p:cNvSpPr/>
          <p:nvPr/>
        </p:nvSpPr>
        <p:spPr>
          <a:xfrm>
            <a:off x="3136320" y="3520440"/>
            <a:ext cx="2144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set_result / </a:t>
            </a: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set_exception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Rounded Rectangle 42"/>
          <p:cNvSpPr/>
          <p:nvPr/>
        </p:nvSpPr>
        <p:spPr>
          <a:xfrm>
            <a:off x="5403960" y="3703320"/>
            <a:ext cx="2098440" cy="7725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21" name="TextBox 43"/>
          <p:cNvSpPr/>
          <p:nvPr/>
        </p:nvSpPr>
        <p:spPr>
          <a:xfrm>
            <a:off x="5586840" y="3940920"/>
            <a:ext cx="173268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DONE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Right Arrow 44"/>
          <p:cNvSpPr/>
          <p:nvPr/>
        </p:nvSpPr>
        <p:spPr>
          <a:xfrm>
            <a:off x="7680960" y="3849480"/>
            <a:ext cx="909720" cy="434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23" name="Rounded Rectangle 45"/>
          <p:cNvSpPr/>
          <p:nvPr/>
        </p:nvSpPr>
        <p:spPr>
          <a:xfrm>
            <a:off x="8796600" y="3493080"/>
            <a:ext cx="2327040" cy="1202400"/>
          </a:xfrm>
          <a:prstGeom prst="roundRect">
            <a:avLst>
              <a:gd name="adj" fmla="val 16667"/>
            </a:avLst>
          </a:prstGeom>
          <a:solidFill>
            <a:srgbClr val="0A0F1D"/>
          </a:solidFill>
          <a:ln w="12700"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24" name="TextBox 46"/>
          <p:cNvSpPr/>
          <p:nvPr/>
        </p:nvSpPr>
        <p:spPr>
          <a:xfrm>
            <a:off x="8961120" y="3648600"/>
            <a:ext cx="200700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80" b="0" u="none" strike="noStrike">
                <a:solidFill>
                  <a:srgbClr val="8292A2"/>
                </a:solidFill>
                <a:effectLst/>
                <a:uFillTx/>
                <a:latin typeface="Noto Sans"/>
              </a:rPr>
              <a:t>for each done callback</a:t>
            </a:r>
            <a:endParaRPr lang="en-US" sz="11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47"/>
          <p:cNvSpPr/>
          <p:nvPr/>
        </p:nvSpPr>
        <p:spPr>
          <a:xfrm>
            <a:off x="8924400" y="4023360"/>
            <a:ext cx="2080080" cy="31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3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loop.call_soon(cb, future)</a:t>
            </a:r>
            <a:endParaRPr lang="en-US" sz="1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48"/>
          <p:cNvSpPr/>
          <p:nvPr/>
        </p:nvSpPr>
        <p:spPr>
          <a:xfrm>
            <a:off x="1389960" y="5230440"/>
            <a:ext cx="941364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Future completion becomes ordinary work in the event loop’s ready queue.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49"/>
          <p:cNvSpPr/>
          <p:nvPr/>
        </p:nvSpPr>
        <p:spPr>
          <a:xfrm>
            <a:off x="594360" y="6382440"/>
            <a:ext cx="1041948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60" b="0" u="none" strike="noStrike">
                <a:solidFill>
                  <a:srgbClr val="8292A2"/>
                </a:solidFill>
                <a:effectLst/>
                <a:uFillTx/>
                <a:latin typeface="Noto Sans"/>
              </a:rPr>
              <a:t>Simplified model: real Future also handles cancellation, context, callbacks added after completion, and more.</a:t>
            </a:r>
            <a:endParaRPr lang="en-US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 0"/>
          <p:cNvSpPr/>
          <p:nvPr/>
        </p:nvSpPr>
        <p:spPr>
          <a:xfrm>
            <a:off x="567000" y="347400"/>
            <a:ext cx="43844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11 · TASKS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Task: automating coroutine resumption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1"/>
          <p:cNvSpPr>
            <a:spLocks noGrp="1"/>
          </p:cNvSpPr>
          <p:nvPr>
            <p:ph type="sldNum" idx="18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TextBox 25"/>
          <p:cNvSpPr/>
          <p:nvPr/>
        </p:nvSpPr>
        <p:spPr>
          <a:xfrm>
            <a:off x="621720" y="1225440"/>
            <a:ext cx="1069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Task owns a coroutine and </a:t>
            </a: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repeatedly drives it while the </a:t>
            </a: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coroutine yields a Future until </a:t>
            </a: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StopIteration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Rounded Rectangle 29"/>
          <p:cNvSpPr/>
          <p:nvPr/>
        </p:nvSpPr>
        <p:spPr>
          <a:xfrm>
            <a:off x="6711840" y="1828800"/>
            <a:ext cx="4457520" cy="6537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33" name="TextBox 30"/>
          <p:cNvSpPr/>
          <p:nvPr/>
        </p:nvSpPr>
        <p:spPr>
          <a:xfrm>
            <a:off x="6903720" y="2020680"/>
            <a:ext cx="407340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Task.step()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Down Arrow 31"/>
          <p:cNvSpPr/>
          <p:nvPr/>
        </p:nvSpPr>
        <p:spPr>
          <a:xfrm>
            <a:off x="8732520" y="2514600"/>
            <a:ext cx="406800" cy="2696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35" name="Rounded Rectangle 32"/>
          <p:cNvSpPr/>
          <p:nvPr/>
        </p:nvSpPr>
        <p:spPr>
          <a:xfrm>
            <a:off x="6711840" y="2834640"/>
            <a:ext cx="4457520" cy="6537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36" name="TextBox 33"/>
          <p:cNvSpPr/>
          <p:nvPr/>
        </p:nvSpPr>
        <p:spPr>
          <a:xfrm>
            <a:off x="6903720" y="3026520"/>
            <a:ext cx="407340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coro.send(None)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Down Arrow 34"/>
          <p:cNvSpPr/>
          <p:nvPr/>
        </p:nvSpPr>
        <p:spPr>
          <a:xfrm>
            <a:off x="8732520" y="3520440"/>
            <a:ext cx="406800" cy="2696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38" name="Rounded Rectangle 35"/>
          <p:cNvSpPr/>
          <p:nvPr/>
        </p:nvSpPr>
        <p:spPr>
          <a:xfrm>
            <a:off x="6711840" y="3840480"/>
            <a:ext cx="4457520" cy="6537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39" name="TextBox 36"/>
          <p:cNvSpPr/>
          <p:nvPr/>
        </p:nvSpPr>
        <p:spPr>
          <a:xfrm>
            <a:off x="6903720" y="4032360"/>
            <a:ext cx="407340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Future is yielded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Down Arrow 37"/>
          <p:cNvSpPr/>
          <p:nvPr/>
        </p:nvSpPr>
        <p:spPr>
          <a:xfrm>
            <a:off x="8732520" y="4526280"/>
            <a:ext cx="406800" cy="2696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41" name="Rounded Rectangle 38"/>
          <p:cNvSpPr/>
          <p:nvPr/>
        </p:nvSpPr>
        <p:spPr>
          <a:xfrm>
            <a:off x="6711840" y="4846320"/>
            <a:ext cx="4457520" cy="6537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42" name="TextBox 39"/>
          <p:cNvSpPr/>
          <p:nvPr/>
        </p:nvSpPr>
        <p:spPr>
          <a:xfrm>
            <a:off x="6903720" y="5038200"/>
            <a:ext cx="407340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1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future.add_done_callback(Task.step)</a:t>
            </a:r>
            <a:endParaRPr lang="en-US" sz="14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40"/>
          <p:cNvSpPr/>
          <p:nvPr/>
        </p:nvSpPr>
        <p:spPr>
          <a:xfrm>
            <a:off x="6602040" y="5696640"/>
            <a:ext cx="4704480" cy="50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When the Future completes, its done callback enters the ready queue. That callback drives the coroutine again.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4" name=""/>
          <p:cNvPicPr/>
          <p:nvPr/>
        </p:nvPicPr>
        <p:blipFill>
          <a:blip r:embed="rId1"/>
          <a:stretch/>
        </p:blipFill>
        <p:spPr>
          <a:xfrm>
            <a:off x="457200" y="1848240"/>
            <a:ext cx="6170040" cy="4780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sldNum" idx="19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246" name=""/>
          <p:cNvPicPr/>
          <p:nvPr/>
        </p:nvPicPr>
        <p:blipFill>
          <a:blip r:embed="rId1"/>
          <a:stretch/>
        </p:blipFill>
        <p:spPr>
          <a:xfrm>
            <a:off x="1767600" y="541800"/>
            <a:ext cx="8686080" cy="5790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ext 19"/>
          <p:cNvSpPr/>
          <p:nvPr/>
        </p:nvSpPr>
        <p:spPr>
          <a:xfrm>
            <a:off x="567000" y="347400"/>
            <a:ext cx="43844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12 · THE PAYOFF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4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The trick: Tasks turn “await” into callbacks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31"/>
          <p:cNvSpPr/>
          <p:nvPr/>
        </p:nvSpPr>
        <p:spPr>
          <a:xfrm>
            <a:off x="694800" y="1993320"/>
            <a:ext cx="2052720" cy="95544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32"/>
          <p:cNvSpPr/>
          <p:nvPr/>
        </p:nvSpPr>
        <p:spPr>
          <a:xfrm>
            <a:off x="694800" y="1993320"/>
            <a:ext cx="59400" cy="955440"/>
          </a:xfrm>
          <a:prstGeom prst="rect">
            <a:avLst/>
          </a:prstGeom>
          <a:solidFill>
            <a:srgbClr val="57D19C"/>
          </a:solidFill>
          <a:ln w="12700">
            <a:solidFill>
              <a:srgbClr val="57D1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880" tIns="45000" rIns="2988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25"/>
          <p:cNvSpPr/>
          <p:nvPr/>
        </p:nvSpPr>
        <p:spPr>
          <a:xfrm>
            <a:off x="841320" y="2231280"/>
            <a:ext cx="180576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I/O or timer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completes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33"/>
          <p:cNvSpPr/>
          <p:nvPr/>
        </p:nvSpPr>
        <p:spPr>
          <a:xfrm>
            <a:off x="2797920" y="2468880"/>
            <a:ext cx="164520" cy="360"/>
          </a:xfrm>
          <a:prstGeom prst="line">
            <a:avLst/>
          </a:prstGeom>
          <a:ln w="27940">
            <a:solidFill>
              <a:srgbClr val="2A355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2080" tIns="-44640" rIns="8208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34"/>
          <p:cNvSpPr/>
          <p:nvPr/>
        </p:nvSpPr>
        <p:spPr>
          <a:xfrm>
            <a:off x="3035880" y="1993320"/>
            <a:ext cx="2052720" cy="95544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35"/>
          <p:cNvSpPr/>
          <p:nvPr/>
        </p:nvSpPr>
        <p:spPr>
          <a:xfrm>
            <a:off x="3035880" y="1993320"/>
            <a:ext cx="59400" cy="955440"/>
          </a:xfrm>
          <a:prstGeom prst="rect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880" tIns="45000" rIns="2988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26"/>
          <p:cNvSpPr/>
          <p:nvPr/>
        </p:nvSpPr>
        <p:spPr>
          <a:xfrm>
            <a:off x="3182040" y="2231280"/>
            <a:ext cx="180576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Future becomes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DONE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36"/>
          <p:cNvSpPr/>
          <p:nvPr/>
        </p:nvSpPr>
        <p:spPr>
          <a:xfrm>
            <a:off x="5138640" y="2468880"/>
            <a:ext cx="164880" cy="360"/>
          </a:xfrm>
          <a:prstGeom prst="line">
            <a:avLst/>
          </a:prstGeom>
          <a:ln w="27940">
            <a:solidFill>
              <a:srgbClr val="2A355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2440" tIns="-44640" rIns="824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37"/>
          <p:cNvSpPr/>
          <p:nvPr/>
        </p:nvSpPr>
        <p:spPr>
          <a:xfrm>
            <a:off x="5376600" y="1993320"/>
            <a:ext cx="2052720" cy="95544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38"/>
          <p:cNvSpPr/>
          <p:nvPr/>
        </p:nvSpPr>
        <p:spPr>
          <a:xfrm>
            <a:off x="5376600" y="1993320"/>
            <a:ext cx="59400" cy="955440"/>
          </a:xfrm>
          <a:prstGeom prst="rect">
            <a:avLst/>
          </a:prstGeom>
          <a:solidFill>
            <a:srgbClr val="4B8BBE"/>
          </a:solidFill>
          <a:ln w="1270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880" tIns="45000" rIns="298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31"/>
          <p:cNvSpPr/>
          <p:nvPr/>
        </p:nvSpPr>
        <p:spPr>
          <a:xfrm>
            <a:off x="5523120" y="2231280"/>
            <a:ext cx="180576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loop.call_soon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(task wakeup)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39"/>
          <p:cNvSpPr/>
          <p:nvPr/>
        </p:nvSpPr>
        <p:spPr>
          <a:xfrm>
            <a:off x="7479720" y="2468880"/>
            <a:ext cx="164520" cy="360"/>
          </a:xfrm>
          <a:prstGeom prst="line">
            <a:avLst/>
          </a:prstGeom>
          <a:ln w="27940">
            <a:solidFill>
              <a:srgbClr val="2A355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2080" tIns="-44640" rIns="8208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40"/>
          <p:cNvSpPr/>
          <p:nvPr/>
        </p:nvSpPr>
        <p:spPr>
          <a:xfrm>
            <a:off x="7717680" y="1993320"/>
            <a:ext cx="2052720" cy="95544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41"/>
          <p:cNvSpPr/>
          <p:nvPr/>
        </p:nvSpPr>
        <p:spPr>
          <a:xfrm>
            <a:off x="7717680" y="1993320"/>
            <a:ext cx="59400" cy="955440"/>
          </a:xfrm>
          <a:prstGeom prst="rect">
            <a:avLst/>
          </a:prstGeom>
          <a:solidFill>
            <a:srgbClr val="5CE1E6"/>
          </a:solidFill>
          <a:ln w="12700">
            <a:solidFill>
              <a:srgbClr val="5C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880" tIns="45000" rIns="2988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32"/>
          <p:cNvSpPr/>
          <p:nvPr/>
        </p:nvSpPr>
        <p:spPr>
          <a:xfrm>
            <a:off x="7863840" y="2231280"/>
            <a:ext cx="180576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Task drives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coroutine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42"/>
          <p:cNvSpPr/>
          <p:nvPr/>
        </p:nvSpPr>
        <p:spPr>
          <a:xfrm>
            <a:off x="9820440" y="2468880"/>
            <a:ext cx="146520" cy="360"/>
          </a:xfrm>
          <a:prstGeom prst="line">
            <a:avLst/>
          </a:prstGeom>
          <a:ln w="27940">
            <a:solidFill>
              <a:srgbClr val="2A355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73080" tIns="-44640" rIns="7308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43"/>
          <p:cNvSpPr/>
          <p:nvPr/>
        </p:nvSpPr>
        <p:spPr>
          <a:xfrm>
            <a:off x="10040040" y="1993320"/>
            <a:ext cx="1504080" cy="95544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44"/>
          <p:cNvSpPr/>
          <p:nvPr/>
        </p:nvSpPr>
        <p:spPr>
          <a:xfrm>
            <a:off x="10040040" y="1993320"/>
            <a:ext cx="59400" cy="955440"/>
          </a:xfrm>
          <a:prstGeom prst="rect">
            <a:avLst/>
          </a:prstGeom>
          <a:solidFill>
            <a:srgbClr val="B89CFF"/>
          </a:solidFill>
          <a:ln w="12700">
            <a:solidFill>
              <a:srgbClr val="B89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880" tIns="45000" rIns="2988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3"/>
          <p:cNvSpPr/>
          <p:nvPr/>
        </p:nvSpPr>
        <p:spPr>
          <a:xfrm>
            <a:off x="10186560" y="2231280"/>
            <a:ext cx="125712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next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await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45"/>
          <p:cNvSpPr/>
          <p:nvPr/>
        </p:nvSpPr>
        <p:spPr>
          <a:xfrm>
            <a:off x="1069920" y="3886200"/>
            <a:ext cx="10053720" cy="1092600"/>
          </a:xfrm>
          <a:prstGeom prst="roundRect">
            <a:avLst>
              <a:gd name="adj" fmla="val 11667"/>
            </a:avLst>
          </a:prstGeom>
          <a:solidFill>
            <a:srgbClr val="10253A"/>
          </a:solidFill>
          <a:ln w="12700">
            <a:solidFill>
              <a:srgbClr val="10253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34"/>
          <p:cNvSpPr/>
          <p:nvPr/>
        </p:nvSpPr>
        <p:spPr>
          <a:xfrm>
            <a:off x="1463040" y="4114800"/>
            <a:ext cx="927648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The loop only sees Task._step </a:t>
            </a:r>
            <a:r>
              <a:rPr lang="en-US" sz="21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callbacks.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Task and Future provide the </a:t>
            </a:r>
            <a:r>
              <a:rPr lang="en-US" sz="21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coroutine semantics above it.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35"/>
          <p:cNvSpPr/>
          <p:nvPr/>
        </p:nvSpPr>
        <p:spPr>
          <a:xfrm>
            <a:off x="1993320" y="5486400"/>
            <a:ext cx="822492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That is the bridge between event-driven callbacks and async / await.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1"/>
          <p:cNvSpPr>
            <a:spLocks noGrp="1"/>
          </p:cNvSpPr>
          <p:nvPr>
            <p:ph type="sldNum" idx="20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ext 0"/>
          <p:cNvSpPr/>
          <p:nvPr/>
        </p:nvSpPr>
        <p:spPr>
          <a:xfrm>
            <a:off x="567000" y="347400"/>
            <a:ext cx="43844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13 · ASYNCIO NETWORKING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Where does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networking fit?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1"/>
          <p:cNvSpPr>
            <a:spLocks noGrp="1"/>
          </p:cNvSpPr>
          <p:nvPr>
            <p:ph type="sldNum" idx="21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14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TextBox 25"/>
          <p:cNvSpPr/>
          <p:nvPr/>
        </p:nvSpPr>
        <p:spPr>
          <a:xfrm>
            <a:off x="576000" y="1161360"/>
            <a:ext cx="101451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SelectorEventLoop view: networking builds outward from readiness callbacks.</a:t>
            </a:r>
            <a:endParaRPr lang="en-US" sz="1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Picture 26"/>
          <p:cNvSpPr/>
          <p:nvPr/>
        </p:nvSpPr>
        <p:spPr>
          <a:xfrm>
            <a:off x="713160" y="1627560"/>
            <a:ext cx="5436000" cy="5321160"/>
          </a:xfrm>
          <a:prstGeom prst="rect">
            <a:avLst/>
          </a:pr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	</a:t>
            </a: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	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Rounded Rectangle 27"/>
          <p:cNvSpPr/>
          <p:nvPr/>
        </p:nvSpPr>
        <p:spPr>
          <a:xfrm>
            <a:off x="6565320" y="4206240"/>
            <a:ext cx="4731840" cy="10926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78" name="Rounded Rectangle 28"/>
          <p:cNvSpPr/>
          <p:nvPr/>
        </p:nvSpPr>
        <p:spPr>
          <a:xfrm>
            <a:off x="6729840" y="4370760"/>
            <a:ext cx="95760" cy="76356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7880" tIns="45000" rIns="47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79" name="TextBox 29"/>
          <p:cNvSpPr/>
          <p:nvPr/>
        </p:nvSpPr>
        <p:spPr>
          <a:xfrm>
            <a:off x="7004160" y="4325040"/>
            <a:ext cx="41284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Streams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0"/>
          <p:cNvSpPr/>
          <p:nvPr/>
        </p:nvSpPr>
        <p:spPr>
          <a:xfrm>
            <a:off x="7004160" y="4690800"/>
            <a:ext cx="4128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loop.open_connection(...)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loop.start_server(...)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Rounded Rectangle 31"/>
          <p:cNvSpPr/>
          <p:nvPr/>
        </p:nvSpPr>
        <p:spPr>
          <a:xfrm>
            <a:off x="6565320" y="2971800"/>
            <a:ext cx="4731840" cy="10926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82" name="Rounded Rectangle 32"/>
          <p:cNvSpPr/>
          <p:nvPr/>
        </p:nvSpPr>
        <p:spPr>
          <a:xfrm>
            <a:off x="6729840" y="3136320"/>
            <a:ext cx="95760" cy="76356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7880" tIns="45000" rIns="47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83" name="TextBox 33"/>
          <p:cNvSpPr/>
          <p:nvPr/>
        </p:nvSpPr>
        <p:spPr>
          <a:xfrm>
            <a:off x="7004160" y="3090600"/>
            <a:ext cx="41284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57D19C"/>
                </a:solidFill>
                <a:effectLst/>
                <a:uFillTx/>
                <a:latin typeface="Noto Sans"/>
              </a:rPr>
              <a:t>Transport / Protocol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4"/>
          <p:cNvSpPr/>
          <p:nvPr/>
        </p:nvSpPr>
        <p:spPr>
          <a:xfrm>
            <a:off x="7004160" y="3456360"/>
            <a:ext cx="4128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loop.create_connection(...)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loop.create_server(...)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Rounded Rectangle 35"/>
          <p:cNvSpPr/>
          <p:nvPr/>
        </p:nvSpPr>
        <p:spPr>
          <a:xfrm>
            <a:off x="6565320" y="1737360"/>
            <a:ext cx="4731840" cy="10926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86" name="Rounded Rectangle 36"/>
          <p:cNvSpPr/>
          <p:nvPr/>
        </p:nvSpPr>
        <p:spPr>
          <a:xfrm>
            <a:off x="6729840" y="1901880"/>
            <a:ext cx="95760" cy="763560"/>
          </a:xfrm>
          <a:prstGeom prst="roundRect">
            <a:avLst>
              <a:gd name="adj" fmla="val 16667"/>
            </a:avLst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7880" tIns="45000" rIns="47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87" name="TextBox 37"/>
          <p:cNvSpPr/>
          <p:nvPr/>
        </p:nvSpPr>
        <p:spPr>
          <a:xfrm>
            <a:off x="7004160" y="1856160"/>
            <a:ext cx="41284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Socket coroutines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38"/>
          <p:cNvSpPr/>
          <p:nvPr/>
        </p:nvSpPr>
        <p:spPr>
          <a:xfrm>
            <a:off x="7004160" y="2221920"/>
            <a:ext cx="4128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loop.sock_recv()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loop.sock_sendall()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Box 39"/>
          <p:cNvSpPr/>
          <p:nvPr/>
        </p:nvSpPr>
        <p:spPr>
          <a:xfrm>
            <a:off x="6830640" y="5404680"/>
            <a:ext cx="4201560" cy="41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sock_* uses readiness directly; Streams build on top of Transport / Protocol.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Section"/>
          <p:cNvSpPr/>
          <p:nvPr/>
        </p:nvSpPr>
        <p:spPr>
          <a:xfrm>
            <a:off x="567000" y="347400"/>
            <a:ext cx="43844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14 · SOCKET COROUTINES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itle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B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u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il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i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n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g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o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k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_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v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(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)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f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o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m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i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n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ll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b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k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Step 1"/>
          <p:cNvSpPr/>
          <p:nvPr/>
        </p:nvSpPr>
        <p:spPr>
          <a:xfrm>
            <a:off x="8430120" y="1569960"/>
            <a:ext cx="3117960" cy="11178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Step 1 text"/>
          <p:cNvSpPr/>
          <p:nvPr/>
        </p:nvSpPr>
        <p:spPr>
          <a:xfrm>
            <a:off x="8690040" y="1760040"/>
            <a:ext cx="266796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1  TRY NOW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5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recv() may succeed immediately.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Step 2"/>
          <p:cNvSpPr/>
          <p:nvPr/>
        </p:nvSpPr>
        <p:spPr>
          <a:xfrm>
            <a:off x="8430120" y="2890080"/>
            <a:ext cx="3117960" cy="131796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Step 2 text"/>
          <p:cNvSpPr/>
          <p:nvPr/>
        </p:nvSpPr>
        <p:spPr>
          <a:xfrm>
            <a:off x="8690040" y="3080160"/>
            <a:ext cx="2667960" cy="9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2  WAIT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add_reader() watches the socket; the coroutine awaits a Future.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tep 3"/>
          <p:cNvSpPr/>
          <p:nvPr/>
        </p:nvSpPr>
        <p:spPr>
          <a:xfrm>
            <a:off x="8430120" y="4410000"/>
            <a:ext cx="3117960" cy="141768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Step 3 text"/>
          <p:cNvSpPr/>
          <p:nvPr/>
        </p:nvSpPr>
        <p:spPr>
          <a:xfrm>
            <a:off x="8690040" y="4600080"/>
            <a:ext cx="2667960" cy="10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3  RESUME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readable → recv() → set_result() → Task wakes up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akeaway"/>
          <p:cNvSpPr/>
          <p:nvPr/>
        </p:nvSpPr>
        <p:spPr>
          <a:xfrm>
            <a:off x="8430120" y="6069960"/>
            <a:ext cx="311796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Callback underneath; coroutine API above.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Slide number"/>
          <p:cNvSpPr/>
          <p:nvPr/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0" name=""/>
          <p:cNvPicPr/>
          <p:nvPr/>
        </p:nvPicPr>
        <p:blipFill>
          <a:blip r:embed="rId1"/>
          <a:stretch/>
        </p:blipFill>
        <p:spPr>
          <a:xfrm>
            <a:off x="517320" y="1587600"/>
            <a:ext cx="7711200" cy="4341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Text 0"/>
          <p:cNvSpPr/>
          <p:nvPr/>
        </p:nvSpPr>
        <p:spPr>
          <a:xfrm>
            <a:off x="567000" y="347400"/>
            <a:ext cx="43844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15 · LOWER-</a:t>
            </a: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LEVEL </a:t>
            </a: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NETWORKING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"/>
          <p:cNvSpPr/>
          <p:nvPr/>
        </p:nvSpPr>
        <p:spPr>
          <a:xfrm>
            <a:off x="567000" y="640080"/>
            <a:ext cx="1087668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Transport + Protocol: a connection as callbacks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2"/>
          <p:cNvSpPr/>
          <p:nvPr/>
        </p:nvSpPr>
        <p:spPr>
          <a:xfrm>
            <a:off x="685800" y="1513440"/>
            <a:ext cx="4731840" cy="420156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3"/>
          <p:cNvSpPr/>
          <p:nvPr/>
        </p:nvSpPr>
        <p:spPr>
          <a:xfrm>
            <a:off x="1033200" y="1783080"/>
            <a:ext cx="136692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PROTOCOL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4"/>
          <p:cNvSpPr/>
          <p:nvPr/>
        </p:nvSpPr>
        <p:spPr>
          <a:xfrm>
            <a:off x="1195560" y="2212920"/>
            <a:ext cx="406440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connection_made(transport)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5"/>
          <p:cNvSpPr/>
          <p:nvPr/>
        </p:nvSpPr>
        <p:spPr>
          <a:xfrm>
            <a:off x="1195560" y="2898720"/>
            <a:ext cx="406440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data_received(data)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6"/>
          <p:cNvSpPr/>
          <p:nvPr/>
        </p:nvSpPr>
        <p:spPr>
          <a:xfrm>
            <a:off x="1195560" y="2468520"/>
            <a:ext cx="406440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connection_lost(exc)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7"/>
          <p:cNvSpPr/>
          <p:nvPr/>
        </p:nvSpPr>
        <p:spPr>
          <a:xfrm>
            <a:off x="1051560" y="4782240"/>
            <a:ext cx="403704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Your application reacts to events.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8"/>
          <p:cNvSpPr/>
          <p:nvPr/>
        </p:nvSpPr>
        <p:spPr>
          <a:xfrm>
            <a:off x="6711840" y="1508760"/>
            <a:ext cx="4731840" cy="420156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9"/>
          <p:cNvSpPr/>
          <p:nvPr/>
        </p:nvSpPr>
        <p:spPr>
          <a:xfrm>
            <a:off x="7040880" y="1783080"/>
            <a:ext cx="136692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  <a:ea typeface="Noto Sans"/>
              </a:rPr>
              <a:t>TRANSPORT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0"/>
          <p:cNvSpPr/>
          <p:nvPr/>
        </p:nvSpPr>
        <p:spPr>
          <a:xfrm>
            <a:off x="7184880" y="2212920"/>
            <a:ext cx="40370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write(data)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1"/>
          <p:cNvSpPr/>
          <p:nvPr/>
        </p:nvSpPr>
        <p:spPr>
          <a:xfrm>
            <a:off x="7148880" y="2898720"/>
            <a:ext cx="40370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pause_reading()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resume_reading()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2"/>
          <p:cNvSpPr/>
          <p:nvPr/>
        </p:nvSpPr>
        <p:spPr>
          <a:xfrm>
            <a:off x="7184880" y="3584520"/>
            <a:ext cx="40370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close()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3"/>
          <p:cNvSpPr/>
          <p:nvPr/>
        </p:nvSpPr>
        <p:spPr>
          <a:xfrm>
            <a:off x="7040880" y="4782240"/>
            <a:ext cx="403704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asyncio owns the I/O channel.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14"/>
          <p:cNvSpPr/>
          <p:nvPr/>
        </p:nvSpPr>
        <p:spPr>
          <a:xfrm>
            <a:off x="5468040" y="2359080"/>
            <a:ext cx="1152000" cy="360"/>
          </a:xfrm>
          <a:prstGeom prst="line">
            <a:avLst/>
          </a:prstGeom>
          <a:ln w="30480">
            <a:solidFill>
              <a:srgbClr val="4B8BB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5"/>
          <p:cNvSpPr/>
          <p:nvPr/>
        </p:nvSpPr>
        <p:spPr>
          <a:xfrm>
            <a:off x="5513760" y="2011680"/>
            <a:ext cx="104688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  <a:ea typeface="Noto Sans"/>
              </a:rPr>
              <a:t>send bytes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16"/>
          <p:cNvSpPr/>
          <p:nvPr/>
        </p:nvSpPr>
        <p:spPr>
          <a:xfrm flipH="1">
            <a:off x="5468040" y="3108960"/>
            <a:ext cx="1152000" cy="360"/>
          </a:xfrm>
          <a:prstGeom prst="line">
            <a:avLst/>
          </a:prstGeom>
          <a:ln w="30480">
            <a:solidFill>
              <a:srgbClr val="57D19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7"/>
          <p:cNvSpPr/>
          <p:nvPr/>
        </p:nvSpPr>
        <p:spPr>
          <a:xfrm>
            <a:off x="5486400" y="3255120"/>
            <a:ext cx="111096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received bytes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18"/>
          <p:cNvSpPr/>
          <p:nvPr/>
        </p:nvSpPr>
        <p:spPr>
          <a:xfrm>
            <a:off x="5394960" y="4206240"/>
            <a:ext cx="132120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1 : 1 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1"/>
          <p:cNvSpPr>
            <a:spLocks noGrp="1"/>
          </p:cNvSpPr>
          <p:nvPr>
            <p:ph type="sldNum" idx="22"/>
          </p:nvPr>
        </p:nvSpPr>
        <p:spPr>
          <a:xfrm>
            <a:off x="11777400" y="6492240"/>
            <a:ext cx="223920" cy="19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Text 14"/>
          <p:cNvSpPr/>
          <p:nvPr/>
        </p:nvSpPr>
        <p:spPr>
          <a:xfrm>
            <a:off x="1195560" y="3439080"/>
            <a:ext cx="406440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pause_writing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resume_writing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Section"/>
          <p:cNvSpPr/>
          <p:nvPr/>
        </p:nvSpPr>
        <p:spPr>
          <a:xfrm>
            <a:off x="567000" y="347400"/>
            <a:ext cx="43862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16 · WHY 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TRANSPORTS?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itle"/>
          <p:cNvSpPr/>
          <p:nvPr/>
        </p:nvSpPr>
        <p:spPr>
          <a:xfrm>
            <a:off x="567000" y="640080"/>
            <a:ext cx="108784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Why not just use loop.sock_*()?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Subtitle"/>
          <p:cNvSpPr/>
          <p:nvPr/>
        </p:nvSpPr>
        <p:spPr>
          <a:xfrm>
            <a:off x="576000" y="1161360"/>
            <a:ext cx="10799640" cy="3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7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sock_* performs operations. A Transport manages a connection.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Direct card"/>
          <p:cNvSpPr/>
          <p:nvPr/>
        </p:nvSpPr>
        <p:spPr>
          <a:xfrm>
            <a:off x="567000" y="1609920"/>
            <a:ext cx="4319640" cy="382968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Direct label"/>
          <p:cNvSpPr/>
          <p:nvPr/>
        </p:nvSpPr>
        <p:spPr>
          <a:xfrm>
            <a:off x="860040" y="1839960"/>
            <a:ext cx="2049480" cy="389520"/>
          </a:xfrm>
          <a:prstGeom prst="roundRect">
            <a:avLst>
              <a:gd name="adj" fmla="val 5000"/>
            </a:avLst>
          </a:prstGeom>
          <a:solidFill>
            <a:srgbClr val="59D6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Direct label text"/>
          <p:cNvSpPr/>
          <p:nvPr/>
        </p:nvSpPr>
        <p:spPr>
          <a:xfrm>
            <a:off x="950040" y="1900080"/>
            <a:ext cx="18694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81020"/>
                </a:solidFill>
                <a:effectLst/>
                <a:uFillTx/>
                <a:latin typeface="Noto Sans"/>
                <a:ea typeface="Noto Sans"/>
              </a:rPr>
              <a:t>DIRECT OPERATIONS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ocket API"/>
          <p:cNvSpPr/>
          <p:nvPr/>
        </p:nvSpPr>
        <p:spPr>
          <a:xfrm>
            <a:off x="860040" y="2440080"/>
            <a:ext cx="35197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450" b="0" u="none" strike="noStrike">
                <a:solidFill>
                  <a:srgbClr val="F7F9FC"/>
                </a:solidFill>
                <a:effectLst/>
                <a:uFillTx/>
                <a:latin typeface="Noto Sans Mono"/>
                <a:ea typeface="Noto Sans Mono"/>
              </a:rPr>
              <a:t>data = await loop.sock_recv(...) 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F7F9FC"/>
                </a:solidFill>
                <a:effectLst/>
                <a:uFillTx/>
                <a:latin typeface="Noto Sans Mono"/>
                <a:ea typeface="Noto Sans Mono"/>
              </a:rPr>
              <a:t>await loop.sock_sendall(...) 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ocket ownership"/>
          <p:cNvSpPr/>
          <p:nvPr/>
        </p:nvSpPr>
        <p:spPr>
          <a:xfrm>
            <a:off x="860040" y="3390120"/>
            <a:ext cx="3519720" cy="83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55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Your application owns the socket and decides when every operation happens.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Own details panel"/>
          <p:cNvSpPr/>
          <p:nvPr/>
        </p:nvSpPr>
        <p:spPr>
          <a:xfrm>
            <a:off x="860040" y="4420080"/>
            <a:ext cx="3519720" cy="719640"/>
          </a:xfrm>
          <a:prstGeom prst="roundRect">
            <a:avLst>
              <a:gd name="adj" fmla="val 5000"/>
            </a:avLst>
          </a:prstGeom>
          <a:solidFill>
            <a:srgbClr val="0B13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Own details"/>
          <p:cNvSpPr/>
          <p:nvPr/>
        </p:nvSpPr>
        <p:spPr>
          <a:xfrm>
            <a:off x="1059840" y="4539960"/>
            <a:ext cx="3119760" cy="4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0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YOU ALSO OWN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buffering · connection state · shutdown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Managed card"/>
          <p:cNvSpPr/>
          <p:nvPr/>
        </p:nvSpPr>
        <p:spPr>
          <a:xfrm>
            <a:off x="5220000" y="1609920"/>
            <a:ext cx="6409800" cy="382968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Managed label"/>
          <p:cNvSpPr/>
          <p:nvPr/>
        </p:nvSpPr>
        <p:spPr>
          <a:xfrm>
            <a:off x="5519880" y="1839960"/>
            <a:ext cx="2279520" cy="389520"/>
          </a:xfrm>
          <a:prstGeom prst="roundRect">
            <a:avLst>
              <a:gd name="adj" fmla="val 5000"/>
            </a:avLst>
          </a:prstGeom>
          <a:solidFill>
            <a:srgbClr val="57D19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Managed label text"/>
          <p:cNvSpPr/>
          <p:nvPr/>
        </p:nvSpPr>
        <p:spPr>
          <a:xfrm>
            <a:off x="5609880" y="1900080"/>
            <a:ext cx="20995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81020"/>
                </a:solidFill>
                <a:effectLst/>
                <a:uFillTx/>
                <a:latin typeface="Noto Sans"/>
                <a:ea typeface="Noto Sans"/>
              </a:rPr>
              <a:t>MANAGED CONNECTION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Protocol box"/>
          <p:cNvSpPr/>
          <p:nvPr/>
        </p:nvSpPr>
        <p:spPr>
          <a:xfrm>
            <a:off x="5519880" y="2440080"/>
            <a:ext cx="5509800" cy="919800"/>
          </a:xfrm>
          <a:prstGeom prst="roundRect">
            <a:avLst>
              <a:gd name="adj" fmla="val 5000"/>
            </a:avLst>
          </a:prstGeom>
          <a:solidFill>
            <a:srgbClr val="0B13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Protocol text"/>
          <p:cNvSpPr/>
          <p:nvPr/>
        </p:nvSpPr>
        <p:spPr>
          <a:xfrm>
            <a:off x="5780160" y="2599920"/>
            <a:ext cx="4989600" cy="58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PROTOCOL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what bytes mean  ·  data_received()  ·  connection_lost()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Events label"/>
          <p:cNvSpPr/>
          <p:nvPr/>
        </p:nvSpPr>
        <p:spPr>
          <a:xfrm>
            <a:off x="7819920" y="3390120"/>
            <a:ext cx="149976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50" b="1" u="none" strike="noStrike">
                <a:solidFill>
                  <a:srgbClr val="9AA6BA"/>
                </a:solidFill>
                <a:effectLst/>
                <a:uFillTx/>
                <a:latin typeface="Noto Sans"/>
                <a:ea typeface="Noto Sans"/>
              </a:rPr>
              <a:t>↓  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ransport box"/>
          <p:cNvSpPr/>
          <p:nvPr/>
        </p:nvSpPr>
        <p:spPr>
          <a:xfrm>
            <a:off x="5519880" y="3729960"/>
            <a:ext cx="5509800" cy="1359720"/>
          </a:xfrm>
          <a:prstGeom prst="roundRect">
            <a:avLst>
              <a:gd name="adj" fmla="val 5000"/>
            </a:avLst>
          </a:prstGeom>
          <a:solidFill>
            <a:srgbClr val="0B13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ransport text"/>
          <p:cNvSpPr/>
          <p:nvPr/>
        </p:nvSpPr>
        <p:spPr>
          <a:xfrm>
            <a:off x="5780160" y="3890160"/>
            <a:ext cx="4989600" cy="10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25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TRANSPORT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4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buffering + partial writes  · permanent read </a:t>
            </a:r>
            <a:r>
              <a:rPr lang="en-US" sz="14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·  backpressure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TLS  ·  connection lifecycle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ransport media"/>
          <p:cNvSpPr/>
          <p:nvPr/>
        </p:nvSpPr>
        <p:spPr>
          <a:xfrm>
            <a:off x="6400080" y="5140080"/>
            <a:ext cx="374976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9AA6BA"/>
                </a:solidFill>
                <a:effectLst/>
                <a:uFillTx/>
                <a:latin typeface="Noto Sans"/>
                <a:ea typeface="Noto Sans"/>
              </a:rPr>
              <a:t>socket  </a:t>
            </a:r>
            <a:r>
              <a:rPr lang="en-US" sz="1150" b="0" u="none" strike="noStrike">
                <a:solidFill>
                  <a:srgbClr val="9AA6BA"/>
                </a:solidFill>
                <a:effectLst/>
                <a:uFillTx/>
                <a:latin typeface="Noto Sans"/>
                <a:ea typeface="Noto Sans"/>
              </a:rPr>
              <a:t>· unix socket ·  datagram  ·  pipe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akeaway bar"/>
          <p:cNvSpPr/>
          <p:nvPr/>
        </p:nvSpPr>
        <p:spPr>
          <a:xfrm>
            <a:off x="1199880" y="5720040"/>
            <a:ext cx="9789480" cy="6498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akeaway"/>
          <p:cNvSpPr/>
          <p:nvPr/>
        </p:nvSpPr>
        <p:spPr>
          <a:xfrm>
            <a:off x="1450080" y="5860080"/>
            <a:ext cx="928980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Not required for async I/O — reusable machinery you would otherwise rebuild.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lide number"/>
          <p:cNvSpPr/>
          <p:nvPr/>
        </p:nvSpPr>
        <p:spPr>
          <a:xfrm>
            <a:off x="11777400" y="6492240"/>
            <a:ext cx="2257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Section"/>
          <p:cNvSpPr/>
          <p:nvPr/>
        </p:nvSpPr>
        <p:spPr>
          <a:xfrm>
            <a:off x="567000" y="347400"/>
            <a:ext cx="43851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18 · TRY IT YOURSELF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itle"/>
          <p:cNvSpPr/>
          <p:nvPr/>
        </p:nvSpPr>
        <p:spPr>
          <a:xfrm>
            <a:off x="567000" y="640080"/>
            <a:ext cx="108774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EduLoop: small enough to read, real enough to run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ubtitle"/>
          <p:cNvSpPr/>
          <p:nvPr/>
        </p:nvSpPr>
        <p:spPr>
          <a:xfrm>
            <a:off x="576000" y="1161360"/>
            <a:ext cx="1079856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The core ideas fit in a few hundred </a:t>
            </a: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lines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Loop metric"/>
          <p:cNvSpPr/>
          <p:nvPr/>
        </p:nvSpPr>
        <p:spPr>
          <a:xfrm>
            <a:off x="567000" y="1630080"/>
            <a:ext cx="2258640" cy="134856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Loop metric text"/>
          <p:cNvSpPr/>
          <p:nvPr/>
        </p:nvSpPr>
        <p:spPr>
          <a:xfrm>
            <a:off x="747000" y="1829880"/>
            <a:ext cx="1898640" cy="91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901"/>
              </a:spcAft>
            </a:pPr>
            <a:r>
              <a:rPr lang="en-US" sz="23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≈250 lines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3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event-loop core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ask metric"/>
          <p:cNvSpPr/>
          <p:nvPr/>
        </p:nvSpPr>
        <p:spPr>
          <a:xfrm>
            <a:off x="3017160" y="1630080"/>
            <a:ext cx="2258640" cy="134856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ask metric text"/>
          <p:cNvSpPr/>
          <p:nvPr/>
        </p:nvSpPr>
        <p:spPr>
          <a:xfrm>
            <a:off x="3197160" y="1829880"/>
            <a:ext cx="1898640" cy="91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901"/>
              </a:spcAft>
            </a:pPr>
            <a:r>
              <a:rPr lang="en-US" sz="230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≈150 lines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minimal Task + Futures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Uvicorn metric"/>
          <p:cNvSpPr/>
          <p:nvPr/>
        </p:nvSpPr>
        <p:spPr>
          <a:xfrm>
            <a:off x="5466960" y="1630080"/>
            <a:ext cx="2258640" cy="134856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Uvicorn metric text"/>
          <p:cNvSpPr/>
          <p:nvPr/>
        </p:nvSpPr>
        <p:spPr>
          <a:xfrm>
            <a:off x="5646960" y="1829880"/>
            <a:ext cx="1898640" cy="91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901"/>
              </a:spcAft>
            </a:pPr>
            <a:r>
              <a:rPr lang="en-US" sz="205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Runs Uvicorn</a:t>
            </a:r>
            <a:endParaRPr lang="en-US" sz="2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3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 real ASGI server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Layers panel"/>
          <p:cNvSpPr/>
          <p:nvPr/>
        </p:nvSpPr>
        <p:spPr>
          <a:xfrm>
            <a:off x="567000" y="3269880"/>
            <a:ext cx="7158600" cy="224856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Layers title"/>
          <p:cNvSpPr/>
          <p:nvPr/>
        </p:nvSpPr>
        <p:spPr>
          <a:xfrm>
            <a:off x="837000" y="3510000"/>
            <a:ext cx="65984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The remaining pieces stay modular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aiofastnet pill"/>
          <p:cNvSpPr/>
          <p:nvPr/>
        </p:nvSpPr>
        <p:spPr>
          <a:xfrm>
            <a:off x="837000" y="4110120"/>
            <a:ext cx="1478520" cy="418680"/>
          </a:xfrm>
          <a:prstGeom prst="roundRect">
            <a:avLst>
              <a:gd name="adj" fmla="val 5000"/>
            </a:avLst>
          </a:prstGeom>
          <a:solidFill>
            <a:srgbClr val="59D6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aiofastnet"/>
          <p:cNvSpPr/>
          <p:nvPr/>
        </p:nvSpPr>
        <p:spPr>
          <a:xfrm>
            <a:off x="916920" y="4179960"/>
            <a:ext cx="13186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081020"/>
                </a:solidFill>
                <a:effectLst/>
                <a:uFillTx/>
                <a:latin typeface="Noto Sans"/>
                <a:ea typeface="Noto Sans"/>
              </a:rPr>
              <a:t>aiofastnet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aiofastnet description"/>
          <p:cNvSpPr/>
          <p:nvPr/>
        </p:nvSpPr>
        <p:spPr>
          <a:xfrm>
            <a:off x="2520000" y="4089960"/>
            <a:ext cx="489852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5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transports · protocols · socket APIs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aiodns pill"/>
          <p:cNvSpPr/>
          <p:nvPr/>
        </p:nvSpPr>
        <p:spPr>
          <a:xfrm>
            <a:off x="837000" y="4719960"/>
            <a:ext cx="1478520" cy="418680"/>
          </a:xfrm>
          <a:prstGeom prst="roundRect">
            <a:avLst>
              <a:gd name="adj" fmla="val 5000"/>
            </a:avLst>
          </a:prstGeom>
          <a:solidFill>
            <a:srgbClr val="FFD4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aiodns"/>
          <p:cNvSpPr/>
          <p:nvPr/>
        </p:nvSpPr>
        <p:spPr>
          <a:xfrm>
            <a:off x="916920" y="4790160"/>
            <a:ext cx="13186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081020"/>
                </a:solidFill>
                <a:effectLst/>
                <a:uFillTx/>
                <a:latin typeface="Noto Sans"/>
                <a:ea typeface="Noto Sans"/>
              </a:rPr>
              <a:t>aiodns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aiodns description"/>
          <p:cNvSpPr/>
          <p:nvPr/>
        </p:nvSpPr>
        <p:spPr>
          <a:xfrm>
            <a:off x="2520000" y="4700160"/>
            <a:ext cx="489852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5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asynchronous DNS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QR card"/>
          <p:cNvSpPr/>
          <p:nvPr/>
        </p:nvSpPr>
        <p:spPr>
          <a:xfrm>
            <a:off x="8169840" y="1569960"/>
            <a:ext cx="3418560" cy="41184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2" name="EduLoop GitHub QR code" descr="QR code for https://github.com/tarasko/eduloop"/>
          <p:cNvPicPr/>
          <p:nvPr/>
        </p:nvPicPr>
        <p:blipFill>
          <a:blip r:embed="rId1"/>
          <a:stretch/>
        </p:blipFill>
        <p:spPr>
          <a:xfrm>
            <a:off x="8510040" y="1810080"/>
            <a:ext cx="2798640" cy="279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3" name="GitHub URL"/>
          <p:cNvSpPr/>
          <p:nvPr/>
        </p:nvSpPr>
        <p:spPr>
          <a:xfrm>
            <a:off x="8370000" y="4809960"/>
            <a:ext cx="3018600" cy="33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81020"/>
                </a:solidFill>
                <a:effectLst/>
                <a:uFillTx/>
                <a:latin typeface="Noto Sans Mono"/>
                <a:ea typeface="Noto Sans Mono"/>
              </a:rPr>
              <a:t>github.com/tarasko/eduloop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Slide number"/>
          <p:cNvSpPr/>
          <p:nvPr/>
        </p:nvSpPr>
        <p:spPr>
          <a:xfrm>
            <a:off x="11777400" y="6492240"/>
            <a:ext cx="2246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19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Section"/>
          <p:cNvSpPr/>
          <p:nvPr/>
        </p:nvSpPr>
        <p:spPr>
          <a:xfrm>
            <a:off x="567000" y="347400"/>
            <a:ext cx="4386600" cy="22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l" defTabSz="914400">
              <a:lnSpc>
                <a:spcPct val="100000"/>
              </a:lnSpc>
              <a:spcAft>
                <a:spcPts val="0"/>
              </a:spcAft>
            </a:pPr>
            <a:r>
              <a:rPr lang="en-US" sz="1100" b="1">
                <a:solidFill>
                  <a:srgbClr val="FFD43B"/>
                </a:solidFill>
                <a:latin typeface="Noto Sans"/>
                <a:ea typeface="Noto Sans"/>
              </a:rPr>
              <a:t>17 · HIGH-LEVEL NETWORKING</a:t>
            </a:r>
            <a:endParaRPr lang="en-US" sz="1100"/>
          </a:p>
        </p:txBody>
      </p:sp>
      <p:sp>
        <p:nvSpPr>
          <p:cNvPr id="701" name="Title"/>
          <p:cNvSpPr/>
          <p:nvPr/>
        </p:nvSpPr>
        <p:spPr>
          <a:xfrm>
            <a:off x="567000" y="640080"/>
            <a:ext cx="10878840" cy="5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l" defTabSz="914400">
              <a:lnSpc>
                <a:spcPct val="100000"/>
              </a:lnSpc>
              <a:spcAft>
                <a:spcPts val="0"/>
              </a:spcAft>
            </a:pPr>
            <a:r>
              <a:rPr lang="en-US" sz="2700" b="1">
                <a:solidFill>
                  <a:srgbClr val="F7F9FC"/>
                </a:solidFill>
                <a:latin typeface="Noto Sans"/>
                <a:ea typeface="Noto Sans"/>
              </a:rPr>
              <a:t>Streams: the convenient default</a:t>
            </a:r>
            <a:endParaRPr lang="en-US" sz="2700"/>
          </a:p>
        </p:txBody>
      </p:sp>
      <p:sp>
        <p:nvSpPr>
          <p:cNvPr id="702" name="Subtitle"/>
          <p:cNvSpPr/>
          <p:nvPr/>
        </p:nvSpPr>
        <p:spPr>
          <a:xfrm>
            <a:off x="576000" y="1161360"/>
            <a:ext cx="10800000" cy="30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l" defTabSz="914400">
              <a:lnSpc>
                <a:spcPct val="100000"/>
              </a:lnSpc>
              <a:spcAft>
                <a:spcPts val="0"/>
              </a:spcAft>
            </a:pPr>
            <a:r>
              <a:rPr lang="en-US" sz="1600">
                <a:solidFill>
                  <a:srgbClr val="D7DDE8"/>
                </a:solidFill>
                <a:latin typeface="Noto Sans"/>
                <a:ea typeface="Noto Sans"/>
              </a:rPr>
              <a:t>StreamReader + StreamWriter turn connection callbacks into awaitable reads and writes.</a:t>
            </a:r>
            <a:endParaRPr lang="en-US" sz="1600"/>
          </a:p>
        </p:txBody>
      </p:sp>
      <p:sp>
        <p:nvSpPr>
          <p:cNvPr id="703" name="Application layer"/>
          <p:cNvSpPr/>
          <p:nvPr/>
        </p:nvSpPr>
        <p:spPr>
          <a:xfrm>
            <a:off x="650000" y="1600000"/>
            <a:ext cx="2250000" cy="6500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txBody>
          <a:bodyPr/>
          <a:p/>
        </p:txBody>
      </p:sp>
      <p:sp>
        <p:nvSpPr>
          <p:cNvPr id="704" name="Application text"/>
          <p:cNvSpPr/>
          <p:nvPr/>
        </p:nvSpPr>
        <p:spPr>
          <a:xfrm>
            <a:off x="760000" y="1780000"/>
            <a:ext cx="2030000" cy="2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0"/>
              </a:spcAft>
            </a:pPr>
            <a:r>
              <a:rPr lang="en-US" sz="1350" b="1">
                <a:solidFill>
                  <a:srgbClr val="F7F9FC"/>
                </a:solidFill>
                <a:latin typeface="Noto Sans"/>
                <a:ea typeface="Noto Sans"/>
              </a:rPr>
              <a:t>application coroutine</a:t>
            </a:r>
            <a:endParaRPr lang="en-US" sz="1350"/>
          </a:p>
        </p:txBody>
      </p:sp>
      <p:sp>
        <p:nvSpPr>
          <p:cNvPr id="705" name="Arrow one"/>
          <p:cNvSpPr/>
          <p:nvPr/>
        </p:nvSpPr>
        <p:spPr>
          <a:xfrm>
            <a:off x="2880000" y="1760000"/>
            <a:ext cx="330000" cy="3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0"/>
              </a:spcAft>
            </a:pPr>
            <a:r>
              <a:rPr lang="en-US" sz="2100" b="1">
                <a:solidFill>
                  <a:srgbClr val="667089"/>
                </a:solidFill>
                <a:latin typeface="Noto Sans"/>
                <a:ea typeface="Noto Sans"/>
              </a:rPr>
              <a:t>→</a:t>
            </a:r>
            <a:endParaRPr lang="en-US" sz="2100"/>
          </a:p>
        </p:txBody>
      </p:sp>
      <p:sp>
        <p:nvSpPr>
          <p:cNvPr id="706" name="Streams layer"/>
          <p:cNvSpPr/>
          <p:nvPr/>
        </p:nvSpPr>
        <p:spPr>
          <a:xfrm>
            <a:off x="3230000" y="1560000"/>
            <a:ext cx="2800000" cy="730000"/>
          </a:xfrm>
          <a:prstGeom prst="roundRect">
            <a:avLst>
              <a:gd name="adj" fmla="val 5000"/>
            </a:avLst>
          </a:prstGeom>
          <a:solidFill>
            <a:srgbClr val="133145"/>
          </a:solidFill>
          <a:ln w="25400">
            <a:solidFill>
              <a:srgbClr val="59D6E1"/>
            </a:solidFill>
          </a:ln>
        </p:spPr>
        <p:txBody>
          <a:bodyPr/>
          <a:p/>
        </p:txBody>
      </p:sp>
      <p:sp>
        <p:nvSpPr>
          <p:cNvPr id="707" name="Streams text"/>
          <p:cNvSpPr/>
          <p:nvPr/>
        </p:nvSpPr>
        <p:spPr>
          <a:xfrm>
            <a:off x="3370000" y="1690000"/>
            <a:ext cx="2520000" cy="4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0"/>
              </a:spcAft>
            </a:pPr>
            <a:r>
              <a:rPr lang="en-US" sz="1450" b="1">
                <a:solidFill>
                  <a:srgbClr val="59D6E1"/>
                </a:solidFill>
                <a:latin typeface="Noto Sans"/>
                <a:ea typeface="Noto Sans"/>
              </a:rPr>
              <a:t>StreamReader / StreamWriter</a:t>
            </a:r>
            <a:endParaRPr lang="en-US" sz="1450"/>
          </a:p>
        </p:txBody>
      </p:sp>
      <p:sp>
        <p:nvSpPr>
          <p:cNvPr id="708" name="Arrow two"/>
          <p:cNvSpPr/>
          <p:nvPr/>
        </p:nvSpPr>
        <p:spPr>
          <a:xfrm>
            <a:off x="6100000" y="1760000"/>
            <a:ext cx="330000" cy="3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0"/>
              </a:spcAft>
            </a:pPr>
            <a:r>
              <a:rPr lang="en-US" sz="2100" b="1">
                <a:solidFill>
                  <a:srgbClr val="667089"/>
                </a:solidFill>
                <a:latin typeface="Noto Sans"/>
                <a:ea typeface="Noto Sans"/>
              </a:rPr>
              <a:t>→</a:t>
            </a:r>
            <a:endParaRPr lang="en-US" sz="2100"/>
          </a:p>
        </p:txBody>
      </p:sp>
      <p:sp>
        <p:nvSpPr>
          <p:cNvPr id="709" name="Transport layer"/>
          <p:cNvSpPr/>
          <p:nvPr/>
        </p:nvSpPr>
        <p:spPr>
          <a:xfrm>
            <a:off x="6470000" y="1600000"/>
            <a:ext cx="2730000" cy="6500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txBody>
          <a:bodyPr/>
          <a:p/>
        </p:txBody>
      </p:sp>
      <p:sp>
        <p:nvSpPr>
          <p:cNvPr id="710" name="Transport text"/>
          <p:cNvSpPr/>
          <p:nvPr/>
        </p:nvSpPr>
        <p:spPr>
          <a:xfrm>
            <a:off x="6600000" y="1770000"/>
            <a:ext cx="2470000" cy="2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0"/>
              </a:spcAft>
            </a:pPr>
            <a:r>
              <a:rPr lang="en-US" sz="1350" b="1">
                <a:solidFill>
                  <a:srgbClr val="57D19C"/>
                </a:solidFill>
                <a:latin typeface="Noto Sans"/>
                <a:ea typeface="Noto Sans"/>
              </a:rPr>
              <a:t>Transport / Protocol</a:t>
            </a:r>
            <a:endParaRPr lang="en-US" sz="1350"/>
          </a:p>
        </p:txBody>
      </p:sp>
      <p:sp>
        <p:nvSpPr>
          <p:cNvPr id="711" name="Arrow three"/>
          <p:cNvSpPr/>
          <p:nvPr/>
        </p:nvSpPr>
        <p:spPr>
          <a:xfrm>
            <a:off x="9260000" y="1760000"/>
            <a:ext cx="330000" cy="3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0"/>
              </a:spcAft>
            </a:pPr>
            <a:r>
              <a:rPr lang="en-US" sz="2100" b="1">
                <a:solidFill>
                  <a:srgbClr val="667089"/>
                </a:solidFill>
                <a:latin typeface="Noto Sans"/>
                <a:ea typeface="Noto Sans"/>
              </a:rPr>
              <a:t>→</a:t>
            </a:r>
            <a:endParaRPr lang="en-US" sz="2100"/>
          </a:p>
        </p:txBody>
      </p:sp>
      <p:sp>
        <p:nvSpPr>
          <p:cNvPr id="712" name="Socket layer"/>
          <p:cNvSpPr/>
          <p:nvPr/>
        </p:nvSpPr>
        <p:spPr>
          <a:xfrm>
            <a:off x="9650000" y="1600000"/>
            <a:ext cx="1840000" cy="6500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txBody>
          <a:bodyPr/>
          <a:p/>
        </p:txBody>
      </p:sp>
      <p:sp>
        <p:nvSpPr>
          <p:cNvPr id="713" name="Socket text"/>
          <p:cNvSpPr/>
          <p:nvPr/>
        </p:nvSpPr>
        <p:spPr>
          <a:xfrm>
            <a:off x="9790000" y="1780000"/>
            <a:ext cx="1560000" cy="2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0"/>
              </a:spcAft>
            </a:pPr>
            <a:r>
              <a:rPr lang="en-US" sz="1350" b="1">
                <a:solidFill>
                  <a:srgbClr val="9AA6BA"/>
                </a:solidFill>
                <a:latin typeface="Noto Sans"/>
                <a:ea typeface="Noto Sans"/>
              </a:rPr>
              <a:t>socket</a:t>
            </a:r>
            <a:endParaRPr lang="en-US" sz="1350"/>
          </a:p>
        </p:txBody>
      </p:sp>
      <p:sp>
        <p:nvSpPr>
          <p:cNvPr id="714" name="Use streams card"/>
          <p:cNvSpPr/>
          <p:nvPr/>
        </p:nvSpPr>
        <p:spPr>
          <a:xfrm>
            <a:off x="567000" y="2570000"/>
            <a:ext cx="5350000" cy="29200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txBody>
          <a:bodyPr/>
          <a:p/>
        </p:txBody>
      </p:sp>
      <p:sp>
        <p:nvSpPr>
          <p:cNvPr id="715" name="Use streams label"/>
          <p:cNvSpPr/>
          <p:nvPr/>
        </p:nvSpPr>
        <p:spPr>
          <a:xfrm>
            <a:off x="850000" y="2790000"/>
            <a:ext cx="1940000" cy="390000"/>
          </a:xfrm>
          <a:prstGeom prst="roundRect">
            <a:avLst>
              <a:gd name="adj" fmla="val 5000"/>
            </a:avLst>
          </a:prstGeom>
          <a:solidFill>
            <a:srgbClr val="57D19C"/>
          </a:solidFill>
          <a:ln w="0">
            <a:noFill/>
          </a:ln>
        </p:spPr>
        <p:txBody>
          <a:bodyPr/>
          <a:p/>
        </p:txBody>
      </p:sp>
      <p:sp>
        <p:nvSpPr>
          <p:cNvPr id="716" name="Use streams label text"/>
          <p:cNvSpPr/>
          <p:nvPr/>
        </p:nvSpPr>
        <p:spPr>
          <a:xfrm>
            <a:off x="930000" y="2850000"/>
            <a:ext cx="1780000" cy="2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0"/>
              </a:spcAft>
            </a:pPr>
            <a:r>
              <a:rPr lang="en-US" sz="1100" b="1">
                <a:solidFill>
                  <a:srgbClr val="081020"/>
                </a:solidFill>
                <a:latin typeface="Noto Sans"/>
                <a:ea typeface="Noto Sans"/>
              </a:rPr>
              <a:t>USE STREAMS</a:t>
            </a:r>
            <a:endParaRPr lang="en-US" sz="1100"/>
          </a:p>
        </p:txBody>
      </p:sp>
      <p:sp>
        <p:nvSpPr>
          <p:cNvPr id="717" name="Use streams bullets"/>
          <p:cNvSpPr/>
          <p:nvPr/>
        </p:nvSpPr>
        <p:spPr>
          <a:xfrm>
            <a:off x="880000" y="3380000"/>
            <a:ext cx="4500000" cy="10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l" defTabSz="914400">
              <a:lnSpc>
                <a:spcPct val="100000"/>
              </a:lnSpc>
              <a:spcAft>
                <a:spcPts val="700"/>
              </a:spcAft>
            </a:pPr>
            <a:r>
              <a:rPr lang="en-US" sz="1450">
                <a:solidFill>
                  <a:srgbClr val="F7F9FC"/>
                </a:solidFill>
                <a:latin typeface="Noto Sans"/>
                <a:ea typeface="Noto Sans"/>
              </a:rPr>
              <a:t>•  TCP / Unix byte-stream connections</a:t>
            </a:r>
            <a:endParaRPr lang="en-US" sz="1450"/>
          </a:p>
          <a:p>
            <a:pPr algn="l" defTabSz="914400">
              <a:lnSpc>
                <a:spcPct val="100000"/>
              </a:lnSpc>
              <a:spcAft>
                <a:spcPts val="700"/>
              </a:spcAft>
            </a:pPr>
            <a:r>
              <a:rPr lang="en-US" sz="1450">
                <a:solidFill>
                  <a:srgbClr val="F7F9FC"/>
                </a:solidFill>
                <a:latin typeface="Noto Sans"/>
                <a:ea typeface="Noto Sans"/>
              </a:rPr>
              <a:t>•  Request/response, lines, delimiters, frames</a:t>
            </a:r>
            <a:endParaRPr lang="en-US" sz="1450"/>
          </a:p>
          <a:p>
            <a:pPr algn="l" defTabSz="914400">
              <a:lnSpc>
                <a:spcPct val="100000"/>
              </a:lnSpc>
              <a:spcAft>
                <a:spcPts val="0"/>
              </a:spcAft>
            </a:pPr>
            <a:r>
              <a:rPr lang="en-US" sz="1450">
                <a:solidFill>
                  <a:srgbClr val="F7F9FC"/>
                </a:solidFill>
                <a:latin typeface="Noto Sans"/>
                <a:ea typeface="Noto Sans"/>
              </a:rPr>
              <a:t>•  Familiar coroutine-style reads and writes</a:t>
            </a:r>
            <a:endParaRPr lang="en-US" sz="1450"/>
          </a:p>
        </p:txBody>
      </p:sp>
      <p:sp>
        <p:nvSpPr>
          <p:cNvPr id="718" name="Streams code panel"/>
          <p:cNvSpPr/>
          <p:nvPr/>
        </p:nvSpPr>
        <p:spPr>
          <a:xfrm>
            <a:off x="880000" y="4550000"/>
            <a:ext cx="4500000" cy="690000"/>
          </a:xfrm>
          <a:prstGeom prst="roundRect">
            <a:avLst>
              <a:gd name="adj" fmla="val 5000"/>
            </a:avLst>
          </a:prstGeom>
          <a:solidFill>
            <a:srgbClr val="0B1326"/>
          </a:solidFill>
          <a:ln w="0">
            <a:noFill/>
          </a:ln>
        </p:spPr>
        <p:txBody>
          <a:bodyPr/>
          <a:p/>
        </p:txBody>
      </p:sp>
      <p:sp>
        <p:nvSpPr>
          <p:cNvPr id="719" name="Streams code"/>
          <p:cNvSpPr/>
          <p:nvPr/>
        </p:nvSpPr>
        <p:spPr>
          <a:xfrm>
            <a:off x="1090000" y="4670000"/>
            <a:ext cx="410000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l" defTabSz="914400">
              <a:lnSpc>
                <a:spcPct val="100000"/>
              </a:lnSpc>
              <a:spcAft>
                <a:spcPts val="450"/>
              </a:spcAft>
            </a:pPr>
            <a:r>
              <a:rPr lang="en-US" sz="1250">
                <a:solidFill>
                  <a:srgbClr val="59D6E1"/>
                </a:solidFill>
                <a:latin typeface="Noto Sans Mono"/>
                <a:ea typeface="Noto Sans Mono"/>
              </a:rPr>
              <a:t>data = await reader.readexactly(n)</a:t>
            </a:r>
            <a:endParaRPr lang="en-US" sz="1250"/>
          </a:p>
          <a:p>
            <a:pPr algn="l" defTabSz="914400">
              <a:lnSpc>
                <a:spcPct val="100000"/>
              </a:lnSpc>
              <a:spcAft>
                <a:spcPts val="0"/>
              </a:spcAft>
            </a:pPr>
            <a:r>
              <a:rPr lang="en-US" sz="1250">
                <a:solidFill>
                  <a:srgbClr val="59D6E1"/>
                </a:solidFill>
                <a:latin typeface="Noto Sans Mono"/>
                <a:ea typeface="Noto Sans Mono"/>
              </a:rPr>
              <a:t>writer.write(data); await writer.drain()</a:t>
            </a:r>
            <a:endParaRPr lang="en-US" sz="1250"/>
          </a:p>
        </p:txBody>
      </p:sp>
      <p:sp>
        <p:nvSpPr>
          <p:cNvPr id="720" name="Lower level card"/>
          <p:cNvSpPr/>
          <p:nvPr/>
        </p:nvSpPr>
        <p:spPr>
          <a:xfrm>
            <a:off x="6270000" y="2570000"/>
            <a:ext cx="5350000" cy="29200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txBody>
          <a:bodyPr/>
          <a:p/>
        </p:txBody>
      </p:sp>
      <p:sp>
        <p:nvSpPr>
          <p:cNvPr id="721" name="Lower level label"/>
          <p:cNvSpPr/>
          <p:nvPr/>
        </p:nvSpPr>
        <p:spPr>
          <a:xfrm>
            <a:off x="6550000" y="2790000"/>
            <a:ext cx="2260000" cy="390000"/>
          </a:xfrm>
          <a:prstGeom prst="roundRect">
            <a:avLst>
              <a:gd name="adj" fmla="val 5000"/>
            </a:avLst>
          </a:prstGeom>
          <a:solidFill>
            <a:srgbClr val="FFD43B"/>
          </a:solidFill>
          <a:ln w="0">
            <a:noFill/>
          </a:ln>
        </p:spPr>
        <p:txBody>
          <a:bodyPr/>
          <a:p/>
        </p:txBody>
      </p:sp>
      <p:sp>
        <p:nvSpPr>
          <p:cNvPr id="722" name="Lower level label text"/>
          <p:cNvSpPr/>
          <p:nvPr/>
        </p:nvSpPr>
        <p:spPr>
          <a:xfrm>
            <a:off x="6630000" y="2850000"/>
            <a:ext cx="2100000" cy="2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0"/>
              </a:spcAft>
            </a:pPr>
            <a:r>
              <a:rPr lang="en-US" sz="1100" b="1">
                <a:solidFill>
                  <a:srgbClr val="081020"/>
                </a:solidFill>
                <a:latin typeface="Noto Sans"/>
                <a:ea typeface="Noto Sans"/>
              </a:rPr>
              <a:t>USE TRANSPORT / PROTOCOL</a:t>
            </a:r>
            <a:endParaRPr lang="en-US" sz="1100"/>
          </a:p>
        </p:txBody>
      </p:sp>
      <p:sp>
        <p:nvSpPr>
          <p:cNvPr id="723" name="Lower level bullets"/>
          <p:cNvSpPr/>
          <p:nvPr/>
        </p:nvSpPr>
        <p:spPr>
          <a:xfrm>
            <a:off x="6580000" y="3380000"/>
            <a:ext cx="4550000" cy="9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l" defTabSz="914400">
              <a:lnSpc>
                <a:spcPct val="100000"/>
              </a:lnSpc>
              <a:spcAft>
                <a:spcPts val="700"/>
              </a:spcAft>
            </a:pPr>
            <a:r>
              <a:rPr lang="en-US" sz="1450">
                <a:solidFill>
                  <a:srgbClr val="F7F9FC"/>
                </a:solidFill>
                <a:latin typeface="Noto Sans"/>
                <a:ea typeface="Noto Sans"/>
              </a:rPr>
              <a:t>•  Performance: no Future per I/O operation</a:t>
            </a:r>
            <a:endParaRPr lang="en-US" sz="1450"/>
          </a:p>
          <a:p>
            <a:pPr algn="l" defTabSz="914400">
              <a:lnSpc>
                <a:spcPct val="100000"/>
              </a:lnSpc>
              <a:spcAft>
                <a:spcPts val="700"/>
              </a:spcAft>
            </a:pPr>
            <a:r>
              <a:rPr lang="en-US" sz="1450">
                <a:solidFill>
                  <a:srgbClr val="F7F9FC"/>
                </a:solidFill>
                <a:latin typeface="Noto Sans"/>
                <a:ea typeface="Noto Sans"/>
              </a:rPr>
              <a:t>•  UDP / datagrams</a:t>
            </a:r>
            <a:endParaRPr lang="en-US" sz="1450"/>
          </a:p>
          <a:p>
            <a:pPr algn="l" defTabSz="914400">
              <a:lnSpc>
                <a:spcPct val="100000"/>
              </a:lnSpc>
              <a:spcAft>
                <a:spcPts val="0"/>
              </a:spcAft>
            </a:pPr>
            <a:r>
              <a:rPr lang="en-US" sz="1450">
                <a:solidFill>
                  <a:srgbClr val="F7F9FC"/>
                </a:solidFill>
                <a:latin typeface="Noto Sans"/>
                <a:ea typeface="Noto Sans"/>
              </a:rPr>
              <a:t>•  Own buffering, flow control, and lifecycle</a:t>
            </a:r>
            <a:endParaRPr lang="en-US" sz="1450"/>
          </a:p>
        </p:txBody>
      </p:sp>
      <p:sp>
        <p:nvSpPr>
          <p:cNvPr id="724" name="Lower choices panel"/>
          <p:cNvSpPr/>
          <p:nvPr/>
        </p:nvSpPr>
        <p:spPr>
          <a:xfrm>
            <a:off x="6580000" y="4550000"/>
            <a:ext cx="4550000" cy="690000"/>
          </a:xfrm>
          <a:prstGeom prst="roundRect">
            <a:avLst>
              <a:gd name="adj" fmla="val 5000"/>
            </a:avLst>
          </a:prstGeom>
          <a:solidFill>
            <a:srgbClr val="0B1326"/>
          </a:solidFill>
          <a:ln w="0">
            <a:noFill/>
          </a:ln>
        </p:spPr>
        <p:txBody>
          <a:bodyPr/>
          <a:p/>
        </p:txBody>
      </p:sp>
      <p:sp>
        <p:nvSpPr>
          <p:cNvPr id="725" name="Lower choices"/>
          <p:cNvSpPr/>
          <p:nvPr/>
        </p:nvSpPr>
        <p:spPr>
          <a:xfrm>
            <a:off x="6800000" y="4660000"/>
            <a:ext cx="4110000" cy="4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l" defTabSz="914400">
              <a:lnSpc>
                <a:spcPct val="100000"/>
              </a:lnSpc>
              <a:spcAft>
                <a:spcPts val="450"/>
              </a:spcAft>
            </a:pPr>
            <a:r>
              <a:rPr lang="en-US" sz="1250" b="1">
                <a:solidFill>
                  <a:srgbClr val="FFD43B"/>
                </a:solidFill>
                <a:latin typeface="Noto Sans"/>
                <a:ea typeface="Noto Sans"/>
              </a:rPr>
              <a:t>performance + control  →  Transport / Protocol</a:t>
            </a:r>
            <a:endParaRPr lang="en-US" sz="1250"/>
          </a:p>
          <a:p>
            <a:pPr algn="l" defTabSz="914400">
              <a:lnSpc>
                <a:spcPct val="100000"/>
              </a:lnSpc>
              <a:spcAft>
                <a:spcPts val="0"/>
              </a:spcAft>
            </a:pPr>
            <a:r>
              <a:rPr lang="en-US" sz="1250" b="1">
                <a:solidFill>
                  <a:srgbClr val="FFD43B"/>
                </a:solidFill>
                <a:latin typeface="Noto Sans"/>
                <a:ea typeface="Noto Sans"/>
              </a:rPr>
              <a:t>loop.sock_*  →  migration from blocking sockets</a:t>
            </a:r>
            <a:endParaRPr lang="en-US" sz="1250"/>
          </a:p>
        </p:txBody>
      </p:sp>
      <p:sp>
        <p:nvSpPr>
          <p:cNvPr id="726" name="Takeaway bar"/>
          <p:cNvSpPr/>
          <p:nvPr/>
        </p:nvSpPr>
        <p:spPr>
          <a:xfrm>
            <a:off x="1200000" y="5740000"/>
            <a:ext cx="9790000" cy="6100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txBody>
          <a:bodyPr/>
          <a:p/>
        </p:txBody>
      </p:sp>
      <p:sp>
        <p:nvSpPr>
          <p:cNvPr id="727" name="Takeaway"/>
          <p:cNvSpPr/>
          <p:nvPr/>
        </p:nvSpPr>
        <p:spPr>
          <a:xfrm>
            <a:off x="1450000" y="5870000"/>
            <a:ext cx="9290000" cy="3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0"/>
              </a:spcAft>
            </a:pPr>
            <a:r>
              <a:rPr lang="en-US" sz="1600" b="1">
                <a:solidFill>
                  <a:srgbClr val="59D6E1"/>
                </a:solidFill>
                <a:latin typeface="Noto Sans"/>
                <a:ea typeface="Noto Sans"/>
              </a:rPr>
              <a:t>Streams for convenience. Transport / Protocol when performance or control matters.</a:t>
            </a:r>
            <a:endParaRPr lang="en-US" sz="1600"/>
          </a:p>
        </p:txBody>
      </p:sp>
      <p:sp>
        <p:nvSpPr>
          <p:cNvPr id="728" name="Slide number"/>
          <p:cNvSpPr/>
          <p:nvPr/>
        </p:nvSpPr>
        <p:spPr>
          <a:xfrm>
            <a:off x="11777400" y="6492240"/>
            <a:ext cx="226080" cy="198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l" defTabSz="914400">
              <a:lnSpc>
                <a:spcPct val="100000"/>
              </a:lnSpc>
              <a:spcAft>
                <a:spcPts val="0"/>
              </a:spcAft>
            </a:pPr>
            <a:r>
              <a:rPr lang="en-US" sz="800">
                <a:solidFill>
                  <a:srgbClr val="667089"/>
                </a:solidFill>
                <a:latin typeface="Noto Sans"/>
                <a:ea typeface="Noto Sans"/>
              </a:rPr>
              <a:t>18</a:t>
            </a:r>
            <a:endParaRPr lang="en-US" sz="800"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" pitchFamily="0" charset="1"/>
        <a:ea typeface=""/>
        <a:cs typeface=""/>
      </a:majorFont>
      <a:minorFont>
        <a:latin typeface="Noto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550</TotalTime>
  <Application>LibreOffice/26.2.5.2$Linux_X86_64 LibreOffice_project/6d2b0d33fb0f5da53a12f98bed3e9973e56ff1f0</Application>
  <AppVersion>15.0000</AppVersion>
  <Words>0</Words>
  <Paragraphs>0</Paragraphs>
  <Company>PyCon NL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2026-09-22T10:00:55Z</dcterms:created>
  <dc:creator>OpenAI</dc:creator>
  <dc:description/>
  <dc:language>en-US</dc:language>
  <cp:lastModifiedBy/>
  <dcterms:modified xsi:type="dcterms:W3CDTF">2026-10-14T20:21:16Z</dcterms:modified>
  <cp:revision>43</cp:revision>
  <dc:subject>What's Inside an asyncio Event Loop?</dc:subject>
  <dc:title>What's Inside an asyncio Event Loop?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19</vt:i4>
  </property>
  <property fmtid="{D5CDD505-2E9C-101B-9397-08002B2CF9AE}" pid="3" name="PresentationFormat">
    <vt:lpwstr>On-screen Show (16:9)</vt:lpwstr>
  </property>
  <property fmtid="{D5CDD505-2E9C-101B-9397-08002B2CF9AE}" pid="4" name="Slides">
    <vt:i4>19</vt:i4>
  </property>
</Properties>
</file>