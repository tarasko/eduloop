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D9ED7C4-3F26-45F2-9143-BB22F807359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(~30s)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goal is not to teach async/await syntax. We will temporarily forget async/await and build the machinery underneath it from small, understandable pieces. By the time Tasks and networking appear, they should feel inevitable rather than magical.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narrow the discussion to asyncio. At its core, the event loop has only a few basic responsibilities.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call_soon puts callback work into the ready queue. call_later manages callbacks that should become ready in the future. add_reader and add_writer register I/O readiness interest. run_forever repeatedly performs one loop iteration until stop is requested.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real signatures have some extra details, but these are the essential pieces.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few slides build these functions one by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 with the smallest thing that deserves to be called an event loop. call_soon just appends a callback and its arguments to a deque. run_forever repeatedly takes the next item and calls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the mental model, deliberately omit lifecycle details such as stop(): they are trivial compared with the scheduling mechanism we want to understand.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 this point there is no async/await, no Tasks, no sockets — just callbacks.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obvious problem is that when the ready queue is empty this implementation busy-spins. We will fix that gradually.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add timers. call_later calculates an absolute deadline using monotonic time and pushes the callback into a min-heap.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iteration checks the heap. Every timer whose deadline has passed is removed and moved into the same ready queue that call_soon uses. Then we execute the ready callbacks.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is nothing ready, we can now avoid busy-spinning: look at the earliest timer and sleep until that deadline.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an important step because timers do not create a separate execution mechanism. They only decide when a callback becomes ready.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now we are ready for the next problem: time.sleep knows only about time, but an event loop also needs to wake for I/O.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Next add timers. call_later calculates an absolute deadline using monotonic time and pushes the callback into a min-heap.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iteration checks the heap. Every timer whose deadline has passed is removed and moved into the same ready queue that call_soon uses. Then we execute the ready callbacks.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there is nothing ready, we can now avoid busy-spinning: look at the earliest timer and sleep until that deadline.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an important step because timers do not create a separate execution mechanism. They only decide when a callback becomes ready.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now we are ready for the next problem: time.sleep knows only about time, but an event loop also needs to wake for I/O.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narrative hinge. time.sleep knows only time. If the next timer is 8 seconds away but a socket receives a packet after 2 ms, sleep cannot wake early.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replace “sleep until timeout” with “wait for I/O, but no longer than timeout”. That is exactly the service a selector provides.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add I/O registration. add_reader and add_writer associate a file descriptor plus an event mask with the callback that should become runnable when the descriptor is ready.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implementation on the slide is deliberately small but handles the important case where the same fd may be watched for both reading and writing: update the combined selector mask and keep a callback per event.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selector.select(timeout) is the blocking point. It returns either because an fd became ready or because the timer-derived timeout expired.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select/poll/epoll/kqueue only as examples of the same readiness abstraction; do not dive into their differences.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add I/O registration. add_reader and add_writer associate a file descriptor plus an event mask with the callback that should become runnable when the descriptor is ready.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implementation on the slide is deliberately small but handles the important case where the same fd may be watched for both reading and writing: update the combined selector mask and keep a callback per event.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selector.select(timeout) is the blocking point. It returns either because an fd became ready or because the timer-derived timeout expired.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select/poll/epoll/kqueue only as examples of the same readiness abstraction; do not dive into their differences.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add I/O registration. add_reader and add_writer associate a file descriptor plus an event mask with the callback that should become runnable when the descriptor is ready.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implementation on the slide is deliberately small but handles the important case where the same fd may be watched for both reading and writing: update the combined selector mask and keep a callback per event.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 selector.select(timeout) is the blocking point. It returns either because an fd became ready or because the timer-derived timeout expired.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select/poll/epoll/kqueue only as examples of the same readiness abstraction; do not dive into their differences.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slide to dwell on. The exact CPython implementation has cancellation cleanup, clock resolution handling, debug timing, etc., but conceptually the loop does these four things.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subtlety: run a snapshot/current batch of ready callbacks, not an unbounded loop over callbacks appended by callbacks. Newly scheduled callbacks generally wait for the next iteration.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~30s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Pause and emphasize this. Nothing about an event loop inherently requires coroutines. libevent, GUI loops, Node's internals, and old-school async code can all be callback-driven.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introduce coroutines as a control-flow abstraction layered on top of the callback scheduler.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direct answer to “how do you actually pause and resume a coroutine?”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coroutine itself contains `await future`. Python enters Future.__await__(). If the Future is not done, that method executes `yield self`. That yield is what gives control back to the coroutine driver.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first coro.send(None) therefore runs conversation() until the Future yields itself. Later we mark the Future done and send None again. Execution continues inside Future.__await__(), which returns the stored result; that becomes the value of the await expression.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example mutates private fields only to keep this slide focused. The next slide introduces the public completion API: set_result(), set_exception(), and add_done_callback().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conversation() finally returns, send(None) raises StopIteration to its driver; mention this only if useful.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introduce the Future API that replaces the private field manipulation from the previous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add_done_callback(cb): somebody can register interest in completion. A Task will use this to arrange its own resumption.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set_result(value) and set_exception(exc) are the two important ways to complete the Future.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key connection back to our event loop: asyncio schedules Future done callbacks through loop.call_soon rather than invoking them inline. So Future completion simply creates normal ready-queue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conceptual; cancellation and other production details are deliberately omitted.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Now the three pieces join together. A Task owns a coroutine. Its step callback calls coro.send(None).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the coroutine reaches `await future`, Future.__await__() yields that Future back to Task.step(). The Task registers wakeup as a done callback and stops doing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When the Future completes, Future schedules wakeup through loop.call_soon. Because wakeup itself is now an event-loop callback, it can immediately drive the coroutine again by calling step().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Notice the important detail from slide 10: we send None when resuming. Future.__await__() returns its stored result internally, so that value becomes the result of the await expression.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pseudocode intentionally ignores cancellation and exception injection. The payoff slide next shows the whole cycle.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~2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conceptual reveal. Trace one complete cycle from an I/O event to the next await.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 precise: Futures and Tasks are attached to / use an event loop; they are not literally disconnected. The useful architectural point is that the event-loop iteration does not need to understand Python coroutine control flow. It executes scheduled callbacks; Task/Future machinery converts coroutine suspension/resumption into those callbacks.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networking map for a SelectorEventLoop. At the center are readiness callbacks: add_reader() and add_writer(). One layer out there are two paths. Transport/Protocol is created through create_connection()/create_server(). The sock_* coroutines are a parallel path that works directly with non-blocking sockets. Streams are built on the Transport/Protocol path: open_connection() uses create_connection(), and start_server() uses create_server(). Later I will qualify the center for Windows, where ProactorEventLoop uses IOCP completion operations instead.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Keep this concrete. Protocol is the application-facing callback object; Transport abstracts the channel and exposes write/control methods. The event loop constructs them together.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Mention flow control only briefly if time allows. BufferedProtocol is appendix material, not part of the main path.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audience probably uses Streams. The useful architectural fact is that loop.sock_* gives a separate coroutine-facing path for working with non-blocking socket objects directly.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claim that sock_* is always faster; the current docs explicitly say transport-based APIs are generally faster than direct socket implementations, though direct sockets can be convenient.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~1.5 min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the caveat to our selector-based construction. We built a reactor: readiness arrives, then code performs I/O. Windows' default ProactorEventLoop uses IOCP/completion-style mechanisms, so add_reader/add_writer are not supported.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high-level Task/Future/callback mental model still helps, but the bottom I/O mechanism is different.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Backup / Q&amp;A only. This topic matches a performance-oriented audience but costs too much main-talk time. Use it if someone asks about lower-level protocol performance or receive-buffer allocation.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9240" cy="478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561320" y="6492240"/>
            <a:ext cx="114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rPr>
              <a:t>PyCon NL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662577-E841-45CF-8C16-DAE9EF9D8159}" type="slidenum">
              <a: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2189240" cy="4788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Text 1"/>
          <p:cNvSpPr/>
          <p:nvPr/>
        </p:nvSpPr>
        <p:spPr>
          <a:xfrm>
            <a:off x="10561320" y="6492240"/>
            <a:ext cx="1140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rPr>
              <a:t>PyCon NL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sldNum" idx="2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7AE55D-D61E-4C6E-BBEE-00348C3319B3}" type="slidenum">
              <a:rPr lang="en-US" sz="900" b="0" u="none" strike="noStrike">
                <a:solidFill>
                  <a:srgbClr val="6F7A93"/>
                </a:solidFill>
                <a:effectLst/>
                <a:uFillTx/>
                <a:latin typeface="Noto Sans"/>
                <a:ea typeface="Noto Sans"/>
              </a:rPr>
              <a:t>&lt;number&gt;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028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280" cy="3975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685800" y="1225440"/>
            <a:ext cx="10742760" cy="357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What's inside an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asyncio event loop?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sldNum" idx="6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Box 59"/>
          <p:cNvSpPr/>
          <p:nvPr/>
        </p:nvSpPr>
        <p:spPr>
          <a:xfrm>
            <a:off x="9547560" y="5943600"/>
            <a:ext cx="21096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Taras Kozlov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PyCon NL 2026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 label"/>
          <p:cNvSpPr/>
          <p:nvPr/>
        </p:nvSpPr>
        <p:spPr>
          <a:xfrm>
            <a:off x="567000" y="384120"/>
            <a:ext cx="2376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 · ASYNCIO MODULE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itle"/>
          <p:cNvSpPr/>
          <p:nvPr/>
        </p:nvSpPr>
        <p:spPr>
          <a:xfrm>
            <a:off x="567000" y="658440"/>
            <a:ext cx="813672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asyncio: more than an event loop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ubtitle"/>
          <p:cNvSpPr/>
          <p:nvPr/>
        </p:nvSpPr>
        <p:spPr>
          <a:xfrm>
            <a:off x="567000" y="1216080"/>
            <a:ext cx="10788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6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High-level coordination around a loop that owns the operating-system-facing work.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Tasks spoke"/>
          <p:cNvCxnSpPr/>
          <p:nvPr/>
        </p:nvCxnSpPr>
        <p:spPr>
          <a:xfrm>
            <a:off x="3584160" y="2322360"/>
            <a:ext cx="303480" cy="17532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25" name="Orchestration spoke"/>
          <p:cNvCxnSpPr/>
          <p:nvPr/>
        </p:nvCxnSpPr>
        <p:spPr>
          <a:xfrm>
            <a:off x="3584160" y="3712320"/>
            <a:ext cx="303480" cy="144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26" name="Synchronization spoke"/>
          <p:cNvCxnSpPr/>
          <p:nvPr/>
        </p:nvCxnSpPr>
        <p:spPr>
          <a:xfrm flipV="1">
            <a:off x="3584160" y="4846320"/>
            <a:ext cx="303480" cy="25740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27" name="Distribution spoke"/>
          <p:cNvCxnSpPr/>
          <p:nvPr/>
        </p:nvCxnSpPr>
        <p:spPr>
          <a:xfrm flipV="1">
            <a:off x="8302680" y="2322360"/>
            <a:ext cx="312120" cy="17532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28" name="Lifecycle spoke"/>
          <p:cNvCxnSpPr/>
          <p:nvPr/>
        </p:nvCxnSpPr>
        <p:spPr>
          <a:xfrm>
            <a:off x="8302680" y="3712320"/>
            <a:ext cx="312120" cy="144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29" name="Insight spoke"/>
          <p:cNvCxnSpPr/>
          <p:nvPr/>
        </p:nvCxnSpPr>
        <p:spPr>
          <a:xfrm>
            <a:off x="8302680" y="4846320"/>
            <a:ext cx="312120" cy="25740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sp>
        <p:nvSpPr>
          <p:cNvPr id="30" name="Event loop hub"/>
          <p:cNvSpPr/>
          <p:nvPr/>
        </p:nvSpPr>
        <p:spPr>
          <a:xfrm>
            <a:off x="3886200" y="1828800"/>
            <a:ext cx="4415040" cy="3199320"/>
          </a:xfrm>
          <a:prstGeom prst="roundRect">
            <a:avLst>
              <a:gd name="adj" fmla="val 11000"/>
            </a:avLst>
          </a:prstGeom>
          <a:solidFill>
            <a:srgbClr val="111A2E"/>
          </a:solidFill>
          <a:ln w="25400">
            <a:solidFill>
              <a:srgbClr val="FFD43B"/>
            </a:solidFill>
            <a:round/>
          </a:ln>
          <a:effectLst>
            <a:outerShdw algn="ctr" blurRad="76320" dir="5400000" dist="255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37160" tIns="164520" rIns="137160" bIns="2743200" anchor="t">
            <a:noAutofit/>
          </a:bodyPr>
          <a:p>
            <a:pPr algn="ctr">
              <a:lnSpc>
                <a:spcPct val="100000"/>
              </a:lnSpc>
              <a:spcAft>
                <a:spcPts val="349"/>
              </a:spcAft>
            </a:pPr>
            <a:r>
              <a:rPr lang="en-US" sz="12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EVENT LOOP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WAIT · SCHEDULE · DISPATCH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Callbacks"/>
          <p:cNvSpPr/>
          <p:nvPr/>
        </p:nvSpPr>
        <p:spPr>
          <a:xfrm>
            <a:off x="4553640" y="2779920"/>
            <a:ext cx="114156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CALLBACKS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imers"/>
          <p:cNvSpPr/>
          <p:nvPr/>
        </p:nvSpPr>
        <p:spPr>
          <a:xfrm>
            <a:off x="5833800" y="2779920"/>
            <a:ext cx="93132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TIMERS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IO"/>
          <p:cNvSpPr/>
          <p:nvPr/>
        </p:nvSpPr>
        <p:spPr>
          <a:xfrm>
            <a:off x="6903720" y="2779920"/>
            <a:ext cx="71172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I/O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ransports"/>
          <p:cNvSpPr/>
          <p:nvPr/>
        </p:nvSpPr>
        <p:spPr>
          <a:xfrm>
            <a:off x="6136200" y="3886200"/>
            <a:ext cx="159912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5DE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TRANSPORTS / STREAMS </a:t>
            </a: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FACTORY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Executors"/>
          <p:cNvSpPr/>
          <p:nvPr/>
        </p:nvSpPr>
        <p:spPr>
          <a:xfrm>
            <a:off x="5422320" y="4435200"/>
            <a:ext cx="124200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B28CFF"/>
                </a:solidFill>
                <a:effectLst/>
                <a:uFillTx/>
                <a:latin typeface="Noto Sans"/>
              </a:rPr>
              <a:t>EXECUTORS BRIDGE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asks and futures"/>
          <p:cNvSpPr/>
          <p:nvPr/>
        </p:nvSpPr>
        <p:spPr>
          <a:xfrm>
            <a:off x="567000" y="182880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TASKS &amp; FUTURES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Task · Future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cancellation · context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Orchestration"/>
          <p:cNvSpPr/>
          <p:nvPr/>
        </p:nvSpPr>
        <p:spPr>
          <a:xfrm>
            <a:off x="567000" y="321876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ORCHESTRATION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TaskGroup · gather · wait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as_completed · timeout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ynchronization"/>
          <p:cNvSpPr/>
          <p:nvPr/>
        </p:nvSpPr>
        <p:spPr>
          <a:xfrm>
            <a:off x="567000" y="460872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63D7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63D7E3"/>
                </a:solidFill>
                <a:effectLst/>
                <a:uFillTx/>
                <a:latin typeface="Noto Sans"/>
              </a:rPr>
              <a:t>SYNCHRONIZATION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Lock · Event · Semaphore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Condition · Barrier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Work distribution"/>
          <p:cNvSpPr/>
          <p:nvPr/>
        </p:nvSpPr>
        <p:spPr>
          <a:xfrm>
            <a:off x="8613720" y="182880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5DE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WORK DISTRIBUTION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Queue · PriorityQueue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rogram lifecycle"/>
          <p:cNvSpPr/>
          <p:nvPr/>
        </p:nvSpPr>
        <p:spPr>
          <a:xfrm>
            <a:off x="8613720" y="321876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B28CFF"/>
                </a:solidFill>
                <a:effectLst/>
                <a:uFillTx/>
                <a:latin typeface="Noto Sans"/>
              </a:rPr>
              <a:t>PROGRAM LIFECYCLE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run · Runner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loop factory · shutdown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Observability"/>
          <p:cNvSpPr/>
          <p:nvPr/>
        </p:nvSpPr>
        <p:spPr>
          <a:xfrm>
            <a:off x="8613720" y="4608720"/>
            <a:ext cx="3016080" cy="9860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OBSERVABILITY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81"/>
              </a:spcAft>
            </a:pPr>
            <a:r>
              <a:rPr lang="en-US" sz="1100" b="0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current_task · all_tasks · debug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stacks · call graphs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Callbacks 1"/>
          <p:cNvSpPr/>
          <p:nvPr/>
        </p:nvSpPr>
        <p:spPr>
          <a:xfrm>
            <a:off x="5989320" y="3284280"/>
            <a:ext cx="182844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FUTURE / TASK FACTORY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Callbacks 2"/>
          <p:cNvSpPr/>
          <p:nvPr/>
        </p:nvSpPr>
        <p:spPr>
          <a:xfrm>
            <a:off x="4769640" y="3284640"/>
            <a:ext cx="114156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SIGNALS HANDLING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ransports 1"/>
          <p:cNvSpPr/>
          <p:nvPr/>
        </p:nvSpPr>
        <p:spPr>
          <a:xfrm>
            <a:off x="4552560" y="3886560"/>
            <a:ext cx="1425960" cy="364320"/>
          </a:xfrm>
          <a:prstGeom prst="roundRect">
            <a:avLst>
              <a:gd name="adj" fmla="val 45000"/>
            </a:avLst>
          </a:prstGeom>
          <a:solidFill>
            <a:srgbClr val="0B1020"/>
          </a:solidFill>
          <a:ln w="10160">
            <a:solidFill>
              <a:srgbClr val="5DE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tIns="0" rIns="4572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ASYNC SOCKET OPS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Orchestration 1"/>
          <p:cNvSpPr/>
          <p:nvPr/>
        </p:nvSpPr>
        <p:spPr>
          <a:xfrm>
            <a:off x="3840840" y="5413680"/>
            <a:ext cx="1873080" cy="7574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TRANSPORTS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rogram lifecycle 1"/>
          <p:cNvSpPr/>
          <p:nvPr/>
        </p:nvSpPr>
        <p:spPr>
          <a:xfrm>
            <a:off x="6126840" y="5414400"/>
            <a:ext cx="1873080" cy="757440"/>
          </a:xfrm>
          <a:prstGeom prst="roundRect">
            <a:avLst>
              <a:gd name="adj" fmla="val 14000"/>
            </a:avLst>
          </a:prstGeom>
          <a:solidFill>
            <a:srgbClr val="111A2E"/>
          </a:solidFill>
          <a:ln w="1524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1240" tIns="73080" rIns="146160" bIns="54720" anchor="ctr">
            <a:noAutofit/>
          </a:bodyPr>
          <a:p>
            <a:pPr>
              <a:lnSpc>
                <a:spcPct val="100000"/>
              </a:lnSpc>
              <a:spcAft>
                <a:spcPts val="550"/>
              </a:spcAft>
            </a:pPr>
            <a:r>
              <a:rPr lang="en-US" sz="1100" b="1" u="none" strike="noStrike">
                <a:solidFill>
                  <a:srgbClr val="B28CFF"/>
                </a:solidFill>
                <a:effectLst/>
                <a:uFillTx/>
                <a:latin typeface="Noto Sans"/>
              </a:rPr>
              <a:t>STREAMS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Synchronization spoke 1"/>
          <p:cNvCxnSpPr/>
          <p:nvPr/>
        </p:nvCxnSpPr>
        <p:spPr>
          <a:xfrm flipH="1" flipV="1">
            <a:off x="4664520" y="5028480"/>
            <a:ext cx="15840" cy="39708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  <p:cxnSp>
        <p:nvCxnSpPr>
          <p:cNvPr id="48" name="Synchronization spoke 2"/>
          <p:cNvCxnSpPr/>
          <p:nvPr/>
        </p:nvCxnSpPr>
        <p:spPr>
          <a:xfrm flipH="1" flipV="1">
            <a:off x="6788520" y="5028840"/>
            <a:ext cx="15840" cy="397080"/>
          </a:xfrm>
          <a:prstGeom prst="straightConnector1">
            <a:avLst/>
          </a:prstGeom>
          <a:ln w="12700">
            <a:solidFill>
              <a:srgbClr val="3A5A78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ection label"/>
          <p:cNvSpPr/>
          <p:nvPr/>
        </p:nvSpPr>
        <p:spPr>
          <a:xfrm>
            <a:off x="567000" y="384120"/>
            <a:ext cx="2193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2 · ASYNCIO LOOP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itle"/>
          <p:cNvSpPr/>
          <p:nvPr/>
        </p:nvSpPr>
        <p:spPr>
          <a:xfrm>
            <a:off x="567000" y="658440"/>
            <a:ext cx="7679880" cy="47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asyncio event loop at a glance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ubtitle"/>
          <p:cNvSpPr/>
          <p:nvPr/>
        </p:nvSpPr>
        <p:spPr>
          <a:xfrm>
            <a:off x="612720" y="1225440"/>
            <a:ext cx="877716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large API — but only a small part of it is fundamental.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Loop API surface"/>
          <p:cNvSpPr/>
          <p:nvPr/>
        </p:nvSpPr>
        <p:spPr>
          <a:xfrm>
            <a:off x="658440" y="1856160"/>
            <a:ext cx="6783840" cy="3473640"/>
          </a:xfrm>
          <a:prstGeom prst="roundRect">
            <a:avLst>
              <a:gd name="adj" fmla="val 11000"/>
            </a:avLst>
          </a:prstGeom>
          <a:solidFill>
            <a:srgbClr val="111A2E"/>
          </a:solidFill>
          <a:ln w="1524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5960" tIns="109800" rIns="255960" bIns="9144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Loop API surface label"/>
          <p:cNvSpPr/>
          <p:nvPr/>
        </p:nvSpPr>
        <p:spPr>
          <a:xfrm>
            <a:off x="1024200" y="2112120"/>
            <a:ext cx="210204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LOOP API SURFACE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ocket operations"/>
          <p:cNvSpPr/>
          <p:nvPr/>
        </p:nvSpPr>
        <p:spPr>
          <a:xfrm>
            <a:off x="1024200" y="2441520"/>
            <a:ext cx="132480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63D7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63D7E3"/>
                </a:solidFill>
                <a:effectLst/>
                <a:uFillTx/>
                <a:latin typeface="Noto Sans"/>
              </a:rPr>
              <a:t>SOCKET OPS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DNS"/>
          <p:cNvSpPr/>
          <p:nvPr/>
        </p:nvSpPr>
        <p:spPr>
          <a:xfrm>
            <a:off x="2487240" y="2441520"/>
            <a:ext cx="74880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63D7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63D7E3"/>
                </a:solidFill>
                <a:effectLst/>
                <a:uFillTx/>
                <a:latin typeface="Noto Sans"/>
              </a:rPr>
              <a:t>DNS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ignals"/>
          <p:cNvSpPr/>
          <p:nvPr/>
        </p:nvSpPr>
        <p:spPr>
          <a:xfrm>
            <a:off x="3374280" y="2441520"/>
            <a:ext cx="95904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63D7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63D7E3"/>
                </a:solidFill>
                <a:effectLst/>
                <a:uFillTx/>
                <a:latin typeface="Noto Sans"/>
              </a:rPr>
              <a:t>SIGNALS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ubprocesses"/>
          <p:cNvSpPr/>
          <p:nvPr/>
        </p:nvSpPr>
        <p:spPr>
          <a:xfrm>
            <a:off x="4471560" y="2441520"/>
            <a:ext cx="138888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B28CFF"/>
                </a:solidFill>
                <a:effectLst/>
                <a:uFillTx/>
                <a:latin typeface="Noto Sans"/>
              </a:rPr>
              <a:t>SUBPROCESSES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Executors"/>
          <p:cNvSpPr/>
          <p:nvPr/>
        </p:nvSpPr>
        <p:spPr>
          <a:xfrm>
            <a:off x="5998320" y="2441520"/>
            <a:ext cx="109620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B28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B28CFF"/>
                </a:solidFill>
                <a:effectLst/>
                <a:uFillTx/>
                <a:latin typeface="Noto Sans"/>
              </a:rPr>
              <a:t>EXECUTORS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ransports"/>
          <p:cNvSpPr/>
          <p:nvPr/>
        </p:nvSpPr>
        <p:spPr>
          <a:xfrm>
            <a:off x="1417320" y="2999160"/>
            <a:ext cx="118764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5DE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TRANSPORTS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treams"/>
          <p:cNvSpPr/>
          <p:nvPr/>
        </p:nvSpPr>
        <p:spPr>
          <a:xfrm>
            <a:off x="2743200" y="2999160"/>
            <a:ext cx="98640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5DE0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5DE0AE"/>
                </a:solidFill>
                <a:effectLst/>
                <a:uFillTx/>
                <a:latin typeface="Noto Sans"/>
              </a:rPr>
              <a:t>STREAMS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Runtime"/>
          <p:cNvSpPr/>
          <p:nvPr/>
        </p:nvSpPr>
        <p:spPr>
          <a:xfrm>
            <a:off x="3867840" y="2999160"/>
            <a:ext cx="96804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RUNTIME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Diagnostics"/>
          <p:cNvSpPr/>
          <p:nvPr/>
        </p:nvSpPr>
        <p:spPr>
          <a:xfrm>
            <a:off x="4974480" y="2999160"/>
            <a:ext cx="1260720" cy="38304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1016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720" tIns="109800" rIns="36720" bIns="9144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DIAGNOSTICS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Built on"/>
          <p:cNvSpPr/>
          <p:nvPr/>
        </p:nvSpPr>
        <p:spPr>
          <a:xfrm>
            <a:off x="2743200" y="3502080"/>
            <a:ext cx="26049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100" b="1" u="none" strike="noStrike">
                <a:solidFill>
                  <a:srgbClr val="7F8AA3"/>
                </a:solidFill>
                <a:effectLst/>
                <a:uFillTx/>
                <a:latin typeface="Noto Sans"/>
              </a:rPr>
              <a:t>BUILT 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Fundamental core"/>
          <p:cNvSpPr/>
          <p:nvPr/>
        </p:nvSpPr>
        <p:spPr>
          <a:xfrm>
            <a:off x="1261800" y="3822120"/>
            <a:ext cx="5576760" cy="1141920"/>
          </a:xfrm>
          <a:prstGeom prst="roundRect">
            <a:avLst>
              <a:gd name="adj" fmla="val 11000"/>
            </a:avLst>
          </a:prstGeom>
          <a:solidFill>
            <a:srgbClr val="0E1628"/>
          </a:solidFill>
          <a:ln w="254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64520" tIns="109800" rIns="164520" bIns="91440" anchor="ctr">
            <a:noAutofit/>
          </a:bodyPr>
          <a:p>
            <a:pPr algn="ctr">
              <a:lnSpc>
                <a:spcPct val="100000"/>
              </a:lnSpc>
              <a:spcAft>
                <a:spcPts val="451"/>
              </a:spcAft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FUNDAMENTAL 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CALLBACKS  ·  TIMERS  ·  I/O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one iteration at a time:  run_once()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API versus core"/>
          <p:cNvSpPr/>
          <p:nvPr/>
        </p:nvSpPr>
        <p:spPr>
          <a:xfrm>
            <a:off x="7717680" y="1856160"/>
            <a:ext cx="3747960" cy="3473640"/>
          </a:xfrm>
          <a:prstGeom prst="roundRect">
            <a:avLst>
              <a:gd name="adj" fmla="val 11000"/>
            </a:avLst>
          </a:prstGeom>
          <a:solidFill>
            <a:srgbClr val="111A2E"/>
          </a:solidFill>
          <a:ln w="1524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9040" tIns="109800" rIns="329040" bIns="91440" anchor="ctr">
            <a:no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US" sz="39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&gt;50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public methods 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AbstractEventLoop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49"/>
              </a:spcAft>
            </a:pPr>
            <a:r>
              <a:rPr lang="en-US" sz="3000" b="1" u="none" strike="noStrike">
                <a:solidFill>
                  <a:srgbClr val="63D7E3"/>
                </a:solidFill>
                <a:effectLst/>
                <a:uFillTx/>
                <a:latin typeface="Noto Sans"/>
              </a:rPr>
              <a:t>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fundamental mechanisms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AEB8CC"/>
                </a:solidFill>
                <a:effectLst/>
                <a:uFillTx/>
                <a:latin typeface="Noto Sans"/>
              </a:rPr>
              <a:t>callbacks · timers · I/O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6" name="Comparison divider"/>
          <p:cNvCxnSpPr/>
          <p:nvPr/>
        </p:nvCxnSpPr>
        <p:spPr>
          <a:xfrm>
            <a:off x="8128800" y="3812760"/>
            <a:ext cx="2927160" cy="1080"/>
          </a:xfrm>
          <a:prstGeom prst="straightConnector1">
            <a:avLst/>
          </a:prstGeom>
          <a:ln w="12700">
            <a:solidFill>
              <a:srgbClr val="53627C"/>
            </a:solidFill>
            <a:round/>
          </a:ln>
        </p:spPr>
      </p:cxnSp>
      <p:sp>
        <p:nvSpPr>
          <p:cNvPr id="67" name="Constraints label"/>
          <p:cNvSpPr/>
          <p:nvPr/>
        </p:nvSpPr>
        <p:spPr>
          <a:xfrm>
            <a:off x="685800" y="5724000"/>
            <a:ext cx="19656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IMPORTANT CONSTRAINTS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One thread"/>
          <p:cNvSpPr/>
          <p:nvPr/>
        </p:nvSpPr>
        <p:spPr>
          <a:xfrm>
            <a:off x="2788920" y="5687640"/>
            <a:ext cx="20563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119"/>
              </a:spcAft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ONE THREAD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cooperative scheduling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hread safety"/>
          <p:cNvSpPr/>
          <p:nvPr/>
        </p:nvSpPr>
        <p:spPr>
          <a:xfrm>
            <a:off x="5074920" y="5687640"/>
            <a:ext cx="31536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119"/>
              </a:spcAft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NOT GENERALLY THREAD-SAFE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cross-thread → call_soon_threadsafe()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No preemption"/>
          <p:cNvSpPr/>
          <p:nvPr/>
        </p:nvSpPr>
        <p:spPr>
          <a:xfrm>
            <a:off x="8412480" y="5687640"/>
            <a:ext cx="30621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119"/>
              </a:spcAft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NO PREEMPTION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blocking code blocks the loop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567000" y="347400"/>
            <a:ext cx="49352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2 · THE 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asyncio event loop: the core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621720" y="1234440"/>
            <a:ext cx="106959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At its lowest useful level, the loop manages callbacks, timers, and I/O readiness.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4"/>
          <p:cNvSpPr/>
          <p:nvPr/>
        </p:nvSpPr>
        <p:spPr>
          <a:xfrm>
            <a:off x="685800" y="1874520"/>
            <a:ext cx="2283840" cy="13874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4B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914400" y="2057400"/>
            <a:ext cx="218304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call_soon(callback,*)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914400" y="2624400"/>
            <a:ext cx="1826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</a:rPr>
              <a:t>READY QUEUE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914400" y="2898720"/>
            <a:ext cx="21830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FIFO queue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8"/>
          <p:cNvSpPr/>
          <p:nvPr/>
        </p:nvSpPr>
        <p:spPr>
          <a:xfrm>
            <a:off x="3200400" y="1874520"/>
            <a:ext cx="2658240" cy="13874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3321000" y="2039040"/>
            <a:ext cx="2537640" cy="17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call_later(delay,callback,*)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3321000" y="2624400"/>
            <a:ext cx="2183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TIMER HEAP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3321000" y="2898720"/>
            <a:ext cx="21830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ordered by deadline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ounded Rectangle 12"/>
          <p:cNvSpPr/>
          <p:nvPr/>
        </p:nvSpPr>
        <p:spPr>
          <a:xfrm>
            <a:off x="6007680" y="1874520"/>
            <a:ext cx="2905560" cy="13874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57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6172200" y="2039040"/>
            <a:ext cx="274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add_reader(fd, callback, *)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add_writer(fd, callback, *)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6172200" y="2590200"/>
            <a:ext cx="21830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57D19C"/>
                </a:solidFill>
                <a:effectLst/>
                <a:uFillTx/>
                <a:latin typeface="Noto Sans"/>
              </a:rPr>
              <a:t>I/O REGISTRATION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6172200" y="2898720"/>
            <a:ext cx="21830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wait for readiness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16"/>
          <p:cNvSpPr/>
          <p:nvPr/>
        </p:nvSpPr>
        <p:spPr>
          <a:xfrm>
            <a:off x="9144000" y="1874520"/>
            <a:ext cx="2036520" cy="13874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9372600" y="2039040"/>
            <a:ext cx="164340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run_forever()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14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stop()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8"/>
          <p:cNvSpPr/>
          <p:nvPr/>
        </p:nvSpPr>
        <p:spPr>
          <a:xfrm>
            <a:off x="9327240" y="2624400"/>
            <a:ext cx="1643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B89CFF"/>
                </a:solidFill>
                <a:effectLst/>
                <a:uFillTx/>
                <a:latin typeface="Noto Sans"/>
              </a:rPr>
              <a:t>LOOP CONTROL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8832960" y="2898720"/>
            <a:ext cx="21830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repeat run_once()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0"/>
          <p:cNvSpPr/>
          <p:nvPr/>
        </p:nvSpPr>
        <p:spPr>
          <a:xfrm>
            <a:off x="685800" y="3611880"/>
            <a:ext cx="10513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Everything converges on one simple operation: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21"/>
          <p:cNvSpPr/>
          <p:nvPr/>
        </p:nvSpPr>
        <p:spPr>
          <a:xfrm>
            <a:off x="1938600" y="4005000"/>
            <a:ext cx="8300160" cy="1186200"/>
          </a:xfrm>
          <a:prstGeom prst="roundRect">
            <a:avLst>
              <a:gd name="adj" fmla="val 16667"/>
            </a:avLst>
          </a:prstGeom>
          <a:solidFill>
            <a:srgbClr val="0A0F1D"/>
          </a:solidFill>
          <a:ln w="12700">
            <a:solidFill>
              <a:srgbClr val="4B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92" name="TextBox 22"/>
          <p:cNvSpPr/>
          <p:nvPr/>
        </p:nvSpPr>
        <p:spPr>
          <a:xfrm>
            <a:off x="2240280" y="4233600"/>
            <a:ext cx="769680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run_once()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3"/>
          <p:cNvSpPr/>
          <p:nvPr/>
        </p:nvSpPr>
        <p:spPr>
          <a:xfrm>
            <a:off x="2240280" y="4617720"/>
            <a:ext cx="76968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collect work that became ready  →  run the callbacks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4"/>
          <p:cNvSpPr/>
          <p:nvPr/>
        </p:nvSpPr>
        <p:spPr>
          <a:xfrm>
            <a:off x="2057400" y="5596200"/>
            <a:ext cx="8089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Let's have a closer look at these pieces.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Num" idx="7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25"/>
          <p:cNvSpPr/>
          <p:nvPr/>
        </p:nvSpPr>
        <p:spPr>
          <a:xfrm>
            <a:off x="567000" y="347400"/>
            <a:ext cx="49352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3 · CALLBACKS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6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The smallest possible event loop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7"/>
          <p:cNvSpPr/>
          <p:nvPr/>
        </p:nvSpPr>
        <p:spPr>
          <a:xfrm>
            <a:off x="621720" y="1234440"/>
            <a:ext cx="106959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It begins with only two ideas: enqueue a callback, then keep executing callbacks from the queue.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30"/>
          <p:cNvSpPr/>
          <p:nvPr/>
        </p:nvSpPr>
        <p:spPr>
          <a:xfrm>
            <a:off x="7113960" y="1847160"/>
            <a:ext cx="4158000" cy="105804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0" name="TextBox 31"/>
          <p:cNvSpPr/>
          <p:nvPr/>
        </p:nvSpPr>
        <p:spPr>
          <a:xfrm>
            <a:off x="7360920" y="2011680"/>
            <a:ext cx="15976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READY QUEUE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32"/>
          <p:cNvSpPr/>
          <p:nvPr/>
        </p:nvSpPr>
        <p:spPr>
          <a:xfrm>
            <a:off x="7360920" y="2359080"/>
            <a:ext cx="911880" cy="344880"/>
          </a:xfrm>
          <a:prstGeom prst="roundRect">
            <a:avLst>
              <a:gd name="adj" fmla="val 16667"/>
            </a:avLst>
          </a:prstGeom>
          <a:solidFill>
            <a:srgbClr val="4B8BBE"/>
          </a:solidFill>
          <a:ln w="12700">
            <a:solidFill>
              <a:srgbClr val="4B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2" name="TextBox 33"/>
          <p:cNvSpPr/>
          <p:nvPr/>
        </p:nvSpPr>
        <p:spPr>
          <a:xfrm>
            <a:off x="7360920" y="2432160"/>
            <a:ext cx="9118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cb₁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34"/>
          <p:cNvSpPr/>
          <p:nvPr/>
        </p:nvSpPr>
        <p:spPr>
          <a:xfrm>
            <a:off x="8503920" y="2359080"/>
            <a:ext cx="911880" cy="344880"/>
          </a:xfrm>
          <a:prstGeom prst="roundRect">
            <a:avLst>
              <a:gd name="adj" fmla="val 16667"/>
            </a:avLst>
          </a:prstGeom>
          <a:solidFill>
            <a:srgbClr val="57D19C"/>
          </a:solidFill>
          <a:ln w="12700">
            <a:solidFill>
              <a:srgbClr val="57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TextBox 35"/>
          <p:cNvSpPr/>
          <p:nvPr/>
        </p:nvSpPr>
        <p:spPr>
          <a:xfrm>
            <a:off x="8503920" y="2432160"/>
            <a:ext cx="9118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cb₂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36"/>
          <p:cNvSpPr/>
          <p:nvPr/>
        </p:nvSpPr>
        <p:spPr>
          <a:xfrm>
            <a:off x="9646920" y="2359080"/>
            <a:ext cx="911880" cy="344880"/>
          </a:xfrm>
          <a:prstGeom prst="roundRect">
            <a:avLst>
              <a:gd name="adj" fmla="val 16667"/>
            </a:avLst>
          </a:prstGeom>
          <a:solidFill>
            <a:srgbClr val="B89CFF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TextBox 37"/>
          <p:cNvSpPr/>
          <p:nvPr/>
        </p:nvSpPr>
        <p:spPr>
          <a:xfrm>
            <a:off x="9646920" y="2432160"/>
            <a:ext cx="9118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cb₃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590760" y="1705320"/>
            <a:ext cx="6036480" cy="4723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Num" idx="8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567000" y="347400"/>
            <a:ext cx="49352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4 · TIMERS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We need timers too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7"/>
          <p:cNvSpPr/>
          <p:nvPr/>
        </p:nvSpPr>
        <p:spPr>
          <a:xfrm>
            <a:off x="621720" y="1234440"/>
            <a:ext cx="106959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callback that must be run after some time. A min-heap keeps the earliest callback on top.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30"/>
          <p:cNvSpPr/>
          <p:nvPr/>
        </p:nvSpPr>
        <p:spPr>
          <a:xfrm>
            <a:off x="7772400" y="1856160"/>
            <a:ext cx="33350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MIN-HEAP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ounded Rectangle 31"/>
          <p:cNvSpPr/>
          <p:nvPr/>
        </p:nvSpPr>
        <p:spPr>
          <a:xfrm>
            <a:off x="9070920" y="22402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FFD43B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14" name="TextBox 32"/>
          <p:cNvSpPr/>
          <p:nvPr/>
        </p:nvSpPr>
        <p:spPr>
          <a:xfrm>
            <a:off x="9070920" y="2368440"/>
            <a:ext cx="710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1.2s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33"/>
          <p:cNvSpPr/>
          <p:nvPr/>
        </p:nvSpPr>
        <p:spPr>
          <a:xfrm>
            <a:off x="8092440" y="31546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4B8BBE"/>
          </a:solidFill>
          <a:ln w="12700">
            <a:solidFill>
              <a:srgbClr val="4B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16" name="TextBox 34"/>
          <p:cNvSpPr/>
          <p:nvPr/>
        </p:nvSpPr>
        <p:spPr>
          <a:xfrm>
            <a:off x="8092440" y="3282840"/>
            <a:ext cx="710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3.7s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35"/>
          <p:cNvSpPr/>
          <p:nvPr/>
        </p:nvSpPr>
        <p:spPr>
          <a:xfrm>
            <a:off x="10040040" y="31546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57D19C"/>
          </a:solidFill>
          <a:ln w="12700">
            <a:solidFill>
              <a:srgbClr val="57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18" name="TextBox 36"/>
          <p:cNvSpPr/>
          <p:nvPr/>
        </p:nvSpPr>
        <p:spPr>
          <a:xfrm>
            <a:off x="10040040" y="3282840"/>
            <a:ext cx="710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2.4s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37"/>
          <p:cNvSpPr/>
          <p:nvPr/>
        </p:nvSpPr>
        <p:spPr>
          <a:xfrm>
            <a:off x="7708320" y="40690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B89CFF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TextBox 38"/>
          <p:cNvSpPr/>
          <p:nvPr/>
        </p:nvSpPr>
        <p:spPr>
          <a:xfrm>
            <a:off x="7708320" y="4197240"/>
            <a:ext cx="710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8.0s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39"/>
          <p:cNvSpPr/>
          <p:nvPr/>
        </p:nvSpPr>
        <p:spPr>
          <a:xfrm>
            <a:off x="8568000" y="40690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B89CFF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TextBox 40"/>
          <p:cNvSpPr/>
          <p:nvPr/>
        </p:nvSpPr>
        <p:spPr>
          <a:xfrm>
            <a:off x="8568000" y="4197240"/>
            <a:ext cx="7106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5.1s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3" name="Connector 41"/>
          <p:cNvCxnSpPr/>
          <p:nvPr/>
        </p:nvCxnSpPr>
        <p:spPr>
          <a:xfrm flipH="1">
            <a:off x="8448840" y="2743200"/>
            <a:ext cx="981000" cy="414000"/>
          </a:xfrm>
          <a:prstGeom prst="straightConnector1">
            <a:avLst/>
          </a:prstGeom>
          <a:ln w="17780">
            <a:solidFill>
              <a:srgbClr val="8292A2"/>
            </a:solidFill>
            <a:round/>
          </a:ln>
        </p:spPr>
      </p:cxnSp>
      <p:cxnSp>
        <p:nvCxnSpPr>
          <p:cNvPr id="124" name="Connector 42"/>
          <p:cNvCxnSpPr/>
          <p:nvPr/>
        </p:nvCxnSpPr>
        <p:spPr>
          <a:xfrm>
            <a:off x="9427320" y="2743200"/>
            <a:ext cx="971640" cy="414000"/>
          </a:xfrm>
          <a:prstGeom prst="straightConnector1">
            <a:avLst/>
          </a:prstGeom>
          <a:ln w="17780">
            <a:solidFill>
              <a:srgbClr val="8292A2"/>
            </a:solidFill>
            <a:round/>
          </a:ln>
        </p:spPr>
      </p:cxnSp>
      <p:cxnSp>
        <p:nvCxnSpPr>
          <p:cNvPr id="125" name="Connector 43"/>
          <p:cNvCxnSpPr/>
          <p:nvPr/>
        </p:nvCxnSpPr>
        <p:spPr>
          <a:xfrm flipH="1">
            <a:off x="8064720" y="3657600"/>
            <a:ext cx="386640" cy="414000"/>
          </a:xfrm>
          <a:prstGeom prst="straightConnector1">
            <a:avLst/>
          </a:prstGeom>
          <a:ln w="15240">
            <a:solidFill>
              <a:srgbClr val="8292A2"/>
            </a:solidFill>
            <a:round/>
          </a:ln>
        </p:spPr>
      </p:cxnSp>
      <p:cxnSp>
        <p:nvCxnSpPr>
          <p:cNvPr id="126" name="Connector 44"/>
          <p:cNvCxnSpPr/>
          <p:nvPr/>
        </p:nvCxnSpPr>
        <p:spPr>
          <a:xfrm>
            <a:off x="8448840" y="3657600"/>
            <a:ext cx="478080" cy="414000"/>
          </a:xfrm>
          <a:prstGeom prst="straightConnector1">
            <a:avLst/>
          </a:prstGeom>
          <a:ln w="15240">
            <a:solidFill>
              <a:srgbClr val="8292A2"/>
            </a:solidFill>
            <a:round/>
          </a:ln>
        </p:spPr>
      </p:cxnSp>
      <p:cxnSp>
        <p:nvCxnSpPr>
          <p:cNvPr id="127" name="Connector 45"/>
          <p:cNvCxnSpPr/>
          <p:nvPr/>
        </p:nvCxnSpPr>
        <p:spPr>
          <a:xfrm>
            <a:off x="9427320" y="4736520"/>
            <a:ext cx="2520" cy="368280"/>
          </a:xfrm>
          <a:prstGeom prst="straightConnector1">
            <a:avLst/>
          </a:prstGeom>
          <a:ln w="20320">
            <a:solidFill>
              <a:srgbClr val="8292A2"/>
            </a:solidFill>
            <a:round/>
          </a:ln>
        </p:spPr>
      </p:cxn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562320" y="1972080"/>
            <a:ext cx="6697080" cy="305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Num" idx="9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567000" y="347400"/>
            <a:ext cx="493524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4 · TIMERS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6"/>
          <p:cNvSpPr/>
          <p:nvPr/>
        </p:nvSpPr>
        <p:spPr>
          <a:xfrm>
            <a:off x="567000" y="640080"/>
            <a:ext cx="1087884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We need timers too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1"/>
          <p:cNvSpPr/>
          <p:nvPr/>
        </p:nvSpPr>
        <p:spPr>
          <a:xfrm>
            <a:off x="621720" y="1234440"/>
            <a:ext cx="1069596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callback that must be run after some time. A min-heap keeps the earliest deadline on top.</a:t>
            </a:r>
            <a:endParaRPr lang="en-US" sz="1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45"/>
          <p:cNvSpPr/>
          <p:nvPr/>
        </p:nvSpPr>
        <p:spPr>
          <a:xfrm>
            <a:off x="7772400" y="1856160"/>
            <a:ext cx="333504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MIN-HEAP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9070920" y="22402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FFD43B"/>
          </a:solidFill>
          <a:ln w="12700"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35" name="TextBox 50"/>
          <p:cNvSpPr/>
          <p:nvPr/>
        </p:nvSpPr>
        <p:spPr>
          <a:xfrm>
            <a:off x="9070920" y="2368440"/>
            <a:ext cx="710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1.2s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9"/>
          <p:cNvSpPr/>
          <p:nvPr/>
        </p:nvSpPr>
        <p:spPr>
          <a:xfrm>
            <a:off x="8092440" y="31546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4B8BBE"/>
          </a:solidFill>
          <a:ln w="12700">
            <a:solidFill>
              <a:srgbClr val="4B8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37" name="TextBox 51"/>
          <p:cNvSpPr/>
          <p:nvPr/>
        </p:nvSpPr>
        <p:spPr>
          <a:xfrm>
            <a:off x="8092440" y="3282840"/>
            <a:ext cx="710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3.7s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0"/>
          <p:cNvSpPr/>
          <p:nvPr/>
        </p:nvSpPr>
        <p:spPr>
          <a:xfrm>
            <a:off x="10040040" y="31546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57D19C"/>
          </a:solidFill>
          <a:ln w="12700">
            <a:solidFill>
              <a:srgbClr val="57D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39" name="TextBox 52"/>
          <p:cNvSpPr/>
          <p:nvPr/>
        </p:nvSpPr>
        <p:spPr>
          <a:xfrm>
            <a:off x="10040040" y="3282840"/>
            <a:ext cx="710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0B1020"/>
                </a:solidFill>
                <a:effectLst/>
                <a:uFillTx/>
                <a:latin typeface="Noto Sans"/>
              </a:rPr>
              <a:t>2.4s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11"/>
          <p:cNvSpPr/>
          <p:nvPr/>
        </p:nvSpPr>
        <p:spPr>
          <a:xfrm>
            <a:off x="7708320" y="40690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B89CFF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41" name="TextBox 54"/>
          <p:cNvSpPr/>
          <p:nvPr/>
        </p:nvSpPr>
        <p:spPr>
          <a:xfrm>
            <a:off x="7708320" y="4197240"/>
            <a:ext cx="710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8.0s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13"/>
          <p:cNvSpPr/>
          <p:nvPr/>
        </p:nvSpPr>
        <p:spPr>
          <a:xfrm>
            <a:off x="8568000" y="4069080"/>
            <a:ext cx="710640" cy="500400"/>
          </a:xfrm>
          <a:prstGeom prst="roundRect">
            <a:avLst>
              <a:gd name="adj" fmla="val 16667"/>
            </a:avLst>
          </a:prstGeom>
          <a:solidFill>
            <a:srgbClr val="B89CFF"/>
          </a:solidFill>
          <a:ln w="12700">
            <a:solidFill>
              <a:srgbClr val="B8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43" name="TextBox 56"/>
          <p:cNvSpPr/>
          <p:nvPr/>
        </p:nvSpPr>
        <p:spPr>
          <a:xfrm>
            <a:off x="8568000" y="4197240"/>
            <a:ext cx="710640" cy="17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5.1s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nector 6"/>
          <p:cNvCxnSpPr/>
          <p:nvPr/>
        </p:nvCxnSpPr>
        <p:spPr>
          <a:xfrm flipH="1">
            <a:off x="8448840" y="2743200"/>
            <a:ext cx="981000" cy="414000"/>
          </a:xfrm>
          <a:prstGeom prst="straightConnector1">
            <a:avLst/>
          </a:prstGeom>
          <a:ln w="17780">
            <a:solidFill>
              <a:srgbClr val="8292A2"/>
            </a:solidFill>
            <a:round/>
          </a:ln>
        </p:spPr>
      </p:cxnSp>
      <p:cxnSp>
        <p:nvCxnSpPr>
          <p:cNvPr id="145" name="Connector 7"/>
          <p:cNvCxnSpPr/>
          <p:nvPr/>
        </p:nvCxnSpPr>
        <p:spPr>
          <a:xfrm>
            <a:off x="9427320" y="2743200"/>
            <a:ext cx="971640" cy="414000"/>
          </a:xfrm>
          <a:prstGeom prst="straightConnector1">
            <a:avLst/>
          </a:prstGeom>
          <a:ln w="17780">
            <a:solidFill>
              <a:srgbClr val="8292A2"/>
            </a:solidFill>
            <a:round/>
          </a:ln>
        </p:spPr>
      </p:cxnSp>
      <p:cxnSp>
        <p:nvCxnSpPr>
          <p:cNvPr id="146" name="Connector 8"/>
          <p:cNvCxnSpPr/>
          <p:nvPr/>
        </p:nvCxnSpPr>
        <p:spPr>
          <a:xfrm flipH="1">
            <a:off x="8064720" y="3657600"/>
            <a:ext cx="386640" cy="414000"/>
          </a:xfrm>
          <a:prstGeom prst="straightConnector1">
            <a:avLst/>
          </a:prstGeom>
          <a:ln w="15240">
            <a:solidFill>
              <a:srgbClr val="8292A2"/>
            </a:solidFill>
            <a:round/>
          </a:ln>
        </p:spPr>
      </p:cxnSp>
      <p:cxnSp>
        <p:nvCxnSpPr>
          <p:cNvPr id="147" name="Connector 9"/>
          <p:cNvCxnSpPr/>
          <p:nvPr/>
        </p:nvCxnSpPr>
        <p:spPr>
          <a:xfrm>
            <a:off x="8448840" y="3657600"/>
            <a:ext cx="478080" cy="414000"/>
          </a:xfrm>
          <a:prstGeom prst="straightConnector1">
            <a:avLst/>
          </a:prstGeom>
          <a:ln w="15240">
            <a:solidFill>
              <a:srgbClr val="8292A2"/>
            </a:solidFill>
            <a:round/>
          </a:ln>
        </p:spPr>
      </p:cxnSp>
      <p:cxnSp>
        <p:nvCxnSpPr>
          <p:cNvPr id="148" name="Connector 10"/>
          <p:cNvCxnSpPr/>
          <p:nvPr/>
        </p:nvCxnSpPr>
        <p:spPr>
          <a:xfrm>
            <a:off x="9427320" y="4736520"/>
            <a:ext cx="2520" cy="368280"/>
          </a:xfrm>
          <a:prstGeom prst="straightConnector1">
            <a:avLst/>
          </a:prstGeom>
          <a:ln w="20320">
            <a:solidFill>
              <a:srgbClr val="8292A2"/>
            </a:solidFill>
            <a:round/>
          </a:ln>
        </p:spPr>
      </p:cxnSp>
      <p:sp>
        <p:nvSpPr>
          <p:cNvPr id="149" name="Down Arrow 2"/>
          <p:cNvSpPr/>
          <p:nvPr/>
        </p:nvSpPr>
        <p:spPr>
          <a:xfrm>
            <a:off x="9198720" y="4736880"/>
            <a:ext cx="454680" cy="40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D43B"/>
          </a:solidFill>
          <a:ln>
            <a:solidFill>
              <a:srgbClr val="FFD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TextBox 58"/>
          <p:cNvSpPr/>
          <p:nvPr/>
        </p:nvSpPr>
        <p:spPr>
          <a:xfrm>
            <a:off x="7772400" y="5486400"/>
            <a:ext cx="3243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expired timers → ready queue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1" name=""/>
          <p:cNvPicPr/>
          <p:nvPr/>
        </p:nvPicPr>
        <p:blipFill>
          <a:blip r:embed="rId1"/>
          <a:stretch/>
        </p:blipFill>
        <p:spPr>
          <a:xfrm>
            <a:off x="533880" y="1905480"/>
            <a:ext cx="6550560" cy="469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5 · I/O CHANGES THE PROBLEM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Sleep only knows about time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621720" y="1225440"/>
            <a:ext cx="10878840" cy="41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We want to sleep until the next timer… unless a socket becomes ready first.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"/>
          <p:cNvSpPr/>
          <p:nvPr/>
        </p:nvSpPr>
        <p:spPr>
          <a:xfrm>
            <a:off x="1005840" y="3108960"/>
            <a:ext cx="10012680" cy="360"/>
          </a:xfrm>
          <a:prstGeom prst="line">
            <a:avLst/>
          </a:prstGeom>
          <a:ln w="38100">
            <a:solidFill>
              <a:srgbClr val="2A35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"/>
          <p:cNvSpPr/>
          <p:nvPr/>
        </p:nvSpPr>
        <p:spPr>
          <a:xfrm>
            <a:off x="1847160" y="2917080"/>
            <a:ext cx="381600" cy="381600"/>
          </a:xfrm>
          <a:prstGeom prst="ellipse">
            <a:avLst/>
          </a:prstGeom>
          <a:solidFill>
            <a:srgbClr val="5CE1E6"/>
          </a:solidFill>
          <a:ln w="12700">
            <a:solidFill>
              <a:srgbClr val="5C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5"/>
          <p:cNvSpPr/>
          <p:nvPr/>
        </p:nvSpPr>
        <p:spPr>
          <a:xfrm>
            <a:off x="1636920" y="3401640"/>
            <a:ext cx="7290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F9AB3"/>
                </a:solidFill>
                <a:effectLst/>
                <a:uFillTx/>
                <a:latin typeface="Noto Sans"/>
                <a:ea typeface="Noto Sans"/>
              </a:rPr>
              <a:t>now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6"/>
          <p:cNvSpPr/>
          <p:nvPr/>
        </p:nvSpPr>
        <p:spPr>
          <a:xfrm>
            <a:off x="9655920" y="2816280"/>
            <a:ext cx="600840" cy="60084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"/>
          <p:cNvSpPr/>
          <p:nvPr/>
        </p:nvSpPr>
        <p:spPr>
          <a:xfrm>
            <a:off x="9655920" y="2967120"/>
            <a:ext cx="6008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timer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9272160" y="3502080"/>
            <a:ext cx="1369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next timer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5733360" y="2816280"/>
            <a:ext cx="600840" cy="600840"/>
          </a:xfrm>
          <a:prstGeom prst="ellipse">
            <a:avLst/>
          </a:prstGeom>
          <a:solidFill>
            <a:srgbClr val="57D19C"/>
          </a:solidFill>
          <a:ln w="12700">
            <a:solidFill>
              <a:srgbClr val="57D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5733360" y="2967120"/>
            <a:ext cx="6008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I/O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5294520" y="3502080"/>
            <a:ext cx="15519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D19C"/>
                </a:solidFill>
                <a:effectLst/>
                <a:uFillTx/>
                <a:latin typeface="Noto Sans"/>
                <a:ea typeface="Noto Sans"/>
              </a:rPr>
              <a:t>socket ready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2"/>
          <p:cNvSpPr/>
          <p:nvPr/>
        </p:nvSpPr>
        <p:spPr>
          <a:xfrm>
            <a:off x="2304000" y="2432160"/>
            <a:ext cx="7123320" cy="360"/>
          </a:xfrm>
          <a:prstGeom prst="line">
            <a:avLst/>
          </a:prstGeom>
          <a:ln w="35560">
            <a:solidFill>
              <a:srgbClr val="FF6B6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4096440" y="1993320"/>
            <a:ext cx="301500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B5B5"/>
                </a:solidFill>
                <a:effectLst/>
                <a:uFillTx/>
                <a:latin typeface="Noto Sans"/>
                <a:ea typeface="Noto Sans"/>
              </a:rPr>
              <a:t>time.sleep(8.5s)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4"/>
          <p:cNvSpPr/>
          <p:nvPr/>
        </p:nvSpPr>
        <p:spPr>
          <a:xfrm>
            <a:off x="1920240" y="4617720"/>
            <a:ext cx="8958600" cy="866160"/>
          </a:xfrm>
          <a:prstGeom prst="roundRect">
            <a:avLst>
              <a:gd name="adj" fmla="val 14737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5"/>
          <p:cNvSpPr/>
          <p:nvPr/>
        </p:nvSpPr>
        <p:spPr>
          <a:xfrm>
            <a:off x="2240280" y="4855320"/>
            <a:ext cx="831852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We need a “sleep” that can be interrupted by I/O readiness.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1"/>
          <p:cNvSpPr>
            <a:spLocks noGrp="1"/>
          </p:cNvSpPr>
          <p:nvPr>
            <p:ph type="sldNum" idx="10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6 · READINESS I/O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Selectors: register file descriptor for readiness event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11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2" name=""/>
          <p:cNvPicPr/>
          <p:nvPr/>
        </p:nvPicPr>
        <p:blipFill>
          <a:blip r:embed="rId1"/>
          <a:stretch/>
        </p:blipFill>
        <p:spPr>
          <a:xfrm>
            <a:off x="600480" y="1209960"/>
            <a:ext cx="9455760" cy="537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27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6 · READINESS I/O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Selectors: sleep until next timer or I/O event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sldNum" idx="12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466920" y="1171800"/>
            <a:ext cx="8222400" cy="52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29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6 · READINESS I/O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0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Selectors: sleep until next timer or I/O event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sldNum" idx="13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0" name=""/>
          <p:cNvPicPr/>
          <p:nvPr/>
        </p:nvPicPr>
        <p:blipFill>
          <a:blip r:embed="rId1"/>
          <a:stretch/>
        </p:blipFill>
        <p:spPr>
          <a:xfrm>
            <a:off x="514800" y="1267200"/>
            <a:ext cx="8062560" cy="5362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7 · PUT THE PIECES TOGETHER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sldNum" idx="14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8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57200" y="640080"/>
            <a:ext cx="77688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Selectors: run_once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1"/>
          <a:stretch/>
        </p:blipFill>
        <p:spPr>
          <a:xfrm>
            <a:off x="457200" y="1200600"/>
            <a:ext cx="7543800" cy="549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8 · CALLBACK EVENT LOOP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So far: zero async / await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621720" y="1243440"/>
            <a:ext cx="676404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We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alrea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dy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have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a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usefu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l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event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-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drive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n 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runti</a:t>
            </a:r>
            <a:r>
              <a:rPr lang="en-US" sz="20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me.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822960" y="1901880"/>
            <a:ext cx="5072400" cy="600840"/>
          </a:xfrm>
          <a:prstGeom prst="roundRect">
            <a:avLst>
              <a:gd name="adj" fmla="val 21212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4"/>
          <p:cNvSpPr/>
          <p:nvPr/>
        </p:nvSpPr>
        <p:spPr>
          <a:xfrm>
            <a:off x="1051560" y="2048400"/>
            <a:ext cx="2054880" cy="308520"/>
          </a:xfrm>
          <a:prstGeom prst="roundRect">
            <a:avLst>
              <a:gd name="adj" fmla="val 47059"/>
            </a:avLst>
          </a:prstGeom>
          <a:solidFill>
            <a:srgbClr val="4B8BBE"/>
          </a:solidFill>
          <a:ln w="1270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5"/>
          <p:cNvSpPr/>
          <p:nvPr/>
        </p:nvSpPr>
        <p:spPr>
          <a:xfrm>
            <a:off x="1097280" y="2107800"/>
            <a:ext cx="1963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call_soon()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6"/>
          <p:cNvSpPr/>
          <p:nvPr/>
        </p:nvSpPr>
        <p:spPr>
          <a:xfrm>
            <a:off x="3401640" y="2048400"/>
            <a:ext cx="20091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ready queue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"/>
          <p:cNvSpPr/>
          <p:nvPr/>
        </p:nvSpPr>
        <p:spPr>
          <a:xfrm>
            <a:off x="822960" y="2743200"/>
            <a:ext cx="5072400" cy="600840"/>
          </a:xfrm>
          <a:prstGeom prst="roundRect">
            <a:avLst>
              <a:gd name="adj" fmla="val 21212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8"/>
          <p:cNvSpPr/>
          <p:nvPr/>
        </p:nvSpPr>
        <p:spPr>
          <a:xfrm>
            <a:off x="1051560" y="2889360"/>
            <a:ext cx="2054880" cy="308520"/>
          </a:xfrm>
          <a:prstGeom prst="roundRect">
            <a:avLst>
              <a:gd name="adj" fmla="val 47059"/>
            </a:avLst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1097280" y="2949120"/>
            <a:ext cx="1963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call_later()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3401640" y="2889360"/>
            <a:ext cx="20091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timer heap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1"/>
          <p:cNvSpPr/>
          <p:nvPr/>
        </p:nvSpPr>
        <p:spPr>
          <a:xfrm>
            <a:off x="822960" y="3584520"/>
            <a:ext cx="5072400" cy="600840"/>
          </a:xfrm>
          <a:prstGeom prst="roundRect">
            <a:avLst>
              <a:gd name="adj" fmla="val 21212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2"/>
          <p:cNvSpPr/>
          <p:nvPr/>
        </p:nvSpPr>
        <p:spPr>
          <a:xfrm>
            <a:off x="1051560" y="3730680"/>
            <a:ext cx="2054880" cy="308520"/>
          </a:xfrm>
          <a:prstGeom prst="roundRect">
            <a:avLst>
              <a:gd name="adj" fmla="val 47059"/>
            </a:avLst>
          </a:prstGeom>
          <a:solidFill>
            <a:srgbClr val="57D19C"/>
          </a:solidFill>
          <a:ln w="12700">
            <a:solidFill>
              <a:srgbClr val="57D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3"/>
          <p:cNvSpPr/>
          <p:nvPr/>
        </p:nvSpPr>
        <p:spPr>
          <a:xfrm>
            <a:off x="1097280" y="3790080"/>
            <a:ext cx="1963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add_reader() / add_writer()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4"/>
          <p:cNvSpPr/>
          <p:nvPr/>
        </p:nvSpPr>
        <p:spPr>
          <a:xfrm>
            <a:off x="3401640" y="3730680"/>
            <a:ext cx="20091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I/O registrations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822960" y="4425840"/>
            <a:ext cx="5072400" cy="600840"/>
          </a:xfrm>
          <a:prstGeom prst="roundRect">
            <a:avLst>
              <a:gd name="adj" fmla="val 21212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6"/>
          <p:cNvSpPr/>
          <p:nvPr/>
        </p:nvSpPr>
        <p:spPr>
          <a:xfrm>
            <a:off x="1051560" y="4572000"/>
            <a:ext cx="2054880" cy="308520"/>
          </a:xfrm>
          <a:prstGeom prst="roundRect">
            <a:avLst>
              <a:gd name="adj" fmla="val 47059"/>
            </a:avLst>
          </a:prstGeom>
          <a:solidFill>
            <a:srgbClr val="B89CFF"/>
          </a:solidFill>
          <a:ln w="12700">
            <a:solidFill>
              <a:srgbClr val="B8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1097280" y="4631400"/>
            <a:ext cx="1963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run_forever()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3401640" y="4572000"/>
            <a:ext cx="20091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repeat run_once()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9"/>
          <p:cNvSpPr/>
          <p:nvPr/>
        </p:nvSpPr>
        <p:spPr>
          <a:xfrm>
            <a:off x="6537960" y="1929240"/>
            <a:ext cx="4798080" cy="3216240"/>
          </a:xfrm>
          <a:prstGeom prst="roundRect">
            <a:avLst>
              <a:gd name="adj" fmla="val 3977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6995160" y="2331720"/>
            <a:ext cx="3883680" cy="86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Callbacks can express everything…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but complex control flow becomes painful.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6949440" y="3877200"/>
            <a:ext cx="39751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5CE1E6"/>
                </a:solidFill>
                <a:effectLst/>
                <a:uFillTx/>
                <a:latin typeface="Noto Sans"/>
                <a:ea typeface="Noto Sans"/>
              </a:rPr>
              <a:t>We want COROUTINES!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sldNum" idx="15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9 · COROUTINES + FUTURES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Pausing and resuming a coroutine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sldNum" idx="16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25"/>
          <p:cNvSpPr/>
          <p:nvPr/>
        </p:nvSpPr>
        <p:spPr>
          <a:xfrm>
            <a:off x="621720" y="1225440"/>
            <a:ext cx="1069596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The suspension point comes from the awaitable: Future.__await__() can yield control.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7"/>
          <p:cNvSpPr/>
          <p:nvPr/>
        </p:nvSpPr>
        <p:spPr>
          <a:xfrm>
            <a:off x="7543800" y="1828800"/>
            <a:ext cx="239328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2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Future: the suspension point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0"/>
          <p:cNvSpPr/>
          <p:nvPr/>
        </p:nvSpPr>
        <p:spPr>
          <a:xfrm>
            <a:off x="591840" y="1828800"/>
            <a:ext cx="49536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22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Drive the coroutine by hand</a:t>
            </a:r>
            <a:endParaRPr lang="en-US" sz="12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2"/>
          <p:cNvSpPr/>
          <p:nvPr/>
        </p:nvSpPr>
        <p:spPr>
          <a:xfrm>
            <a:off x="1234440" y="6252840"/>
            <a:ext cx="9735840" cy="21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2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First send → runs until Future.__await__() yields.   Second send → continues after await.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"/>
          <p:cNvPicPr/>
          <p:nvPr/>
        </p:nvPicPr>
        <p:blipFill>
          <a:blip r:embed="rId1"/>
          <a:stretch/>
        </p:blipFill>
        <p:spPr>
          <a:xfrm>
            <a:off x="540000" y="2267280"/>
            <a:ext cx="6546600" cy="3696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/>
          <p:cNvPicPr/>
          <p:nvPr/>
        </p:nvPicPr>
        <p:blipFill>
          <a:blip r:embed="rId2"/>
          <a:stretch/>
        </p:blipFill>
        <p:spPr>
          <a:xfrm>
            <a:off x="7372800" y="2286000"/>
            <a:ext cx="4358880" cy="297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10 · FUTURES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Future: completing something later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sldNum" idx="17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TextBox 25"/>
          <p:cNvSpPr/>
          <p:nvPr/>
        </p:nvSpPr>
        <p:spPr>
          <a:xfrm>
            <a:off x="621720" y="1225440"/>
            <a:ext cx="106959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Future is pending until somebody supplies either a result or an exception.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6"/>
          <p:cNvSpPr/>
          <p:nvPr/>
        </p:nvSpPr>
        <p:spPr>
          <a:xfrm>
            <a:off x="694800" y="1755720"/>
            <a:ext cx="3124800" cy="144216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23" name="TextBox 27"/>
          <p:cNvSpPr/>
          <p:nvPr/>
        </p:nvSpPr>
        <p:spPr>
          <a:xfrm>
            <a:off x="877680" y="1947600"/>
            <a:ext cx="27590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30" b="1" u="none" strike="noStrike">
                <a:solidFill>
                  <a:srgbClr val="5CE1E6"/>
                </a:solidFill>
                <a:effectLst/>
                <a:uFillTx/>
                <a:latin typeface="DejaVu Sans Mono"/>
              </a:rPr>
              <a:t>add_done_callback(cb)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8"/>
          <p:cNvSpPr/>
          <p:nvPr/>
        </p:nvSpPr>
        <p:spPr>
          <a:xfrm>
            <a:off x="923400" y="2295000"/>
            <a:ext cx="2667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7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register interest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9"/>
          <p:cNvSpPr/>
          <p:nvPr/>
        </p:nvSpPr>
        <p:spPr>
          <a:xfrm>
            <a:off x="896040" y="2615040"/>
            <a:ext cx="27223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9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Task uses this to say: resume me when you are done.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Rounded Rectangle 30"/>
          <p:cNvSpPr/>
          <p:nvPr/>
        </p:nvSpPr>
        <p:spPr>
          <a:xfrm>
            <a:off x="4087440" y="1755720"/>
            <a:ext cx="3124800" cy="144216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27" name="TextBox 31"/>
          <p:cNvSpPr/>
          <p:nvPr/>
        </p:nvSpPr>
        <p:spPr>
          <a:xfrm>
            <a:off x="4270320" y="1947600"/>
            <a:ext cx="27590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30" b="1" u="none" strike="noStrike">
                <a:solidFill>
                  <a:srgbClr val="5CE1E6"/>
                </a:solidFill>
                <a:effectLst/>
                <a:uFillTx/>
                <a:latin typeface="DejaVu Sans Mono"/>
              </a:rPr>
              <a:t>set_result(value)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2"/>
          <p:cNvSpPr/>
          <p:nvPr/>
        </p:nvSpPr>
        <p:spPr>
          <a:xfrm>
            <a:off x="4316040" y="2295000"/>
            <a:ext cx="2667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7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complete successfully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3"/>
          <p:cNvSpPr/>
          <p:nvPr/>
        </p:nvSpPr>
        <p:spPr>
          <a:xfrm>
            <a:off x="4288680" y="2615040"/>
            <a:ext cx="27223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9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Store a value and transition the Future to DONE.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Rounded Rectangle 34"/>
          <p:cNvSpPr/>
          <p:nvPr/>
        </p:nvSpPr>
        <p:spPr>
          <a:xfrm>
            <a:off x="7479720" y="1755720"/>
            <a:ext cx="3124800" cy="144216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31" name="TextBox 35"/>
          <p:cNvSpPr/>
          <p:nvPr/>
        </p:nvSpPr>
        <p:spPr>
          <a:xfrm>
            <a:off x="7662600" y="1947600"/>
            <a:ext cx="27590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530" b="1" u="none" strike="noStrike">
                <a:solidFill>
                  <a:srgbClr val="5CE1E6"/>
                </a:solidFill>
                <a:effectLst/>
                <a:uFillTx/>
                <a:latin typeface="DejaVu Sans Mono"/>
              </a:rPr>
              <a:t>set_exception(exc)</a:t>
            </a:r>
            <a:endParaRPr lang="en-US" sz="15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6"/>
          <p:cNvSpPr/>
          <p:nvPr/>
        </p:nvSpPr>
        <p:spPr>
          <a:xfrm>
            <a:off x="7708320" y="2295000"/>
            <a:ext cx="266760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7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complete with failure</a:t>
            </a:r>
            <a:endParaRPr lang="en-US" sz="12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7"/>
          <p:cNvSpPr/>
          <p:nvPr/>
        </p:nvSpPr>
        <p:spPr>
          <a:xfrm>
            <a:off x="7680960" y="2615040"/>
            <a:ext cx="27223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9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Store an exception and transition the Future to DONE.</a:t>
            </a:r>
            <a:endParaRPr lang="en-US" sz="11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38"/>
          <p:cNvSpPr/>
          <p:nvPr/>
        </p:nvSpPr>
        <p:spPr>
          <a:xfrm>
            <a:off x="896040" y="3703320"/>
            <a:ext cx="2100600" cy="7747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35" name="TextBox 39"/>
          <p:cNvSpPr/>
          <p:nvPr/>
        </p:nvSpPr>
        <p:spPr>
          <a:xfrm>
            <a:off x="1078920" y="3940920"/>
            <a:ext cx="1734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PENDING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ight Arrow 40"/>
          <p:cNvSpPr/>
          <p:nvPr/>
        </p:nvSpPr>
        <p:spPr>
          <a:xfrm>
            <a:off x="3200400" y="3849480"/>
            <a:ext cx="2009160" cy="436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E1E6"/>
          </a:solidFill>
          <a:ln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37" name="TextBox 41"/>
          <p:cNvSpPr/>
          <p:nvPr/>
        </p:nvSpPr>
        <p:spPr>
          <a:xfrm>
            <a:off x="3136320" y="3520440"/>
            <a:ext cx="214632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set_result / set_exception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Rounded Rectangle 42"/>
          <p:cNvSpPr/>
          <p:nvPr/>
        </p:nvSpPr>
        <p:spPr>
          <a:xfrm>
            <a:off x="5403960" y="3703320"/>
            <a:ext cx="2100600" cy="7747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39" name="TextBox 43"/>
          <p:cNvSpPr/>
          <p:nvPr/>
        </p:nvSpPr>
        <p:spPr>
          <a:xfrm>
            <a:off x="5586840" y="3940920"/>
            <a:ext cx="17348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7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DONE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Right Arrow 44"/>
          <p:cNvSpPr/>
          <p:nvPr/>
        </p:nvSpPr>
        <p:spPr>
          <a:xfrm>
            <a:off x="7680960" y="3849480"/>
            <a:ext cx="911880" cy="436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CE1E6"/>
          </a:solidFill>
          <a:ln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41" name="Rounded Rectangle 45"/>
          <p:cNvSpPr/>
          <p:nvPr/>
        </p:nvSpPr>
        <p:spPr>
          <a:xfrm>
            <a:off x="8796600" y="3493080"/>
            <a:ext cx="2329200" cy="1204560"/>
          </a:xfrm>
          <a:prstGeom prst="roundRect">
            <a:avLst>
              <a:gd name="adj" fmla="val 16667"/>
            </a:avLst>
          </a:prstGeom>
          <a:solidFill>
            <a:srgbClr val="0A0F1D"/>
          </a:solidFill>
          <a:ln w="127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42" name="TextBox 46"/>
          <p:cNvSpPr/>
          <p:nvPr/>
        </p:nvSpPr>
        <p:spPr>
          <a:xfrm>
            <a:off x="8961120" y="3648600"/>
            <a:ext cx="200916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180" b="0" u="none" strike="noStrike">
                <a:solidFill>
                  <a:srgbClr val="8292A2"/>
                </a:solidFill>
                <a:effectLst/>
                <a:uFillTx/>
                <a:latin typeface="Noto Sans"/>
              </a:rPr>
              <a:t>for each done callback</a:t>
            </a:r>
            <a:endParaRPr lang="en-U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47"/>
          <p:cNvSpPr/>
          <p:nvPr/>
        </p:nvSpPr>
        <p:spPr>
          <a:xfrm>
            <a:off x="8924400" y="4023360"/>
            <a:ext cx="20822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23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loop.call_soon(cb, future)</a:t>
            </a:r>
            <a:endParaRPr lang="en-US" sz="12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8"/>
          <p:cNvSpPr/>
          <p:nvPr/>
        </p:nvSpPr>
        <p:spPr>
          <a:xfrm>
            <a:off x="1389960" y="5230440"/>
            <a:ext cx="94158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Future completion </a:t>
            </a:r>
            <a:r>
              <a:rPr lang="en-US" sz="18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becomes ordinary work </a:t>
            </a:r>
            <a:r>
              <a:rPr lang="en-US" sz="18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in the event loop’s </a:t>
            </a:r>
            <a:r>
              <a:rPr lang="en-US" sz="18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ready queue.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9"/>
          <p:cNvSpPr/>
          <p:nvPr/>
        </p:nvSpPr>
        <p:spPr>
          <a:xfrm>
            <a:off x="594360" y="6382440"/>
            <a:ext cx="104216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60" b="0" u="none" strike="noStrike">
                <a:solidFill>
                  <a:srgbClr val="8292A2"/>
                </a:solidFill>
                <a:effectLst/>
                <a:uFillTx/>
                <a:latin typeface="Noto Sans"/>
              </a:rPr>
              <a:t>Simplified model: real Future also handles cancellation, context, callbacks added after completion, and more.</a:t>
            </a:r>
            <a:endParaRPr lang="en-US" sz="8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11 · TASKS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</a:rPr>
              <a:t>Task: automating coroutine resumption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sldNum" idx="18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12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TextBox 25"/>
          <p:cNvSpPr/>
          <p:nvPr/>
        </p:nvSpPr>
        <p:spPr>
          <a:xfrm>
            <a:off x="621720" y="1225440"/>
            <a:ext cx="106959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Task owns a coroutine and repeatedly drives it while the coroutine yields a Future until StopIteration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ounded Rectangle 29"/>
          <p:cNvSpPr/>
          <p:nvPr/>
        </p:nvSpPr>
        <p:spPr>
          <a:xfrm>
            <a:off x="6711840" y="1828800"/>
            <a:ext cx="4459680" cy="6559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1" name="TextBox 30"/>
          <p:cNvSpPr/>
          <p:nvPr/>
        </p:nvSpPr>
        <p:spPr>
          <a:xfrm>
            <a:off x="6903720" y="2020680"/>
            <a:ext cx="407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5CE1E6"/>
                </a:solidFill>
                <a:effectLst/>
                <a:uFillTx/>
                <a:latin typeface="DejaVu Sans Mono"/>
              </a:rPr>
              <a:t>Task.step()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Down Arrow 31"/>
          <p:cNvSpPr/>
          <p:nvPr/>
        </p:nvSpPr>
        <p:spPr>
          <a:xfrm>
            <a:off x="8732520" y="2514600"/>
            <a:ext cx="408960" cy="27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CE1E6"/>
          </a:solidFill>
          <a:ln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3" name="Rounded Rectangle 32"/>
          <p:cNvSpPr/>
          <p:nvPr/>
        </p:nvSpPr>
        <p:spPr>
          <a:xfrm>
            <a:off x="6711840" y="2834640"/>
            <a:ext cx="4459680" cy="6559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4" name="TextBox 33"/>
          <p:cNvSpPr/>
          <p:nvPr/>
        </p:nvSpPr>
        <p:spPr>
          <a:xfrm>
            <a:off x="6903720" y="3026520"/>
            <a:ext cx="407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DejaVu Sans Mono"/>
              </a:rPr>
              <a:t>coro.send(None)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Down Arrow 34"/>
          <p:cNvSpPr/>
          <p:nvPr/>
        </p:nvSpPr>
        <p:spPr>
          <a:xfrm>
            <a:off x="8732520" y="3520440"/>
            <a:ext cx="408960" cy="27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CE1E6"/>
          </a:solidFill>
          <a:ln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Rounded Rectangle 35"/>
          <p:cNvSpPr/>
          <p:nvPr/>
        </p:nvSpPr>
        <p:spPr>
          <a:xfrm>
            <a:off x="6711840" y="3840480"/>
            <a:ext cx="4459680" cy="6559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TextBox 36"/>
          <p:cNvSpPr/>
          <p:nvPr/>
        </p:nvSpPr>
        <p:spPr>
          <a:xfrm>
            <a:off x="6903720" y="4032360"/>
            <a:ext cx="407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Future is yielded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Down Arrow 37"/>
          <p:cNvSpPr/>
          <p:nvPr/>
        </p:nvSpPr>
        <p:spPr>
          <a:xfrm>
            <a:off x="8732520" y="4526280"/>
            <a:ext cx="408960" cy="27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CE1E6"/>
          </a:solidFill>
          <a:ln>
            <a:solidFill>
              <a:srgbClr val="5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Rounded Rectangle 38"/>
          <p:cNvSpPr/>
          <p:nvPr/>
        </p:nvSpPr>
        <p:spPr>
          <a:xfrm>
            <a:off x="6711840" y="4846320"/>
            <a:ext cx="4459680" cy="65592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 w="12700">
            <a:solidFill>
              <a:srgbClr val="11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60" name="TextBox 39"/>
          <p:cNvSpPr/>
          <p:nvPr/>
        </p:nvSpPr>
        <p:spPr>
          <a:xfrm>
            <a:off x="6903720" y="5038200"/>
            <a:ext cx="40755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410" b="1" u="none" strike="noStrike">
                <a:solidFill>
                  <a:srgbClr val="5CE1E6"/>
                </a:solidFill>
                <a:effectLst/>
                <a:uFillTx/>
                <a:latin typeface="DejaVu Sans Mono"/>
              </a:rPr>
              <a:t>add_done_callback(wakeup)</a:t>
            </a:r>
            <a:endParaRPr lang="en-US" sz="14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0"/>
          <p:cNvSpPr/>
          <p:nvPr/>
        </p:nvSpPr>
        <p:spPr>
          <a:xfrm>
            <a:off x="6602040" y="5696640"/>
            <a:ext cx="4706640" cy="50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When the Future completes, its done callback enters the ready queue. That callback drives the coroutine again.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"/>
          <p:cNvPicPr/>
          <p:nvPr/>
        </p:nvPicPr>
        <p:blipFill>
          <a:blip r:embed="rId1"/>
          <a:stretch/>
        </p:blipFill>
        <p:spPr>
          <a:xfrm>
            <a:off x="657720" y="1848240"/>
            <a:ext cx="5055120" cy="415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12 · THE PAYOFF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The trick: Tasks turn “await” into callbacks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2"/>
          <p:cNvSpPr/>
          <p:nvPr/>
        </p:nvSpPr>
        <p:spPr>
          <a:xfrm>
            <a:off x="694800" y="1993320"/>
            <a:ext cx="2054880" cy="9576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694800" y="1993320"/>
            <a:ext cx="61560" cy="957600"/>
          </a:xfrm>
          <a:prstGeom prst="rect">
            <a:avLst/>
          </a:prstGeom>
          <a:solidFill>
            <a:srgbClr val="57D19C"/>
          </a:solidFill>
          <a:ln w="12700">
            <a:solidFill>
              <a:srgbClr val="57D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0960" tIns="45000" rIns="30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"/>
          <p:cNvSpPr/>
          <p:nvPr/>
        </p:nvSpPr>
        <p:spPr>
          <a:xfrm>
            <a:off x="841320" y="2231280"/>
            <a:ext cx="180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I/O or timer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completes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2797920" y="2468880"/>
            <a:ext cx="164520" cy="360"/>
          </a:xfrm>
          <a:prstGeom prst="line">
            <a:avLst/>
          </a:prstGeom>
          <a:ln w="27940">
            <a:solidFill>
              <a:srgbClr val="2A355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3035880" y="1993320"/>
            <a:ext cx="2054880" cy="9576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7"/>
          <p:cNvSpPr/>
          <p:nvPr/>
        </p:nvSpPr>
        <p:spPr>
          <a:xfrm>
            <a:off x="3035880" y="1993320"/>
            <a:ext cx="61560" cy="9576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0960" tIns="45000" rIns="30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8"/>
          <p:cNvSpPr/>
          <p:nvPr/>
        </p:nvSpPr>
        <p:spPr>
          <a:xfrm>
            <a:off x="3182040" y="2231280"/>
            <a:ext cx="180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Future becomes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DONE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9"/>
          <p:cNvSpPr/>
          <p:nvPr/>
        </p:nvSpPr>
        <p:spPr>
          <a:xfrm>
            <a:off x="5138640" y="2468880"/>
            <a:ext cx="164880" cy="360"/>
          </a:xfrm>
          <a:prstGeom prst="line">
            <a:avLst/>
          </a:prstGeom>
          <a:ln w="27940">
            <a:solidFill>
              <a:srgbClr val="2A355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440" tIns="-44640" rIns="824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0"/>
          <p:cNvSpPr/>
          <p:nvPr/>
        </p:nvSpPr>
        <p:spPr>
          <a:xfrm>
            <a:off x="5376600" y="1993320"/>
            <a:ext cx="2054880" cy="9576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1"/>
          <p:cNvSpPr/>
          <p:nvPr/>
        </p:nvSpPr>
        <p:spPr>
          <a:xfrm>
            <a:off x="5376600" y="1993320"/>
            <a:ext cx="61560" cy="957600"/>
          </a:xfrm>
          <a:prstGeom prst="rect">
            <a:avLst/>
          </a:prstGeom>
          <a:solidFill>
            <a:srgbClr val="4B8BBE"/>
          </a:solidFill>
          <a:ln w="1270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0960" tIns="45000" rIns="3096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2"/>
          <p:cNvSpPr/>
          <p:nvPr/>
        </p:nvSpPr>
        <p:spPr>
          <a:xfrm>
            <a:off x="5523120" y="2231280"/>
            <a:ext cx="180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loop.call_soon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(task wakeup)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3"/>
          <p:cNvSpPr/>
          <p:nvPr/>
        </p:nvSpPr>
        <p:spPr>
          <a:xfrm>
            <a:off x="7479720" y="2468880"/>
            <a:ext cx="164520" cy="360"/>
          </a:xfrm>
          <a:prstGeom prst="line">
            <a:avLst/>
          </a:prstGeom>
          <a:ln w="27940">
            <a:solidFill>
              <a:srgbClr val="2A355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82080" tIns="-44640" rIns="8208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4"/>
          <p:cNvSpPr/>
          <p:nvPr/>
        </p:nvSpPr>
        <p:spPr>
          <a:xfrm>
            <a:off x="7717680" y="1993320"/>
            <a:ext cx="2054880" cy="9576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5"/>
          <p:cNvSpPr/>
          <p:nvPr/>
        </p:nvSpPr>
        <p:spPr>
          <a:xfrm>
            <a:off x="7717680" y="1993320"/>
            <a:ext cx="61560" cy="957600"/>
          </a:xfrm>
          <a:prstGeom prst="rect">
            <a:avLst/>
          </a:prstGeom>
          <a:solidFill>
            <a:srgbClr val="5CE1E6"/>
          </a:solidFill>
          <a:ln w="12700">
            <a:solidFill>
              <a:srgbClr val="5C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0960" tIns="45000" rIns="30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6"/>
          <p:cNvSpPr/>
          <p:nvPr/>
        </p:nvSpPr>
        <p:spPr>
          <a:xfrm>
            <a:off x="7863840" y="2231280"/>
            <a:ext cx="18079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Task drives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coroutine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7"/>
          <p:cNvSpPr/>
          <p:nvPr/>
        </p:nvSpPr>
        <p:spPr>
          <a:xfrm>
            <a:off x="9820440" y="2468880"/>
            <a:ext cx="146520" cy="360"/>
          </a:xfrm>
          <a:prstGeom prst="line">
            <a:avLst/>
          </a:prstGeom>
          <a:ln w="27940">
            <a:solidFill>
              <a:srgbClr val="2A355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73080" tIns="-44640" rIns="7308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8"/>
          <p:cNvSpPr/>
          <p:nvPr/>
        </p:nvSpPr>
        <p:spPr>
          <a:xfrm>
            <a:off x="10040040" y="1993320"/>
            <a:ext cx="1506240" cy="9576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19"/>
          <p:cNvSpPr/>
          <p:nvPr/>
        </p:nvSpPr>
        <p:spPr>
          <a:xfrm>
            <a:off x="10040040" y="1993320"/>
            <a:ext cx="61560" cy="957600"/>
          </a:xfrm>
          <a:prstGeom prst="rect">
            <a:avLst/>
          </a:prstGeom>
          <a:solidFill>
            <a:srgbClr val="B89CFF"/>
          </a:solidFill>
          <a:ln w="12700">
            <a:solidFill>
              <a:srgbClr val="B89C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0960" tIns="45000" rIns="3096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0"/>
          <p:cNvSpPr/>
          <p:nvPr/>
        </p:nvSpPr>
        <p:spPr>
          <a:xfrm>
            <a:off x="10186560" y="2231280"/>
            <a:ext cx="125928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next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await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1"/>
          <p:cNvSpPr/>
          <p:nvPr/>
        </p:nvSpPr>
        <p:spPr>
          <a:xfrm>
            <a:off x="1069920" y="3886200"/>
            <a:ext cx="10055880" cy="1094760"/>
          </a:xfrm>
          <a:prstGeom prst="roundRect">
            <a:avLst>
              <a:gd name="adj" fmla="val 11667"/>
            </a:avLst>
          </a:prstGeom>
          <a:solidFill>
            <a:srgbClr val="10253A"/>
          </a:solidFill>
          <a:ln w="12700">
            <a:solidFill>
              <a:srgbClr val="10253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2"/>
          <p:cNvSpPr/>
          <p:nvPr/>
        </p:nvSpPr>
        <p:spPr>
          <a:xfrm>
            <a:off x="1463040" y="4114800"/>
            <a:ext cx="9278640" cy="6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The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loop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only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sees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Task.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wak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eup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callb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acks.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Task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and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Futu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re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provi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de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the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coro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utine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sem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antic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 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abov</a:t>
            </a:r>
            <a:r>
              <a:rPr lang="en-US" sz="21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e it.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3"/>
          <p:cNvSpPr/>
          <p:nvPr/>
        </p:nvSpPr>
        <p:spPr>
          <a:xfrm>
            <a:off x="1993320" y="5486400"/>
            <a:ext cx="822708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That is the bridge between event-driven callbacks and async / await.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sldNum" idx="19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13 · ASYNCIO NETWORKING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Where does networking fit?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sldNum" idx="20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14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TextBox 25"/>
          <p:cNvSpPr/>
          <p:nvPr/>
        </p:nvSpPr>
        <p:spPr>
          <a:xfrm>
            <a:off x="576000" y="1161360"/>
            <a:ext cx="101473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7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SelectorEventLoop view: networking builds outward from readiness callbacks.</a:t>
            </a:r>
            <a:endParaRPr lang="en-US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2" name="Picture 26" descr="asyncio_networking_layers.png"/>
          <p:cNvPicPr/>
          <p:nvPr/>
        </p:nvPicPr>
        <p:blipFill>
          <a:blip r:embed="rId1"/>
          <a:stretch/>
        </p:blipFill>
        <p:spPr>
          <a:xfrm>
            <a:off x="713160" y="1627560"/>
            <a:ext cx="5438160" cy="532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Rounded Rectangle 27"/>
          <p:cNvSpPr/>
          <p:nvPr/>
        </p:nvSpPr>
        <p:spPr>
          <a:xfrm>
            <a:off x="6565320" y="1737360"/>
            <a:ext cx="4734000" cy="109476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94" name="Rounded Rectangle 28"/>
          <p:cNvSpPr/>
          <p:nvPr/>
        </p:nvSpPr>
        <p:spPr>
          <a:xfrm>
            <a:off x="6729840" y="1901880"/>
            <a:ext cx="97920" cy="765720"/>
          </a:xfrm>
          <a:prstGeom prst="roundRect">
            <a:avLst>
              <a:gd name="adj" fmla="val 16667"/>
            </a:avLst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8960" tIns="45000" rIns="48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95" name="TextBox 29"/>
          <p:cNvSpPr/>
          <p:nvPr/>
        </p:nvSpPr>
        <p:spPr>
          <a:xfrm>
            <a:off x="7004160" y="1856160"/>
            <a:ext cx="41306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Streams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30"/>
          <p:cNvSpPr/>
          <p:nvPr/>
        </p:nvSpPr>
        <p:spPr>
          <a:xfrm>
            <a:off x="7004160" y="2221920"/>
            <a:ext cx="4130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def loop.open_connection(...)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def loop.start_server(...)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Rounded Rectangle 31"/>
          <p:cNvSpPr/>
          <p:nvPr/>
        </p:nvSpPr>
        <p:spPr>
          <a:xfrm>
            <a:off x="6565320" y="2971800"/>
            <a:ext cx="4734000" cy="109476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98" name="Rounded Rectangle 32"/>
          <p:cNvSpPr/>
          <p:nvPr/>
        </p:nvSpPr>
        <p:spPr>
          <a:xfrm>
            <a:off x="6729840" y="3136320"/>
            <a:ext cx="97920" cy="765720"/>
          </a:xfrm>
          <a:prstGeom prst="roundRect">
            <a:avLst>
              <a:gd name="adj" fmla="val 16667"/>
            </a:avLst>
          </a:prstGeom>
          <a:solidFill>
            <a:srgbClr val="57D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8960" tIns="45000" rIns="48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299" name="TextBox 33"/>
          <p:cNvSpPr/>
          <p:nvPr/>
        </p:nvSpPr>
        <p:spPr>
          <a:xfrm>
            <a:off x="7004160" y="3090600"/>
            <a:ext cx="41306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57D19C"/>
                </a:solidFill>
                <a:effectLst/>
                <a:uFillTx/>
                <a:latin typeface="Noto Sans"/>
              </a:rPr>
              <a:t>Transport / Protocol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34"/>
          <p:cNvSpPr/>
          <p:nvPr/>
        </p:nvSpPr>
        <p:spPr>
          <a:xfrm>
            <a:off x="7004160" y="3456360"/>
            <a:ext cx="4130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def loop.create_connection(...)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def loop.create_server(...)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35"/>
          <p:cNvSpPr/>
          <p:nvPr/>
        </p:nvSpPr>
        <p:spPr>
          <a:xfrm>
            <a:off x="6565320" y="4206240"/>
            <a:ext cx="4734000" cy="1278000"/>
          </a:xfrm>
          <a:prstGeom prst="roundRect">
            <a:avLst>
              <a:gd name="adj" fmla="val 16667"/>
            </a:avLst>
          </a:prstGeom>
          <a:solidFill>
            <a:srgbClr val="11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302" name="Rounded Rectangle 36"/>
          <p:cNvSpPr/>
          <p:nvPr/>
        </p:nvSpPr>
        <p:spPr>
          <a:xfrm>
            <a:off x="6729840" y="4370760"/>
            <a:ext cx="97920" cy="884880"/>
          </a:xfrm>
          <a:prstGeom prst="roundRect">
            <a:avLst>
              <a:gd name="adj" fmla="val 16667"/>
            </a:avLst>
          </a:prstGeom>
          <a:solidFill>
            <a:srgbClr val="5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8960" tIns="45000" rIns="4896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"/>
            </a:endParaRPr>
          </a:p>
        </p:txBody>
      </p:sp>
      <p:sp>
        <p:nvSpPr>
          <p:cNvPr id="303" name="TextBox 37"/>
          <p:cNvSpPr/>
          <p:nvPr/>
        </p:nvSpPr>
        <p:spPr>
          <a:xfrm>
            <a:off x="7004160" y="4325040"/>
            <a:ext cx="413064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5CE1E6"/>
                </a:solidFill>
                <a:effectLst/>
                <a:uFillTx/>
                <a:latin typeface="Noto Sans"/>
              </a:rPr>
              <a:t>Socket coroutines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8"/>
          <p:cNvSpPr/>
          <p:nvPr/>
        </p:nvSpPr>
        <p:spPr>
          <a:xfrm>
            <a:off x="7004160" y="4690800"/>
            <a:ext cx="413064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loop.sock_recv()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async loop.sock_sendall()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99"/>
              </a:spcAft>
            </a:pPr>
            <a:r>
              <a:rPr lang="en-US" sz="1310" b="0" u="none" strike="noStrike">
                <a:solidFill>
                  <a:srgbClr val="D7DDE8"/>
                </a:solidFill>
                <a:effectLst/>
                <a:uFillTx/>
                <a:latin typeface="Noto Sans Mono"/>
              </a:rPr>
              <a:t>...</a:t>
            </a:r>
            <a:endParaRPr lang="en-US" sz="131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9"/>
          <p:cNvSpPr/>
          <p:nvPr/>
        </p:nvSpPr>
        <p:spPr>
          <a:xfrm>
            <a:off x="6830640" y="5431680"/>
            <a:ext cx="4203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18360" rIns="18360" bIns="18360" anchor="ctr">
            <a:sp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Str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ea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m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us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e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Tr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an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sp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ort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/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Pr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ot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oc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ol;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so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ck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_*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is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a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pa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ral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lel 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pa</a:t>
            </a:r>
            <a:r>
              <a:rPr lang="en-US" sz="1250" b="0" u="none" strike="noStrike">
                <a:solidFill>
                  <a:srgbClr val="D7DDE8"/>
                </a:solidFill>
                <a:effectLst/>
                <a:uFillTx/>
                <a:latin typeface="Noto Sans"/>
              </a:rPr>
              <a:t>th.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14 · LOWER-LEVEL NETWORKING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Transport + Protocol: a connection as callbacks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713160" y="1508760"/>
            <a:ext cx="4734000" cy="4203720"/>
          </a:xfrm>
          <a:prstGeom prst="roundRect">
            <a:avLst>
              <a:gd name="adj" fmla="val 304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1033200" y="1783080"/>
            <a:ext cx="1369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D19C"/>
                </a:solidFill>
                <a:effectLst/>
                <a:uFillTx/>
                <a:latin typeface="Noto Sans"/>
                <a:ea typeface="Noto Sans"/>
              </a:rPr>
              <a:t>PROTOCOL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1051560" y="2212920"/>
            <a:ext cx="40665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connection_made(transport)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1051560" y="2898720"/>
            <a:ext cx="40665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data_received(data)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1051560" y="3584520"/>
            <a:ext cx="40665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connection_lost(exc)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"/>
          <p:cNvSpPr/>
          <p:nvPr/>
        </p:nvSpPr>
        <p:spPr>
          <a:xfrm>
            <a:off x="1051560" y="4782240"/>
            <a:ext cx="4039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Your application reacts to events.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8"/>
          <p:cNvSpPr/>
          <p:nvPr/>
        </p:nvSpPr>
        <p:spPr>
          <a:xfrm>
            <a:off x="6711840" y="1508760"/>
            <a:ext cx="4734000" cy="4203720"/>
          </a:xfrm>
          <a:prstGeom prst="roundRect">
            <a:avLst>
              <a:gd name="adj" fmla="val 3043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7040880" y="1783080"/>
            <a:ext cx="136908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  <a:ea typeface="Noto Sans"/>
              </a:rPr>
              <a:t>TRANSPORT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0"/>
          <p:cNvSpPr/>
          <p:nvPr/>
        </p:nvSpPr>
        <p:spPr>
          <a:xfrm>
            <a:off x="7040880" y="2212920"/>
            <a:ext cx="403920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write(data)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7040880" y="2898720"/>
            <a:ext cx="403920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pause_reading() / resume_reading()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7040880" y="3584520"/>
            <a:ext cx="403920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close()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7040880" y="4782240"/>
            <a:ext cx="4039200" cy="38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asyncio owns the I/O channel.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4"/>
          <p:cNvSpPr/>
          <p:nvPr/>
        </p:nvSpPr>
        <p:spPr>
          <a:xfrm>
            <a:off x="5468040" y="2359080"/>
            <a:ext cx="1152000" cy="360"/>
          </a:xfrm>
          <a:prstGeom prst="line">
            <a:avLst/>
          </a:prstGeom>
          <a:ln w="30480">
            <a:solidFill>
              <a:srgbClr val="4B8B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5513760" y="2011680"/>
            <a:ext cx="104904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B8BBE"/>
                </a:solidFill>
                <a:effectLst/>
                <a:uFillTx/>
                <a:latin typeface="Noto Sans"/>
                <a:ea typeface="Noto Sans"/>
              </a:rPr>
              <a:t>send bytes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6"/>
          <p:cNvSpPr/>
          <p:nvPr/>
        </p:nvSpPr>
        <p:spPr>
          <a:xfrm flipH="1">
            <a:off x="5468040" y="3108960"/>
            <a:ext cx="1152000" cy="360"/>
          </a:xfrm>
          <a:prstGeom prst="line">
            <a:avLst/>
          </a:prstGeom>
          <a:ln w="30480">
            <a:solidFill>
              <a:srgbClr val="57D1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7"/>
          <p:cNvSpPr/>
          <p:nvPr/>
        </p:nvSpPr>
        <p:spPr>
          <a:xfrm>
            <a:off x="5486400" y="3255120"/>
            <a:ext cx="1113120" cy="23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7D19C"/>
                </a:solidFill>
                <a:effectLst/>
                <a:uFillTx/>
                <a:latin typeface="Noto Sans"/>
                <a:ea typeface="Noto Sans"/>
              </a:rPr>
              <a:t>received bytes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8"/>
          <p:cNvSpPr/>
          <p:nvPr/>
        </p:nvSpPr>
        <p:spPr>
          <a:xfrm>
            <a:off x="5394960" y="4206240"/>
            <a:ext cx="13233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1 : 1 pair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Num" idx="21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15 · TWO COROUTINE-FACING APIS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Streams vs. loop.sock_*()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"/>
          <p:cNvSpPr/>
          <p:nvPr/>
        </p:nvSpPr>
        <p:spPr>
          <a:xfrm>
            <a:off x="713160" y="1444680"/>
            <a:ext cx="5227920" cy="4523760"/>
          </a:xfrm>
          <a:prstGeom prst="roundRect">
            <a:avLst>
              <a:gd name="adj" fmla="val 2828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1078920" y="1719000"/>
            <a:ext cx="1259280" cy="308520"/>
          </a:xfrm>
          <a:prstGeom prst="roundRect">
            <a:avLst>
              <a:gd name="adj" fmla="val 47059"/>
            </a:avLst>
          </a:prstGeom>
          <a:solidFill>
            <a:srgbClr val="FFD43B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4"/>
          <p:cNvSpPr/>
          <p:nvPr/>
        </p:nvSpPr>
        <p:spPr>
          <a:xfrm>
            <a:off x="1124640" y="1778400"/>
            <a:ext cx="11678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Streams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5"/>
          <p:cNvSpPr/>
          <p:nvPr/>
        </p:nvSpPr>
        <p:spPr>
          <a:xfrm>
            <a:off x="1060560" y="2331720"/>
            <a:ext cx="45054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reader, writer = await open_connection(...)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6"/>
          <p:cNvSpPr/>
          <p:nvPr/>
        </p:nvSpPr>
        <p:spPr>
          <a:xfrm>
            <a:off x="1060560" y="2853000"/>
            <a:ext cx="45054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data = await reader.read(4096)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7"/>
          <p:cNvSpPr/>
          <p:nvPr/>
        </p:nvSpPr>
        <p:spPr>
          <a:xfrm>
            <a:off x="1060560" y="3374280"/>
            <a:ext cx="450540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writer.write(data)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await writer.drain()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8"/>
          <p:cNvSpPr/>
          <p:nvPr/>
        </p:nvSpPr>
        <p:spPr>
          <a:xfrm>
            <a:off x="1060560" y="4297680"/>
            <a:ext cx="443232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buffering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backpressure helpers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convenient application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9"/>
          <p:cNvSpPr/>
          <p:nvPr/>
        </p:nvSpPr>
        <p:spPr>
          <a:xfrm>
            <a:off x="6245280" y="1444680"/>
            <a:ext cx="5227920" cy="4523760"/>
          </a:xfrm>
          <a:prstGeom prst="roundRect">
            <a:avLst>
              <a:gd name="adj" fmla="val 2828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0"/>
          <p:cNvSpPr/>
          <p:nvPr/>
        </p:nvSpPr>
        <p:spPr>
          <a:xfrm>
            <a:off x="6611040" y="1719000"/>
            <a:ext cx="1625040" cy="308520"/>
          </a:xfrm>
          <a:prstGeom prst="roundRect">
            <a:avLst>
              <a:gd name="adj" fmla="val 47059"/>
            </a:avLst>
          </a:prstGeom>
          <a:solidFill>
            <a:srgbClr val="5CE1E6"/>
          </a:solidFill>
          <a:ln w="12700">
            <a:solidFill>
              <a:srgbClr val="5C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1"/>
          <p:cNvSpPr/>
          <p:nvPr/>
        </p:nvSpPr>
        <p:spPr>
          <a:xfrm>
            <a:off x="6656760" y="1778400"/>
            <a:ext cx="153360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loop.sock_*()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2"/>
          <p:cNvSpPr/>
          <p:nvPr/>
        </p:nvSpPr>
        <p:spPr>
          <a:xfrm>
            <a:off x="6602040" y="2331720"/>
            <a:ext cx="44964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data = await loop.sock_recv(sock, 4096)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3"/>
          <p:cNvSpPr/>
          <p:nvPr/>
        </p:nvSpPr>
        <p:spPr>
          <a:xfrm>
            <a:off x="6602040" y="2853000"/>
            <a:ext cx="44964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await loop.sock_sendall(sock, data)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4"/>
          <p:cNvSpPr/>
          <p:nvPr/>
        </p:nvSpPr>
        <p:spPr>
          <a:xfrm>
            <a:off x="6602040" y="3511440"/>
            <a:ext cx="44964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sock must be non-blocking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5"/>
          <p:cNvSpPr/>
          <p:nvPr/>
        </p:nvSpPr>
        <p:spPr>
          <a:xfrm>
            <a:off x="6602040" y="4297680"/>
            <a:ext cx="443232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direct socket ownership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fewer abstractions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separate API path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• replicate socket stdlib module, but with async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1"/>
          <p:cNvSpPr>
            <a:spLocks noGrp="1"/>
          </p:cNvSpPr>
          <p:nvPr>
            <p:ph type="sldNum" idx="22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000" b="1" u="none" strike="noStrike">
                <a:solidFill>
                  <a:srgbClr val="FFD43B"/>
                </a:solidFill>
                <a:effectLst/>
                <a:uFillTx/>
                <a:latin typeface="Noto Sans"/>
              </a:rPr>
              <a:t>16 · THE BOTTOM LAYER CAN DIFFER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Reactor vs. Proactor: event loop implementation details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2"/>
          <p:cNvSpPr/>
          <p:nvPr/>
        </p:nvSpPr>
        <p:spPr>
          <a:xfrm>
            <a:off x="713160" y="1417320"/>
            <a:ext cx="5255280" cy="4523760"/>
          </a:xfrm>
          <a:prstGeom prst="roundRect">
            <a:avLst>
              <a:gd name="adj" fmla="val 2828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"/>
          <p:cNvSpPr/>
          <p:nvPr/>
        </p:nvSpPr>
        <p:spPr>
          <a:xfrm>
            <a:off x="1069920" y="1700640"/>
            <a:ext cx="1323360" cy="308520"/>
          </a:xfrm>
          <a:prstGeom prst="roundRect">
            <a:avLst>
              <a:gd name="adj" fmla="val 47059"/>
            </a:avLst>
          </a:prstGeom>
          <a:solidFill>
            <a:srgbClr val="57D19C"/>
          </a:solidFill>
          <a:ln w="12700">
            <a:solidFill>
              <a:srgbClr val="57D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4"/>
          <p:cNvSpPr/>
          <p:nvPr/>
        </p:nvSpPr>
        <p:spPr>
          <a:xfrm>
            <a:off x="1115640" y="1760400"/>
            <a:ext cx="12319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REACTOR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"/>
          <p:cNvSpPr/>
          <p:nvPr/>
        </p:nvSpPr>
        <p:spPr>
          <a:xfrm>
            <a:off x="1078920" y="235908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1. Ask: “when is this socket ready?”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6"/>
          <p:cNvSpPr/>
          <p:nvPr/>
        </p:nvSpPr>
        <p:spPr>
          <a:xfrm>
            <a:off x="3319200" y="2761200"/>
            <a:ext cx="360" cy="420840"/>
          </a:xfrm>
          <a:prstGeom prst="line">
            <a:avLst/>
          </a:prstGeom>
          <a:ln w="27940">
            <a:solidFill>
              <a:srgbClr val="57D1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7"/>
          <p:cNvSpPr/>
          <p:nvPr/>
        </p:nvSpPr>
        <p:spPr>
          <a:xfrm>
            <a:off x="1078920" y="324612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57D19C"/>
                </a:solidFill>
                <a:effectLst/>
                <a:uFillTx/>
                <a:latin typeface="Noto Sans"/>
                <a:ea typeface="Noto Sans"/>
              </a:rPr>
              <a:t>2. readiness notification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8"/>
          <p:cNvSpPr/>
          <p:nvPr/>
        </p:nvSpPr>
        <p:spPr>
          <a:xfrm>
            <a:off x="3319200" y="3648240"/>
            <a:ext cx="360" cy="420840"/>
          </a:xfrm>
          <a:prstGeom prst="line">
            <a:avLst/>
          </a:prstGeom>
          <a:ln w="27940">
            <a:solidFill>
              <a:srgbClr val="57D19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9"/>
          <p:cNvSpPr/>
          <p:nvPr/>
        </p:nvSpPr>
        <p:spPr>
          <a:xfrm>
            <a:off x="1078920" y="413316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3. perform recv()/send()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1"/>
          <p:cNvSpPr/>
          <p:nvPr/>
        </p:nvSpPr>
        <p:spPr>
          <a:xfrm>
            <a:off x="6236280" y="1417320"/>
            <a:ext cx="5255280" cy="4523760"/>
          </a:xfrm>
          <a:prstGeom prst="roundRect">
            <a:avLst>
              <a:gd name="adj" fmla="val 2828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2"/>
          <p:cNvSpPr/>
          <p:nvPr/>
        </p:nvSpPr>
        <p:spPr>
          <a:xfrm>
            <a:off x="6602040" y="1700640"/>
            <a:ext cx="1478880" cy="308520"/>
          </a:xfrm>
          <a:prstGeom prst="roundRect">
            <a:avLst>
              <a:gd name="adj" fmla="val 47059"/>
            </a:avLst>
          </a:prstGeom>
          <a:solidFill>
            <a:srgbClr val="4B8BBE"/>
          </a:solidFill>
          <a:ln w="12700">
            <a:solidFill>
              <a:srgbClr val="4B8BB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3"/>
          <p:cNvSpPr/>
          <p:nvPr/>
        </p:nvSpPr>
        <p:spPr>
          <a:xfrm>
            <a:off x="6647760" y="1760400"/>
            <a:ext cx="138744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PROACTOR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4"/>
          <p:cNvSpPr/>
          <p:nvPr/>
        </p:nvSpPr>
        <p:spPr>
          <a:xfrm>
            <a:off x="6602040" y="235908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1. Start the I/O operation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5"/>
          <p:cNvSpPr/>
          <p:nvPr/>
        </p:nvSpPr>
        <p:spPr>
          <a:xfrm>
            <a:off x="8841960" y="2761200"/>
            <a:ext cx="360" cy="420840"/>
          </a:xfrm>
          <a:prstGeom prst="line">
            <a:avLst/>
          </a:prstGeom>
          <a:ln w="27940">
            <a:solidFill>
              <a:srgbClr val="4B8B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6602040" y="324612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B8BBE"/>
                </a:solidFill>
                <a:effectLst/>
                <a:uFillTx/>
                <a:latin typeface="Noto Sans"/>
                <a:ea typeface="Noto Sans"/>
              </a:rPr>
              <a:t>2. OS performs it asynchronously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8841960" y="3648240"/>
            <a:ext cx="360" cy="420840"/>
          </a:xfrm>
          <a:prstGeom prst="line">
            <a:avLst/>
          </a:prstGeom>
          <a:ln w="27940">
            <a:solidFill>
              <a:srgbClr val="4B8BB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8"/>
          <p:cNvSpPr/>
          <p:nvPr/>
        </p:nvSpPr>
        <p:spPr>
          <a:xfrm>
            <a:off x="6602040" y="4133160"/>
            <a:ext cx="452376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3. completion notification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9"/>
          <p:cNvSpPr/>
          <p:nvPr/>
        </p:nvSpPr>
        <p:spPr>
          <a:xfrm>
            <a:off x="6602040" y="5230440"/>
            <a:ext cx="4523760" cy="32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Windows default: ProactorEventLoop (IOCP).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2395800" y="6099120"/>
            <a:ext cx="740412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Same high-level asyncio; different mechanics underneath.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sldNum" idx="23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/>
          <p:nvPr/>
        </p:nvSpPr>
        <p:spPr>
          <a:xfrm>
            <a:off x="567000" y="3474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181" strike="noStrike">
                <a:solidFill>
                  <a:srgbClr val="FFD43B"/>
                </a:solidFill>
                <a:effectLst/>
                <a:uFillTx/>
                <a:latin typeface="Noto Sans"/>
                <a:ea typeface="Noto Sans"/>
              </a:rPr>
              <a:t>BACKUP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"/>
          <p:cNvSpPr/>
          <p:nvPr/>
        </p:nvSpPr>
        <p:spPr>
          <a:xfrm>
            <a:off x="567000" y="640080"/>
            <a:ext cx="1087884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BufferedProtocol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621720" y="1225440"/>
            <a:ext cx="1078740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7DDE8"/>
                </a:solidFill>
                <a:effectLst/>
                <a:uFillTx/>
                <a:latin typeface="Noto Sans"/>
                <a:ea typeface="Noto Sans"/>
              </a:rPr>
              <a:t>Useful when receive-buffer ownership and copying matter — but not needed for the main mental model.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3"/>
          <p:cNvSpPr/>
          <p:nvPr/>
        </p:nvSpPr>
        <p:spPr>
          <a:xfrm>
            <a:off x="841320" y="1828800"/>
            <a:ext cx="5026680" cy="3609360"/>
          </a:xfrm>
          <a:prstGeom prst="roundRect">
            <a:avLst>
              <a:gd name="adj" fmla="val 3544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4"/>
          <p:cNvSpPr/>
          <p:nvPr/>
        </p:nvSpPr>
        <p:spPr>
          <a:xfrm>
            <a:off x="1234440" y="2121480"/>
            <a:ext cx="1231920" cy="308520"/>
          </a:xfrm>
          <a:prstGeom prst="roundRect">
            <a:avLst>
              <a:gd name="adj" fmla="val 47059"/>
            </a:avLst>
          </a:prstGeom>
          <a:solidFill>
            <a:srgbClr val="57D19C"/>
          </a:solidFill>
          <a:ln w="12700">
            <a:solidFill>
              <a:srgbClr val="57D1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"/>
          <p:cNvSpPr/>
          <p:nvPr/>
        </p:nvSpPr>
        <p:spPr>
          <a:xfrm>
            <a:off x="1280160" y="2180880"/>
            <a:ext cx="11404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Protocol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6"/>
          <p:cNvSpPr/>
          <p:nvPr/>
        </p:nvSpPr>
        <p:spPr>
          <a:xfrm>
            <a:off x="1225440" y="2788920"/>
            <a:ext cx="424944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event loop allocates / receives bytes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→ data_received(data)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7"/>
          <p:cNvSpPr/>
          <p:nvPr/>
        </p:nvSpPr>
        <p:spPr>
          <a:xfrm>
            <a:off x="1225440" y="4389120"/>
            <a:ext cx="42494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F9AB3"/>
                </a:solidFill>
                <a:effectLst/>
                <a:uFillTx/>
                <a:latin typeface="Noto Sans"/>
                <a:ea typeface="Noto Sans"/>
              </a:rPr>
              <a:t>simple, common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8"/>
          <p:cNvSpPr/>
          <p:nvPr/>
        </p:nvSpPr>
        <p:spPr>
          <a:xfrm>
            <a:off x="6309360" y="1828800"/>
            <a:ext cx="5026680" cy="3609360"/>
          </a:xfrm>
          <a:prstGeom prst="roundRect">
            <a:avLst>
              <a:gd name="adj" fmla="val 3544"/>
            </a:avLst>
          </a:prstGeom>
          <a:solidFill>
            <a:srgbClr val="111A2E"/>
          </a:solidFill>
          <a:ln w="12700">
            <a:solidFill>
              <a:srgbClr val="111A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9"/>
          <p:cNvSpPr/>
          <p:nvPr/>
        </p:nvSpPr>
        <p:spPr>
          <a:xfrm>
            <a:off x="6720840" y="2121480"/>
            <a:ext cx="1780560" cy="308520"/>
          </a:xfrm>
          <a:prstGeom prst="roundRect">
            <a:avLst>
              <a:gd name="adj" fmla="val 47059"/>
            </a:avLst>
          </a:prstGeom>
          <a:solidFill>
            <a:srgbClr val="5CE1E6"/>
          </a:solidFill>
          <a:ln w="12700">
            <a:solidFill>
              <a:srgbClr val="5C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0"/>
          <p:cNvSpPr/>
          <p:nvPr/>
        </p:nvSpPr>
        <p:spPr>
          <a:xfrm>
            <a:off x="6766560" y="2180880"/>
            <a:ext cx="16891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B1020"/>
                </a:solidFill>
                <a:effectLst/>
                <a:uFillTx/>
                <a:latin typeface="Noto Sans"/>
                <a:ea typeface="Noto Sans"/>
              </a:rPr>
              <a:t>BufferedProtocol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1"/>
          <p:cNvSpPr/>
          <p:nvPr/>
        </p:nvSpPr>
        <p:spPr>
          <a:xfrm>
            <a:off x="6711840" y="2788920"/>
            <a:ext cx="424944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protocol provides receive buffer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7F9FC"/>
                </a:solidFill>
                <a:effectLst/>
                <a:uFillTx/>
                <a:latin typeface="Noto Sans"/>
                <a:ea typeface="Noto Sans"/>
              </a:rPr>
              <a:t>→ buffer_updated(nbytes)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2"/>
          <p:cNvSpPr/>
          <p:nvPr/>
        </p:nvSpPr>
        <p:spPr>
          <a:xfrm>
            <a:off x="6711840" y="4389120"/>
            <a:ext cx="42494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8F9AB3"/>
                </a:solidFill>
                <a:effectLst/>
                <a:uFillTx/>
                <a:latin typeface="Noto Sans"/>
                <a:ea typeface="Noto Sans"/>
              </a:rPr>
              <a:t>can reduce allocations / copies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sldNum" idx="24"/>
          </p:nvPr>
        </p:nvSpPr>
        <p:spPr>
          <a:xfrm>
            <a:off x="11777400" y="6492240"/>
            <a:ext cx="226080" cy="19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9"/>
                </a:solidFill>
                <a:effectLst/>
                <a:uFillTx/>
                <a:latin typeface="Noto Sans"/>
                <a:ea typeface="Noto Sans"/>
              </a:rPr>
              <a:t>19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 pitchFamily="0" charset="1"/>
        <a:ea typeface=""/>
        <a:cs typeface=""/>
      </a:majorFont>
      <a:minorFont>
        <a:latin typeface="Noto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</TotalTime>
  <Application>LibreOffice/26.2.5.2$Linux_X86_64 LibreOffice_project/6d2b0d33fb0f5da53a12f98bed3e9973e56ff1f0</Application>
  <AppVersion>15.0000</AppVersion>
  <Words>0</Words>
  <Paragraphs>0</Paragraphs>
  <Company>PyCon NL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2026-09-22T10:00:55Z</dcterms:created>
  <dc:creator>OpenAI</dc:creator>
  <dc:description/>
  <dc:language>en-US</dc:language>
  <cp:lastModifiedBy/>
  <dcterms:modified xsi:type="dcterms:W3CDTF">2026-10-14T11:10:10Z</dcterms:modified>
  <cp:revision>27</cp:revision>
  <dc:subject>What's Inside an asyncio Event Loop?</dc:subject>
  <dc:title>What's Inside an asyncio Event Loop?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