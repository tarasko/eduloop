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4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media/image13.svg" ContentType="image/svg"/>
  <Override PartName="/ppt/slides/slide12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18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7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13.xml" ContentType="application/vnd.openxmlformats-officedocument.presentationml.slide+xml"/>
  <Override PartName="/ppt/slides/slide9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9.xml" ContentType="application/vnd.openxmlformats-officedocument.presentationml.slide+xml"/>
  <Override PartName="/ppt/slides/slide5.xml" ContentType="application/vnd.openxmlformats-officedocument.presentationml.slide+xml"/>
  <Override PartName="/ppt/notesSlides/notesSlide14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dt" idx="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ftr" idx="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" name="PlaceHolder 6"/>
          <p:cNvSpPr>
            <a:spLocks noGrp="1"/>
          </p:cNvSpPr>
          <p:nvPr>
            <p:ph type="sldNum" idx="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BE12255D-F503-4DAF-B324-5B5AE0C44279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&lt;number&gt;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360" cy="3081240"/>
          </a:xfrm>
          <a:prstGeom prst="rect">
            <a:avLst/>
          </a:prstGeom>
          <a:ln w="0">
            <a:noFill/>
          </a:ln>
        </p:spPr>
      </p:sp>
      <p:sp>
        <p:nvSpPr>
          <p:cNvPr id="3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360" cy="359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Opening (~30s)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goal is not to teach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async/await syntax. We will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temporarily forget async/await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build the machinery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underneath it from small,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understandable pieces. By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 Tasks and networking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appear, they should feel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inevitable rather than magical.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6760" cy="4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360" cy="3081240"/>
          </a:xfrm>
          <a:prstGeom prst="rect">
            <a:avLst/>
          </a:prstGeom>
          <a:ln w="0">
            <a:noFill/>
          </a:ln>
        </p:spPr>
      </p:sp>
      <p:sp>
        <p:nvSpPr>
          <p:cNvPr id="3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360" cy="359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narrow the discussion to asyncio.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 its core, the event loop has only a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few basic responsibilities.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call_soon puts callback work into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ready queue. call_later manages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callbacks that should become ready in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future. add_reader and add_writer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 I/O readiness interest.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run_forever repeatedly performs one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 iteration until stop is requested.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real signatures have some extra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details, but these are the essential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pieces.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next few slides build these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functions one by one.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1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6760" cy="4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360" cy="3081240"/>
          </a:xfrm>
          <a:prstGeom prst="rect">
            <a:avLst/>
          </a:prstGeom>
          <a:ln w="0">
            <a:noFill/>
          </a:ln>
        </p:spPr>
      </p:sp>
      <p:sp>
        <p:nvSpPr>
          <p:cNvPr id="33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360" cy="359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Start with the smallest thing that deserves to be called an event loop. call_soon just appends a callback and its arguments to a deque. run_forever repeatedly takes the next item and calls 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 the mental model, deliberately omit lifecycle details such as stop(): they are trivial compared with the scheduling mechanism we want to understand.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 this point there is no async/await, no Tasks, no sockets — just callbacks.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obvious problem is that when the ready queue is empty this implementation busy-spins. We will fix that gradually.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6760" cy="4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360" cy="3081240"/>
          </a:xfrm>
          <a:prstGeom prst="rect">
            <a:avLst/>
          </a:prstGeom>
          <a:ln w="0">
            <a:noFill/>
          </a:ln>
        </p:spPr>
      </p:sp>
      <p:sp>
        <p:nvSpPr>
          <p:cNvPr id="33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360" cy="359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add timers. call_later calculates an absolute deadline using monotonic time and pushes the callback into a min-heap.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Each iteration checks the heap. Every timer whose deadline has passed is removed and moved into the same ready queue that call_soon uses. Then we execute the ready callbacks.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there is nothing ready, we can now avoid busy-spinning: look at the earliest timer and sleep until that deadline.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an important step because timers do not create a separate execution mechanism. They only decide when a callback becomes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now we are ready for the next problem: time.sleep knows only about time, but an event loop also needs to wake for I/O.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6760" cy="4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360" cy="3081240"/>
          </a:xfrm>
          <a:prstGeom prst="rect">
            <a:avLst/>
          </a:prstGeom>
          <a:ln w="0">
            <a:noFill/>
          </a:ln>
        </p:spPr>
      </p:sp>
      <p:sp>
        <p:nvSpPr>
          <p:cNvPr id="33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360" cy="359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add timers. call_later calculates an absolute deadline using monotonic time and pushes the callback into a min-heap.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Each iteration checks the heap. Every timer whose deadline has passed is removed and moved into the same ready queue that call_soon uses. Then we execute the ready callbacks.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there is nothing ready, we can now avoid busy-spinning: look at the earliest timer and sleep until that deadline.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an important step because timers do not create a separate execution mechanism. They only decide when a callback becomes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now we are ready for the next problem: time.sleep knows only about time, but an event loop also needs to wake for I/O.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6760" cy="4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360" cy="3081240"/>
          </a:xfrm>
          <a:prstGeom prst="rect">
            <a:avLst/>
          </a:prstGeom>
          <a:ln w="0">
            <a:noFill/>
          </a:ln>
        </p:spPr>
      </p:sp>
      <p:sp>
        <p:nvSpPr>
          <p:cNvPr id="34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360" cy="359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narrative hinge.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time.sleep knows only time. If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timer is 8 seconds away but a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socket receives a packet after 2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ms, sleep cannot wake early.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 replace “sleep until timeout”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with “wait for I/O, but no longer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than timeout”. That is exactly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a selector provides.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6760" cy="4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360" cy="3081240"/>
          </a:xfrm>
          <a:prstGeom prst="rect">
            <a:avLst/>
          </a:prstGeom>
          <a:ln w="0">
            <a:noFill/>
          </a:ln>
        </p:spPr>
      </p:sp>
      <p:sp>
        <p:nvSpPr>
          <p:cNvPr id="34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360" cy="359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add I/O registration. add_reader and add_writer associate a file descriptor plus an event mask with the callback that should become runnable when the descriptor is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implementation on the slide is deliberately small but handles the important case where the same fd may be watched for both reading and writing: update the combined selector mask and keep a callback per event.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selector.select(timeout) is the blocking point. It returns either because an fd became ready or because the timer-derived timeout expired.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select/poll/epoll/kqueue only as examples of the same readiness abstraction; do not dive into their differences.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6760" cy="4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360" cy="3081240"/>
          </a:xfrm>
          <a:prstGeom prst="rect">
            <a:avLst/>
          </a:prstGeom>
          <a:ln w="0">
            <a:noFill/>
          </a:ln>
        </p:spPr>
      </p:sp>
      <p:sp>
        <p:nvSpPr>
          <p:cNvPr id="34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360" cy="359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add I/O registration. add_reader and add_writer associate a file descriptor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plus an event mask with the callback that should become runnable when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descriptor is ready.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implementation on the slide is deliberately small but handles the important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case where the same fd may be watched for both reading and writing: update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combined selector mask and keep a callback per event.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Then selector.select(timeout) is the blocking point. It returns either because an fd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became ready or because the timer-derived timeout expired.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Explain select/poll/epoll/kqueue only as examples of the same readiness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abstraction; do not dive into their differences.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9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6760" cy="4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7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360" cy="3081240"/>
          </a:xfrm>
          <a:prstGeom prst="rect">
            <a:avLst/>
          </a:prstGeom>
          <a:ln w="0">
            <a:noFill/>
          </a:ln>
        </p:spPr>
      </p:sp>
      <p:sp>
        <p:nvSpPr>
          <p:cNvPr id="35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360" cy="359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slide to dwell on. The exact CPython implementation has cancellation cleanup, clock resolution handling, debug timing, etc., but conceptually the loop does these four things.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Important subtlety: run a snapshot/current batch of ready callbacks, not an unbounded loop over callbacks appended by callbacks. Newly scheduled callbacks generally wait for the next iteration.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6760" cy="4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8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360" cy="3081240"/>
          </a:xfrm>
          <a:prstGeom prst="rect">
            <a:avLst/>
          </a:prstGeom>
          <a:ln w="0">
            <a:noFill/>
          </a:ln>
        </p:spPr>
      </p:sp>
      <p:sp>
        <p:nvSpPr>
          <p:cNvPr id="35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360" cy="359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~30s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Pause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emphasiz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 this.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Nothing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about an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event loop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inherently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requires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coroutines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libevent,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GUI loops,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Node's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internals,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old-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school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async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code can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all be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callback-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driven.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introduce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coroutines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 a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control-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flow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abstractio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layered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top of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callback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5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6760" cy="4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360" cy="3081240"/>
          </a:xfrm>
          <a:prstGeom prst="rect">
            <a:avLst/>
          </a:prstGeom>
          <a:ln w="0">
            <a:noFill/>
          </a:ln>
        </p:spPr>
      </p:sp>
      <p:sp>
        <p:nvSpPr>
          <p:cNvPr id="3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360" cy="359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direct answer to “how do you actually pause and resume a coroutine?”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coroutine itself contains `await future`. Python enters Future.__await__(). If the Future is not done, that method executes `yield self`. That yield is what gives control back to the coroutine driver.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first coro.send(None) therefore runs conversation() until the Future yields itself. Later we mark the Future done and send None again. Execution continues inside Future.__await__(), which returns the stored result; that becomes the value of the await expression.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example mutates private fields only to keep this slide focused. The next slide introduces the public completion API: set_result(), set_exception(), and add_done_callback().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conversation() finally returns, send(None) raises StopIteration to its driver; mention this only if useful.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6760" cy="4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360" cy="3081240"/>
          </a:xfrm>
          <a:prstGeom prst="rect">
            <a:avLst/>
          </a:prstGeom>
          <a:ln w="0">
            <a:noFill/>
          </a:ln>
        </p:spPr>
      </p:sp>
      <p:sp>
        <p:nvSpPr>
          <p:cNvPr id="3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360" cy="359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introduce the Future API that replaces the private field manipulation from the previous slide.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add_done_callback(cb): somebody can register interest in completion. A Task will use this to arrange its own resumption.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set_result(value) and set_exception(exc) are the two important ways to complete the Future.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key connection back to our event loop: asyncio schedules Future done callbacks through loop.call_soon rather than invoking them inline. So Future completion simply creates normal ready-queue work.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conceptual; cancellation and other production details are deliberately omitted.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6760" cy="4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11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360" cy="3081240"/>
          </a:xfrm>
          <a:prstGeom prst="rect">
            <a:avLst/>
          </a:prstGeom>
          <a:ln w="0">
            <a:noFill/>
          </a:ln>
        </p:spPr>
      </p:sp>
      <p:sp>
        <p:nvSpPr>
          <p:cNvPr id="3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360" cy="359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Now the three pieces join together. A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owns a coroutine. Its step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callback calls coro.send(None).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If the coroutine reaches `await future`,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Future.__await__() yields that Future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 to Task.step(). The Task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registers wakeup as a done callback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stops doing anything.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When the Future completes, Future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schedules wakeup through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loop.call_soon. Because wakeup itself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is now an event-loop callback, it can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immediately drive the coroutine again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by calling step().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Notice the important detail from slide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10: we send None when resuming.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Future.__await__() returns its stored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result internally, so that value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becomes the result of the await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expression.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pseudocode intentionally ignores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cancellation and exception injection.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payoff slide next shows the whole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cycle.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6760" cy="4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360" cy="3081240"/>
          </a:xfrm>
          <a:prstGeom prst="rect">
            <a:avLst/>
          </a:prstGeom>
          <a:ln w="0">
            <a:noFill/>
          </a:ln>
        </p:spPr>
      </p:sp>
      <p:sp>
        <p:nvSpPr>
          <p:cNvPr id="3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360" cy="359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~2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concep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tual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reveal.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Trace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comple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 cycle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from an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I/O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to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next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await.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precise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attache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 to /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 an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loop;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are not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literally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discon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nected.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useful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archite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ctural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point is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that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event-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loop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iteratio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 does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need 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underst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and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Python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corouti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control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flow. It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execut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schedu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led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callbac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ks;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Task/F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uture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machin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ery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convert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corouti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suspen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sion/re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sumpti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 into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those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callbac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6760" cy="4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13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360" cy="3081240"/>
          </a:xfrm>
          <a:prstGeom prst="rect">
            <a:avLst/>
          </a:prstGeom>
          <a:ln w="0">
            <a:noFill/>
          </a:ln>
        </p:spPr>
      </p:sp>
      <p:sp>
        <p:nvSpPr>
          <p:cNvPr id="3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360" cy="359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is the networking map for a SelectorEventLoop. At the center are readiness callbacks: add_reader() and add_writer(). One layer out there are two paths. Transport/Protocol is created through create_connection()/create_server(). The sock_* coroutines are a parallel path that works directly with non-blocking sockets. Streams are built on the Transport/Protocol path: open_connection() uses create_connection(), and start_server() uses create_server(). Later I will qualify the center for Windows, where ProactorEventLoop uses IOCP completion operations instead.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6760" cy="4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14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1360" cy="3081240"/>
          </a:xfrm>
          <a:prstGeom prst="rect">
            <a:avLst/>
          </a:prstGeom>
          <a:ln w="0">
            <a:noFill/>
          </a:ln>
        </p:spPr>
      </p:sp>
      <p:sp>
        <p:nvSpPr>
          <p:cNvPr id="3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1360" cy="35953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~1.5 min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Keep this concrete. Protocol is the application-facing callback object; Transport abstracts the channel and exposes write/control methods. The event loop constructs them together.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Mention flow control only briefly if time allows. BufferedProtocol is appendix material, not part of the main path.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3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6760" cy="4536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15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MASTER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6720" cy="45360"/>
          </a:xfrm>
          <a:prstGeom prst="rect">
            <a:avLst/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5400" rIns="90000" bIns="5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10561320" y="6492240"/>
            <a:ext cx="113796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PyCon NL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1"/>
          <p:cNvSpPr>
            <a:spLocks noGrp="1"/>
          </p:cNvSpPr>
          <p:nvPr>
            <p:ph type="sldNum" idx="1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C7D5C36-3E08-4391-B4CE-50F6C0EEC242}" type="slidenum"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&lt;number&gt;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7760" cy="114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67760" cy="397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1_MASTER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hape 0"/>
          <p:cNvSpPr/>
          <p:nvPr/>
        </p:nvSpPr>
        <p:spPr>
          <a:xfrm>
            <a:off x="0" y="0"/>
            <a:ext cx="12186720" cy="45360"/>
          </a:xfrm>
          <a:prstGeom prst="rect">
            <a:avLst/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5400" rIns="90000" bIns="54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Text 1"/>
          <p:cNvSpPr/>
          <p:nvPr/>
        </p:nvSpPr>
        <p:spPr>
          <a:xfrm>
            <a:off x="10561320" y="6492240"/>
            <a:ext cx="1137960" cy="19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PyCon NL</a:t>
            </a:r>
            <a:endParaRPr lang="en-US" sz="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" name="PlaceHolder 1"/>
          <p:cNvSpPr>
            <a:spLocks noGrp="1"/>
          </p:cNvSpPr>
          <p:nvPr>
            <p:ph type="sldNum" idx="2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8562BE4-AED3-4563-86F2-6D6F9CE698E2}" type="slidenum">
              <a:rPr lang="en-US" sz="900" b="0" u="none" strike="noStrike">
                <a:solidFill>
                  <a:srgbClr val="6F7A93"/>
                </a:solidFill>
                <a:effectLst/>
                <a:uFillTx/>
                <a:latin typeface="Noto Sans"/>
                <a:ea typeface="Noto Sans"/>
              </a:rPr>
              <a:t>&lt;number&gt;</a:t>
            </a:fld>
            <a:endParaRPr lang="en-US" sz="9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67760" cy="1140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67760" cy="39726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Noto Sans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Noto Sans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9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sv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14.png"/><Relationship Id="rId2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457200" y="1000800"/>
            <a:ext cx="9140040" cy="1056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 anchorCtr="1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4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What's inside an asyncio event loop?</a:t>
            </a:r>
            <a:endParaRPr lang="en-US" sz="3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PlaceHolder 1"/>
          <p:cNvSpPr>
            <a:spLocks noGrp="1"/>
          </p:cNvSpPr>
          <p:nvPr>
            <p:ph type="sldNum" idx="6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TextBox 59"/>
          <p:cNvSpPr/>
          <p:nvPr/>
        </p:nvSpPr>
        <p:spPr>
          <a:xfrm>
            <a:off x="721800" y="2026440"/>
            <a:ext cx="21070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Taras Kozlov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ection label"/>
          <p:cNvSpPr/>
          <p:nvPr/>
        </p:nvSpPr>
        <p:spPr>
          <a:xfrm>
            <a:off x="567000" y="384120"/>
            <a:ext cx="2190960" cy="19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 · 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AS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YN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CI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O 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LO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itle"/>
          <p:cNvSpPr/>
          <p:nvPr/>
        </p:nvSpPr>
        <p:spPr>
          <a:xfrm>
            <a:off x="567000" y="658440"/>
            <a:ext cx="7677360" cy="471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asyncio event loop at a glance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" name="Subtitle"/>
          <p:cNvSpPr/>
          <p:nvPr/>
        </p:nvSpPr>
        <p:spPr>
          <a:xfrm>
            <a:off x="612720" y="1225440"/>
            <a:ext cx="8774640" cy="32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large API defined by </a:t>
            </a:r>
            <a:r>
              <a:rPr lang="en-US" sz="1800" b="1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asyncio.AbstractEventLoop</a:t>
            </a: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 — but only a small part of it is fundamental.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" name="Loop API surface"/>
          <p:cNvSpPr/>
          <p:nvPr/>
        </p:nvSpPr>
        <p:spPr>
          <a:xfrm>
            <a:off x="658440" y="1856160"/>
            <a:ext cx="6781320" cy="3471120"/>
          </a:xfrm>
          <a:prstGeom prst="roundRect">
            <a:avLst>
              <a:gd name="adj" fmla="val 11000"/>
            </a:avLst>
          </a:prstGeom>
          <a:solidFill>
            <a:srgbClr val="111A2E"/>
          </a:solidFill>
          <a:ln w="1524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255960" tIns="109800" rIns="255960" bIns="9144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Loop API surface label"/>
          <p:cNvSpPr/>
          <p:nvPr/>
        </p:nvSpPr>
        <p:spPr>
          <a:xfrm>
            <a:off x="1024200" y="2112120"/>
            <a:ext cx="209952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LOOP API SURFACE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Socket operations"/>
          <p:cNvSpPr/>
          <p:nvPr/>
        </p:nvSpPr>
        <p:spPr>
          <a:xfrm>
            <a:off x="1024200" y="2441520"/>
            <a:ext cx="1322280" cy="38052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63D7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63D7E3"/>
                </a:solidFill>
                <a:effectLst/>
                <a:uFillTx/>
                <a:latin typeface="Noto Sans"/>
              </a:rPr>
              <a:t>SOCKET OPS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" name="DNS"/>
          <p:cNvSpPr/>
          <p:nvPr/>
        </p:nvSpPr>
        <p:spPr>
          <a:xfrm>
            <a:off x="2487240" y="2441520"/>
            <a:ext cx="746280" cy="38052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63D7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63D7E3"/>
                </a:solidFill>
                <a:effectLst/>
                <a:uFillTx/>
                <a:latin typeface="Noto Sans"/>
              </a:rPr>
              <a:t>DNS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" name="Signals"/>
          <p:cNvSpPr/>
          <p:nvPr/>
        </p:nvSpPr>
        <p:spPr>
          <a:xfrm>
            <a:off x="3374280" y="2441520"/>
            <a:ext cx="956520" cy="38052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63D7E3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63D7E3"/>
                </a:solidFill>
                <a:effectLst/>
                <a:uFillTx/>
                <a:latin typeface="Noto Sans"/>
              </a:rPr>
              <a:t>SIGNALS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" name="Subprocesses"/>
          <p:cNvSpPr/>
          <p:nvPr/>
        </p:nvSpPr>
        <p:spPr>
          <a:xfrm>
            <a:off x="4471560" y="2441520"/>
            <a:ext cx="1386360" cy="38052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B28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B28CFF"/>
                </a:solidFill>
                <a:effectLst/>
                <a:uFillTx/>
                <a:latin typeface="Noto Sans"/>
              </a:rPr>
              <a:t>SUBPROCESSES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" name="Executors"/>
          <p:cNvSpPr/>
          <p:nvPr/>
        </p:nvSpPr>
        <p:spPr>
          <a:xfrm>
            <a:off x="5998320" y="2441520"/>
            <a:ext cx="1093680" cy="38052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B28CFF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B28CFF"/>
                </a:solidFill>
                <a:effectLst/>
                <a:uFillTx/>
                <a:latin typeface="Noto Sans"/>
              </a:rPr>
              <a:t>EXECUTORS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" name="Transports"/>
          <p:cNvSpPr/>
          <p:nvPr/>
        </p:nvSpPr>
        <p:spPr>
          <a:xfrm>
            <a:off x="1417320" y="2999160"/>
            <a:ext cx="1185120" cy="38052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5DE0A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5DE0AE"/>
                </a:solidFill>
                <a:effectLst/>
                <a:uFillTx/>
                <a:latin typeface="Noto Sans"/>
              </a:rPr>
              <a:t>TRANSPORTS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" name="Streams"/>
          <p:cNvSpPr/>
          <p:nvPr/>
        </p:nvSpPr>
        <p:spPr>
          <a:xfrm>
            <a:off x="2743200" y="2999160"/>
            <a:ext cx="983880" cy="38052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5DE0A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5DE0AE"/>
                </a:solidFill>
                <a:effectLst/>
                <a:uFillTx/>
                <a:latin typeface="Noto Sans"/>
              </a:rPr>
              <a:t>STREAMS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Runtime"/>
          <p:cNvSpPr/>
          <p:nvPr/>
        </p:nvSpPr>
        <p:spPr>
          <a:xfrm>
            <a:off x="3867840" y="2999160"/>
            <a:ext cx="965520" cy="38052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RUNTIME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Diagnostics"/>
          <p:cNvSpPr/>
          <p:nvPr/>
        </p:nvSpPr>
        <p:spPr>
          <a:xfrm>
            <a:off x="4974480" y="2999160"/>
            <a:ext cx="1258200" cy="38052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10160">
            <a:solidFill>
              <a:srgbClr val="4B8BB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6720" tIns="109800" rIns="36720" bIns="9144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DIAGNOSTICS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" name="Built on"/>
          <p:cNvSpPr/>
          <p:nvPr/>
        </p:nvSpPr>
        <p:spPr>
          <a:xfrm>
            <a:off x="2743200" y="3502080"/>
            <a:ext cx="2602440" cy="27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 algn="ctr">
              <a:lnSpc>
                <a:spcPct val="100000"/>
              </a:lnSpc>
            </a:pPr>
            <a:r>
              <a:rPr lang="en-US" sz="1100" b="1" u="none" strike="noStrike">
                <a:solidFill>
                  <a:srgbClr val="7F8AA3"/>
                </a:solidFill>
                <a:effectLst/>
                <a:uFillTx/>
                <a:latin typeface="Noto Sans"/>
              </a:rPr>
              <a:t>BUILT 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" name="Fundamental core"/>
          <p:cNvSpPr/>
          <p:nvPr/>
        </p:nvSpPr>
        <p:spPr>
          <a:xfrm>
            <a:off x="1261800" y="3822120"/>
            <a:ext cx="5574240" cy="1139400"/>
          </a:xfrm>
          <a:prstGeom prst="roundRect">
            <a:avLst>
              <a:gd name="adj" fmla="val 11000"/>
            </a:avLst>
          </a:prstGeom>
          <a:solidFill>
            <a:srgbClr val="0E1628"/>
          </a:solidFill>
          <a:ln w="254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164520" tIns="109800" rIns="164520" bIns="91440" anchor="ctr">
            <a:noAutofit/>
          </a:bodyPr>
          <a:p>
            <a:pPr algn="ctr">
              <a:lnSpc>
                <a:spcPct val="100000"/>
              </a:lnSpc>
              <a:spcAft>
                <a:spcPts val="451"/>
              </a:spcAft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FUNDAMENTAL 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CORE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  <a:spcAft>
                <a:spcPts val="300"/>
              </a:spcAf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CALLBACKS  · </a:t>
            </a: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 TIMERS  ·  </a:t>
            </a: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I/O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one iteration at a </a:t>
            </a: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time:  run_once()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API versus core"/>
          <p:cNvSpPr/>
          <p:nvPr/>
        </p:nvSpPr>
        <p:spPr>
          <a:xfrm>
            <a:off x="7717680" y="1856160"/>
            <a:ext cx="3745440" cy="3471120"/>
          </a:xfrm>
          <a:prstGeom prst="roundRect">
            <a:avLst>
              <a:gd name="adj" fmla="val 11000"/>
            </a:avLst>
          </a:prstGeom>
          <a:solidFill>
            <a:srgbClr val="111A2E"/>
          </a:solidFill>
          <a:ln w="1524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329040" tIns="109800" rIns="329040" bIns="91440" anchor="ctr">
            <a:noAutofit/>
          </a:bodyPr>
          <a:p>
            <a:pPr>
              <a:lnSpc>
                <a:spcPct val="100000"/>
              </a:lnSpc>
              <a:spcAft>
                <a:spcPts val="400"/>
              </a:spcAft>
            </a:pPr>
            <a:r>
              <a:rPr lang="en-US" sz="39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&gt;50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public methods on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AbstractEventLoop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601"/>
              </a:spcAft>
            </a:pP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  <a:spcAft>
                <a:spcPts val="249"/>
              </a:spcAft>
            </a:pPr>
            <a:r>
              <a:rPr lang="en-US" sz="3000" b="1" u="none" strike="noStrike">
                <a:solidFill>
                  <a:srgbClr val="63D7E3"/>
                </a:solidFill>
                <a:effectLst/>
                <a:uFillTx/>
                <a:latin typeface="Noto Sans"/>
              </a:rPr>
              <a:t>3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fundamental mechanisms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0" u="none" strike="noStrike">
                <a:solidFill>
                  <a:srgbClr val="AEB8CC"/>
                </a:solidFill>
                <a:effectLst/>
                <a:uFillTx/>
                <a:latin typeface="Noto Sans"/>
              </a:rPr>
              <a:t>callbacks · timers · I/O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38" name="Comparison divider"/>
          <p:cNvCxnSpPr/>
          <p:nvPr/>
        </p:nvCxnSpPr>
        <p:spPr>
          <a:xfrm>
            <a:off x="8128800" y="3812760"/>
            <a:ext cx="2929680" cy="3600"/>
          </a:xfrm>
          <a:prstGeom prst="straightConnector1">
            <a:avLst/>
          </a:prstGeom>
          <a:ln w="12700">
            <a:solidFill>
              <a:srgbClr val="53627C"/>
            </a:solidFill>
            <a:round/>
          </a:ln>
        </p:spPr>
      </p:cxnSp>
      <p:sp>
        <p:nvSpPr>
          <p:cNvPr id="39" name="Constraints label"/>
          <p:cNvSpPr/>
          <p:nvPr/>
        </p:nvSpPr>
        <p:spPr>
          <a:xfrm>
            <a:off x="685800" y="5724000"/>
            <a:ext cx="1963080" cy="20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IMPORTANT CONSTRAINTS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" name="One thread"/>
          <p:cNvSpPr/>
          <p:nvPr/>
        </p:nvSpPr>
        <p:spPr>
          <a:xfrm>
            <a:off x="2788920" y="5687640"/>
            <a:ext cx="205380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  <a:spcAft>
                <a:spcPts val="119"/>
              </a:spcAft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ONE THREAD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cooperative scheduling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hread safety"/>
          <p:cNvSpPr/>
          <p:nvPr/>
        </p:nvSpPr>
        <p:spPr>
          <a:xfrm>
            <a:off x="5074920" y="5687640"/>
            <a:ext cx="315108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  <a:spcAft>
                <a:spcPts val="119"/>
              </a:spcAft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NOT GENERALLY THREAD-SAFE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cross-thread → call_soon_threadsafe()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" name="No preemption"/>
          <p:cNvSpPr/>
          <p:nvPr/>
        </p:nvSpPr>
        <p:spPr>
          <a:xfrm>
            <a:off x="8412480" y="5687640"/>
            <a:ext cx="3059640" cy="435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0" tIns="0" rIns="0" bIns="0" anchor="ctr">
            <a:noAutofit/>
          </a:bodyPr>
          <a:p>
            <a:pPr>
              <a:lnSpc>
                <a:spcPct val="100000"/>
              </a:lnSpc>
              <a:spcAft>
                <a:spcPts val="119"/>
              </a:spcAft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NO PREEMPTION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blocking code blocks the </a:t>
            </a:r>
            <a:r>
              <a:rPr lang="en-US" sz="11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loop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TextBox 1"/>
          <p:cNvSpPr/>
          <p:nvPr/>
        </p:nvSpPr>
        <p:spPr>
          <a:xfrm>
            <a:off x="567000" y="347400"/>
            <a:ext cx="493272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2 · THE CORE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" name="TextBox 2"/>
          <p:cNvSpPr/>
          <p:nvPr/>
        </p:nvSpPr>
        <p:spPr>
          <a:xfrm>
            <a:off x="567000" y="640080"/>
            <a:ext cx="1087632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asyncio event loop: the core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" name="TextBox 3"/>
          <p:cNvSpPr/>
          <p:nvPr/>
        </p:nvSpPr>
        <p:spPr>
          <a:xfrm>
            <a:off x="621720" y="1234440"/>
            <a:ext cx="10693440" cy="406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At its lowest useful level, the loop manages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callbacks, timers, and I/O readiness.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" name="Rounded Rectangle 4"/>
          <p:cNvSpPr/>
          <p:nvPr/>
        </p:nvSpPr>
        <p:spPr>
          <a:xfrm>
            <a:off x="685800" y="1874520"/>
            <a:ext cx="2281320" cy="138492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47" name="TextBox 5"/>
          <p:cNvSpPr/>
          <p:nvPr/>
        </p:nvSpPr>
        <p:spPr>
          <a:xfrm>
            <a:off x="914400" y="2057400"/>
            <a:ext cx="21805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call_soon(callback,*)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TextBox 6"/>
          <p:cNvSpPr/>
          <p:nvPr/>
        </p:nvSpPr>
        <p:spPr>
          <a:xfrm>
            <a:off x="914400" y="2624400"/>
            <a:ext cx="182412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</a:rPr>
              <a:t>READY QUEUE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TextBox 7"/>
          <p:cNvSpPr/>
          <p:nvPr/>
        </p:nvSpPr>
        <p:spPr>
          <a:xfrm>
            <a:off x="914400" y="2898720"/>
            <a:ext cx="218052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FIFO queue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Rounded Rectangle 8"/>
          <p:cNvSpPr/>
          <p:nvPr/>
        </p:nvSpPr>
        <p:spPr>
          <a:xfrm>
            <a:off x="3200400" y="1874520"/>
            <a:ext cx="2655720" cy="138492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51" name="TextBox 9"/>
          <p:cNvSpPr/>
          <p:nvPr/>
        </p:nvSpPr>
        <p:spPr>
          <a:xfrm>
            <a:off x="3321000" y="2039040"/>
            <a:ext cx="2535120" cy="173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call_later(delay,callback,*)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Box 10"/>
          <p:cNvSpPr/>
          <p:nvPr/>
        </p:nvSpPr>
        <p:spPr>
          <a:xfrm>
            <a:off x="3321000" y="2624400"/>
            <a:ext cx="218052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TI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ME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R 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HE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Box 11"/>
          <p:cNvSpPr/>
          <p:nvPr/>
        </p:nvSpPr>
        <p:spPr>
          <a:xfrm>
            <a:off x="3321000" y="2898720"/>
            <a:ext cx="218052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ordered by deadline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Rounded Rectangle 12"/>
          <p:cNvSpPr/>
          <p:nvPr/>
        </p:nvSpPr>
        <p:spPr>
          <a:xfrm>
            <a:off x="6007680" y="1874520"/>
            <a:ext cx="2903040" cy="138492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55" name="TextBox 13"/>
          <p:cNvSpPr/>
          <p:nvPr/>
        </p:nvSpPr>
        <p:spPr>
          <a:xfrm>
            <a:off x="6172200" y="2039040"/>
            <a:ext cx="2738520" cy="34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add_reader(fd, callback, *)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add_writer(fd, callback, *)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6" name="TextBox 14"/>
          <p:cNvSpPr/>
          <p:nvPr/>
        </p:nvSpPr>
        <p:spPr>
          <a:xfrm>
            <a:off x="6172200" y="2590200"/>
            <a:ext cx="218052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57D19C"/>
                </a:solidFill>
                <a:effectLst/>
                <a:uFillTx/>
                <a:latin typeface="Noto Sans"/>
              </a:rPr>
              <a:t>I/O REGISTRATION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Box 15"/>
          <p:cNvSpPr/>
          <p:nvPr/>
        </p:nvSpPr>
        <p:spPr>
          <a:xfrm>
            <a:off x="6172200" y="2898720"/>
            <a:ext cx="218052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wait for readiness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Rounded Rectangle 16"/>
          <p:cNvSpPr/>
          <p:nvPr/>
        </p:nvSpPr>
        <p:spPr>
          <a:xfrm>
            <a:off x="9144000" y="1874520"/>
            <a:ext cx="2034000" cy="138492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59" name="TextBox 17"/>
          <p:cNvSpPr/>
          <p:nvPr/>
        </p:nvSpPr>
        <p:spPr>
          <a:xfrm>
            <a:off x="9372600" y="2039040"/>
            <a:ext cx="1640880" cy="520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run_forever()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14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stop()</a:t>
            </a: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14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Box 18"/>
          <p:cNvSpPr/>
          <p:nvPr/>
        </p:nvSpPr>
        <p:spPr>
          <a:xfrm>
            <a:off x="9327240" y="2624400"/>
            <a:ext cx="1640880" cy="14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B89CFF"/>
                </a:solidFill>
                <a:effectLst/>
                <a:uFillTx/>
                <a:latin typeface="Noto Sans"/>
              </a:rPr>
              <a:t>LOOP </a:t>
            </a:r>
            <a:r>
              <a:rPr lang="en-US" sz="1100" b="1" u="none" strike="noStrike">
                <a:solidFill>
                  <a:srgbClr val="B89CFF"/>
                </a:solidFill>
                <a:effectLst/>
                <a:uFillTx/>
                <a:latin typeface="Noto Sans"/>
              </a:rPr>
              <a:t>CONTROL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1" name="TextBox 19"/>
          <p:cNvSpPr/>
          <p:nvPr/>
        </p:nvSpPr>
        <p:spPr>
          <a:xfrm>
            <a:off x="8832960" y="2898720"/>
            <a:ext cx="218052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repeat run_once()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" name="TextBox 20"/>
          <p:cNvSpPr/>
          <p:nvPr/>
        </p:nvSpPr>
        <p:spPr>
          <a:xfrm>
            <a:off x="685800" y="3611880"/>
            <a:ext cx="1051056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Everything converges on one simple operation: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Rounded Rectangle 21"/>
          <p:cNvSpPr/>
          <p:nvPr/>
        </p:nvSpPr>
        <p:spPr>
          <a:xfrm>
            <a:off x="1938600" y="4005000"/>
            <a:ext cx="8297640" cy="1183680"/>
          </a:xfrm>
          <a:prstGeom prst="roundRect">
            <a:avLst>
              <a:gd name="adj" fmla="val 16667"/>
            </a:avLst>
          </a:prstGeom>
          <a:solidFill>
            <a:srgbClr val="0A0F1D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64" name="TextBox 22"/>
          <p:cNvSpPr/>
          <p:nvPr/>
        </p:nvSpPr>
        <p:spPr>
          <a:xfrm>
            <a:off x="2240280" y="4233600"/>
            <a:ext cx="7694280" cy="324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20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run_once()</a:t>
            </a:r>
            <a:endParaRPr lang="en-US" sz="2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23"/>
          <p:cNvSpPr/>
          <p:nvPr/>
        </p:nvSpPr>
        <p:spPr>
          <a:xfrm>
            <a:off x="2240280" y="4617720"/>
            <a:ext cx="769428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collect work </a:t>
            </a:r>
            <a:r>
              <a:rPr lang="en-US" sz="14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that became </a:t>
            </a:r>
            <a:r>
              <a:rPr lang="en-US" sz="14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ready  →  run </a:t>
            </a:r>
            <a:r>
              <a:rPr lang="en-US" sz="14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the callbacks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24"/>
          <p:cNvSpPr/>
          <p:nvPr/>
        </p:nvSpPr>
        <p:spPr>
          <a:xfrm>
            <a:off x="2057400" y="5596200"/>
            <a:ext cx="808740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2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Let's have a </a:t>
            </a:r>
            <a:r>
              <a:rPr lang="en-US" sz="2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closer look at </a:t>
            </a:r>
            <a:r>
              <a:rPr lang="en-US" sz="2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these pieces.</a:t>
            </a:r>
            <a:endParaRPr lang="en-US" sz="2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PlaceHolder 1"/>
          <p:cNvSpPr>
            <a:spLocks noGrp="1"/>
          </p:cNvSpPr>
          <p:nvPr>
            <p:ph type="sldNum" idx="7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4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68" name="TextBox 25"/>
          <p:cNvSpPr/>
          <p:nvPr/>
        </p:nvSpPr>
        <p:spPr>
          <a:xfrm>
            <a:off x="567000" y="347400"/>
            <a:ext cx="493272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3 · CALLBACKS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9" name="TextBox 26"/>
          <p:cNvSpPr/>
          <p:nvPr/>
        </p:nvSpPr>
        <p:spPr>
          <a:xfrm>
            <a:off x="567000" y="640080"/>
            <a:ext cx="1087632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The smallest possible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event loop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TextBox 27"/>
          <p:cNvSpPr/>
          <p:nvPr/>
        </p:nvSpPr>
        <p:spPr>
          <a:xfrm>
            <a:off x="621720" y="1234440"/>
            <a:ext cx="1069344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It begins with only two ideas: enqueue a callback, then keep executing callbacks from the queue.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1" name="Rounded Rectangle 30"/>
          <p:cNvSpPr/>
          <p:nvPr/>
        </p:nvSpPr>
        <p:spPr>
          <a:xfrm>
            <a:off x="7113960" y="1847160"/>
            <a:ext cx="4155480" cy="105552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72" name="TextBox 31"/>
          <p:cNvSpPr/>
          <p:nvPr/>
        </p:nvSpPr>
        <p:spPr>
          <a:xfrm>
            <a:off x="7360920" y="2011680"/>
            <a:ext cx="159516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READY QUEUE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3" name="Rounded Rectangle 32"/>
          <p:cNvSpPr/>
          <p:nvPr/>
        </p:nvSpPr>
        <p:spPr>
          <a:xfrm>
            <a:off x="7360920" y="2359080"/>
            <a:ext cx="909360" cy="342360"/>
          </a:xfrm>
          <a:prstGeom prst="roundRect">
            <a:avLst>
              <a:gd name="adj" fmla="val 16667"/>
            </a:avLst>
          </a:prstGeom>
          <a:solidFill>
            <a:srgbClr val="4B8BB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74" name="TextBox 33"/>
          <p:cNvSpPr/>
          <p:nvPr/>
        </p:nvSpPr>
        <p:spPr>
          <a:xfrm>
            <a:off x="7360920" y="2432160"/>
            <a:ext cx="909360" cy="15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cb₁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Rounded Rectangle 34"/>
          <p:cNvSpPr/>
          <p:nvPr/>
        </p:nvSpPr>
        <p:spPr>
          <a:xfrm>
            <a:off x="8503920" y="2359080"/>
            <a:ext cx="909360" cy="34236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76" name="TextBox 35"/>
          <p:cNvSpPr/>
          <p:nvPr/>
        </p:nvSpPr>
        <p:spPr>
          <a:xfrm>
            <a:off x="8503920" y="2432160"/>
            <a:ext cx="909360" cy="15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cb₂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Rounded Rectangle 36"/>
          <p:cNvSpPr/>
          <p:nvPr/>
        </p:nvSpPr>
        <p:spPr>
          <a:xfrm>
            <a:off x="9646920" y="2359080"/>
            <a:ext cx="909360" cy="34236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78" name="TextBox 37"/>
          <p:cNvSpPr/>
          <p:nvPr/>
        </p:nvSpPr>
        <p:spPr>
          <a:xfrm>
            <a:off x="9646920" y="2432160"/>
            <a:ext cx="909360" cy="15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cb₃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9" name=""/>
          <p:cNvPicPr/>
          <p:nvPr/>
        </p:nvPicPr>
        <p:blipFill>
          <a:blip r:embed="rId1"/>
          <a:stretch/>
        </p:blipFill>
        <p:spPr>
          <a:xfrm>
            <a:off x="590760" y="1705320"/>
            <a:ext cx="6033960" cy="4720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sldNum" idx="8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TextBox 4"/>
          <p:cNvSpPr/>
          <p:nvPr/>
        </p:nvSpPr>
        <p:spPr>
          <a:xfrm>
            <a:off x="567000" y="347400"/>
            <a:ext cx="493272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4 · TIMERS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8"/>
          <p:cNvSpPr/>
          <p:nvPr/>
        </p:nvSpPr>
        <p:spPr>
          <a:xfrm>
            <a:off x="567000" y="640080"/>
            <a:ext cx="1087632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We need timers too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3" name="TextBox 42"/>
          <p:cNvSpPr/>
          <p:nvPr/>
        </p:nvSpPr>
        <p:spPr>
          <a:xfrm>
            <a:off x="621720" y="1234440"/>
            <a:ext cx="1069344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c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al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lb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c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k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h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at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m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u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st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b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r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u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n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af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te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r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o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m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ti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m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e.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m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in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-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h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p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k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p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h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rli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st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c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al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lb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c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k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o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n 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o</a:t>
            </a: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p.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44"/>
          <p:cNvSpPr/>
          <p:nvPr/>
        </p:nvSpPr>
        <p:spPr>
          <a:xfrm>
            <a:off x="8522280" y="1856160"/>
            <a:ext cx="3332520" cy="214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MIN-HEAP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Rounded Rectangle 1"/>
          <p:cNvSpPr/>
          <p:nvPr/>
        </p:nvSpPr>
        <p:spPr>
          <a:xfrm>
            <a:off x="9820800" y="2240280"/>
            <a:ext cx="708120" cy="497880"/>
          </a:xfrm>
          <a:prstGeom prst="roundRect">
            <a:avLst>
              <a:gd name="adj" fmla="val 16667"/>
            </a:avLst>
          </a:prstGeom>
          <a:solidFill>
            <a:srgbClr val="FFD43B"/>
          </a:solidFill>
          <a:ln w="12700"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86" name="TextBox 53"/>
          <p:cNvSpPr/>
          <p:nvPr/>
        </p:nvSpPr>
        <p:spPr>
          <a:xfrm>
            <a:off x="9820800" y="2368440"/>
            <a:ext cx="708120" cy="17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1.2s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Rounded Rectangle 2"/>
          <p:cNvSpPr/>
          <p:nvPr/>
        </p:nvSpPr>
        <p:spPr>
          <a:xfrm>
            <a:off x="8842320" y="3154680"/>
            <a:ext cx="708120" cy="497880"/>
          </a:xfrm>
          <a:prstGeom prst="roundRect">
            <a:avLst>
              <a:gd name="adj" fmla="val 16667"/>
            </a:avLst>
          </a:prstGeom>
          <a:solidFill>
            <a:srgbClr val="4B8BB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88" name="TextBox 55"/>
          <p:cNvSpPr/>
          <p:nvPr/>
        </p:nvSpPr>
        <p:spPr>
          <a:xfrm>
            <a:off x="8842320" y="3282840"/>
            <a:ext cx="708120" cy="17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3.7s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9" name="Rounded Rectangle 3"/>
          <p:cNvSpPr/>
          <p:nvPr/>
        </p:nvSpPr>
        <p:spPr>
          <a:xfrm>
            <a:off x="10789920" y="3154680"/>
            <a:ext cx="708120" cy="49788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90" name="TextBox 57"/>
          <p:cNvSpPr/>
          <p:nvPr/>
        </p:nvSpPr>
        <p:spPr>
          <a:xfrm>
            <a:off x="10789920" y="3282840"/>
            <a:ext cx="708120" cy="17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2.4s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1" name="Rounded Rectangle 5"/>
          <p:cNvSpPr/>
          <p:nvPr/>
        </p:nvSpPr>
        <p:spPr>
          <a:xfrm>
            <a:off x="8458200" y="4069080"/>
            <a:ext cx="708120" cy="49788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92" name="TextBox 60"/>
          <p:cNvSpPr/>
          <p:nvPr/>
        </p:nvSpPr>
        <p:spPr>
          <a:xfrm>
            <a:off x="8458200" y="4197240"/>
            <a:ext cx="708120" cy="17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8.0s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Rounded Rectangle 6"/>
          <p:cNvSpPr/>
          <p:nvPr/>
        </p:nvSpPr>
        <p:spPr>
          <a:xfrm>
            <a:off x="9317880" y="4069080"/>
            <a:ext cx="708120" cy="49788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94" name="TextBox 61"/>
          <p:cNvSpPr/>
          <p:nvPr/>
        </p:nvSpPr>
        <p:spPr>
          <a:xfrm>
            <a:off x="9317880" y="4197240"/>
            <a:ext cx="708120" cy="17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5.1s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95" name="Connector 1"/>
          <p:cNvCxnSpPr/>
          <p:nvPr/>
        </p:nvCxnSpPr>
        <p:spPr>
          <a:xfrm flipH="1">
            <a:off x="9198720" y="2743200"/>
            <a:ext cx="983520" cy="41652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96" name="Connector 2"/>
          <p:cNvCxnSpPr/>
          <p:nvPr/>
        </p:nvCxnSpPr>
        <p:spPr>
          <a:xfrm>
            <a:off x="10177200" y="2743200"/>
            <a:ext cx="974160" cy="41652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97" name="Connector 3"/>
          <p:cNvCxnSpPr/>
          <p:nvPr/>
        </p:nvCxnSpPr>
        <p:spPr>
          <a:xfrm flipH="1">
            <a:off x="8814600" y="3657600"/>
            <a:ext cx="389160" cy="416520"/>
          </a:xfrm>
          <a:prstGeom prst="straightConnector1">
            <a:avLst/>
          </a:prstGeom>
          <a:ln w="15240">
            <a:solidFill>
              <a:srgbClr val="8292A2"/>
            </a:solidFill>
            <a:round/>
          </a:ln>
        </p:spPr>
      </p:cxnSp>
      <p:cxnSp>
        <p:nvCxnSpPr>
          <p:cNvPr id="98" name="Connector 4"/>
          <p:cNvCxnSpPr/>
          <p:nvPr/>
        </p:nvCxnSpPr>
        <p:spPr>
          <a:xfrm>
            <a:off x="9198720" y="3657600"/>
            <a:ext cx="480600" cy="416520"/>
          </a:xfrm>
          <a:prstGeom prst="straightConnector1">
            <a:avLst/>
          </a:prstGeom>
          <a:ln w="15240">
            <a:solidFill>
              <a:srgbClr val="8292A2"/>
            </a:solidFill>
            <a:round/>
          </a:ln>
        </p:spPr>
      </p:cxnSp>
      <p:cxnSp>
        <p:nvCxnSpPr>
          <p:cNvPr id="99" name="Connector 5"/>
          <p:cNvCxnSpPr/>
          <p:nvPr/>
        </p:nvCxnSpPr>
        <p:spPr>
          <a:xfrm>
            <a:off x="10177200" y="4736520"/>
            <a:ext cx="5040" cy="370800"/>
          </a:xfrm>
          <a:prstGeom prst="straightConnector1">
            <a:avLst/>
          </a:prstGeom>
          <a:ln w="20320">
            <a:solidFill>
              <a:srgbClr val="8292A2"/>
            </a:solidFill>
            <a:round/>
          </a:ln>
        </p:spPr>
      </p:cxnSp>
      <p:pic>
        <p:nvPicPr>
          <p:cNvPr id="100" name=""/>
          <p:cNvPicPr/>
          <p:nvPr/>
        </p:nvPicPr>
        <p:blipFill>
          <a:blip r:embed="rId1"/>
          <a:stretch/>
        </p:blipFill>
        <p:spPr>
          <a:xfrm>
            <a:off x="562320" y="1972080"/>
            <a:ext cx="7707600" cy="35143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sldNum" idx="9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02" name="TextBox 12"/>
          <p:cNvSpPr/>
          <p:nvPr/>
        </p:nvSpPr>
        <p:spPr>
          <a:xfrm>
            <a:off x="567000" y="347400"/>
            <a:ext cx="4932720" cy="15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4 · TIMERS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Box 16"/>
          <p:cNvSpPr/>
          <p:nvPr/>
        </p:nvSpPr>
        <p:spPr>
          <a:xfrm>
            <a:off x="567000" y="640080"/>
            <a:ext cx="10876320" cy="41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We need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timers too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21"/>
          <p:cNvSpPr/>
          <p:nvPr/>
        </p:nvSpPr>
        <p:spPr>
          <a:xfrm>
            <a:off x="621720" y="1234440"/>
            <a:ext cx="10693440" cy="28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callback that must be run after some time. A min-heap keeps the earliest deadline on top.</a:t>
            </a:r>
            <a:endParaRPr lang="en-US" sz="18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45"/>
          <p:cNvSpPr/>
          <p:nvPr/>
        </p:nvSpPr>
        <p:spPr>
          <a:xfrm>
            <a:off x="8420400" y="1856160"/>
            <a:ext cx="3332520" cy="16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MIN-HEAP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Rounded Rectangle 7"/>
          <p:cNvSpPr/>
          <p:nvPr/>
        </p:nvSpPr>
        <p:spPr>
          <a:xfrm>
            <a:off x="9718920" y="2240280"/>
            <a:ext cx="708120" cy="497880"/>
          </a:xfrm>
          <a:prstGeom prst="roundRect">
            <a:avLst>
              <a:gd name="adj" fmla="val 16667"/>
            </a:avLst>
          </a:prstGeom>
          <a:solidFill>
            <a:srgbClr val="FFD43B"/>
          </a:solidFill>
          <a:ln w="12700"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07" name="TextBox 50"/>
          <p:cNvSpPr/>
          <p:nvPr/>
        </p:nvSpPr>
        <p:spPr>
          <a:xfrm>
            <a:off x="9718920" y="2368440"/>
            <a:ext cx="70812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1.2s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8" name="Rounded Rectangle 9"/>
          <p:cNvSpPr/>
          <p:nvPr/>
        </p:nvSpPr>
        <p:spPr>
          <a:xfrm>
            <a:off x="8740440" y="3154680"/>
            <a:ext cx="708120" cy="497880"/>
          </a:xfrm>
          <a:prstGeom prst="roundRect">
            <a:avLst>
              <a:gd name="adj" fmla="val 16667"/>
            </a:avLst>
          </a:prstGeom>
          <a:solidFill>
            <a:srgbClr val="4B8BBE"/>
          </a:solidFill>
          <a:ln w="12700">
            <a:solidFill>
              <a:srgbClr val="4B8B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09" name="TextBox 51"/>
          <p:cNvSpPr/>
          <p:nvPr/>
        </p:nvSpPr>
        <p:spPr>
          <a:xfrm>
            <a:off x="8740440" y="3282840"/>
            <a:ext cx="70812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3.7s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0" name="Rounded Rectangle 10"/>
          <p:cNvSpPr/>
          <p:nvPr/>
        </p:nvSpPr>
        <p:spPr>
          <a:xfrm>
            <a:off x="10688040" y="3154680"/>
            <a:ext cx="708120" cy="49788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 w="12700">
            <a:solidFill>
              <a:srgbClr val="57D1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11" name="TextBox 52"/>
          <p:cNvSpPr/>
          <p:nvPr/>
        </p:nvSpPr>
        <p:spPr>
          <a:xfrm>
            <a:off x="10688040" y="3282840"/>
            <a:ext cx="70812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0B1020"/>
                </a:solidFill>
                <a:effectLst/>
                <a:uFillTx/>
                <a:latin typeface="Noto Sans"/>
              </a:rPr>
              <a:t>2.4s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Rounded Rectangle 11"/>
          <p:cNvSpPr/>
          <p:nvPr/>
        </p:nvSpPr>
        <p:spPr>
          <a:xfrm>
            <a:off x="8356320" y="4069080"/>
            <a:ext cx="708120" cy="49788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13" name="TextBox 54"/>
          <p:cNvSpPr/>
          <p:nvPr/>
        </p:nvSpPr>
        <p:spPr>
          <a:xfrm>
            <a:off x="8356320" y="4197240"/>
            <a:ext cx="70812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8.0s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4" name="Rounded Rectangle 13"/>
          <p:cNvSpPr/>
          <p:nvPr/>
        </p:nvSpPr>
        <p:spPr>
          <a:xfrm>
            <a:off x="9216000" y="4069080"/>
            <a:ext cx="708120" cy="497880"/>
          </a:xfrm>
          <a:prstGeom prst="roundRect">
            <a:avLst>
              <a:gd name="adj" fmla="val 16667"/>
            </a:avLst>
          </a:prstGeom>
          <a:solidFill>
            <a:srgbClr val="B89CFF"/>
          </a:solidFill>
          <a:ln w="12700">
            <a:solidFill>
              <a:srgbClr val="B89C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15" name="TextBox 56"/>
          <p:cNvSpPr/>
          <p:nvPr/>
        </p:nvSpPr>
        <p:spPr>
          <a:xfrm>
            <a:off x="9216000" y="4197240"/>
            <a:ext cx="708120" cy="174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5.1s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cxnSp>
        <p:nvCxnSpPr>
          <p:cNvPr id="116" name="Connector 6"/>
          <p:cNvCxnSpPr/>
          <p:nvPr/>
        </p:nvCxnSpPr>
        <p:spPr>
          <a:xfrm flipH="1">
            <a:off x="9096840" y="2743200"/>
            <a:ext cx="983520" cy="41652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117" name="Connector 7"/>
          <p:cNvCxnSpPr/>
          <p:nvPr/>
        </p:nvCxnSpPr>
        <p:spPr>
          <a:xfrm>
            <a:off x="10075320" y="2743200"/>
            <a:ext cx="974160" cy="416520"/>
          </a:xfrm>
          <a:prstGeom prst="straightConnector1">
            <a:avLst/>
          </a:prstGeom>
          <a:ln w="17780">
            <a:solidFill>
              <a:srgbClr val="8292A2"/>
            </a:solidFill>
            <a:round/>
          </a:ln>
        </p:spPr>
      </p:cxnSp>
      <p:cxnSp>
        <p:nvCxnSpPr>
          <p:cNvPr id="118" name="Connector 8"/>
          <p:cNvCxnSpPr/>
          <p:nvPr/>
        </p:nvCxnSpPr>
        <p:spPr>
          <a:xfrm flipH="1">
            <a:off x="8712720" y="3657600"/>
            <a:ext cx="389160" cy="416520"/>
          </a:xfrm>
          <a:prstGeom prst="straightConnector1">
            <a:avLst/>
          </a:prstGeom>
          <a:ln w="15240">
            <a:solidFill>
              <a:srgbClr val="8292A2"/>
            </a:solidFill>
            <a:round/>
          </a:ln>
        </p:spPr>
      </p:cxnSp>
      <p:cxnSp>
        <p:nvCxnSpPr>
          <p:cNvPr id="119" name="Connector 9"/>
          <p:cNvCxnSpPr/>
          <p:nvPr/>
        </p:nvCxnSpPr>
        <p:spPr>
          <a:xfrm>
            <a:off x="9096840" y="3657600"/>
            <a:ext cx="480600" cy="416520"/>
          </a:xfrm>
          <a:prstGeom prst="straightConnector1">
            <a:avLst/>
          </a:prstGeom>
          <a:ln w="15240">
            <a:solidFill>
              <a:srgbClr val="8292A2"/>
            </a:solidFill>
            <a:round/>
          </a:ln>
        </p:spPr>
      </p:cxnSp>
      <p:cxnSp>
        <p:nvCxnSpPr>
          <p:cNvPr id="120" name="Connector 10"/>
          <p:cNvCxnSpPr/>
          <p:nvPr/>
        </p:nvCxnSpPr>
        <p:spPr>
          <a:xfrm>
            <a:off x="10075320" y="4736520"/>
            <a:ext cx="5040" cy="370800"/>
          </a:xfrm>
          <a:prstGeom prst="straightConnector1">
            <a:avLst/>
          </a:prstGeom>
          <a:ln w="20320">
            <a:solidFill>
              <a:srgbClr val="8292A2"/>
            </a:solidFill>
            <a:round/>
          </a:ln>
        </p:spPr>
      </p:cxnSp>
      <p:sp>
        <p:nvSpPr>
          <p:cNvPr id="121" name="Down Arrow 2"/>
          <p:cNvSpPr/>
          <p:nvPr/>
        </p:nvSpPr>
        <p:spPr>
          <a:xfrm>
            <a:off x="9846720" y="4736880"/>
            <a:ext cx="452160" cy="40644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FFD43B"/>
          </a:solidFill>
          <a:ln>
            <a:solidFill>
              <a:srgbClr val="FFD4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22" name="TextBox 58"/>
          <p:cNvSpPr/>
          <p:nvPr/>
        </p:nvSpPr>
        <p:spPr>
          <a:xfrm>
            <a:off x="8420400" y="5486400"/>
            <a:ext cx="3241080" cy="19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expired timers → ready queue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3" name=""/>
          <p:cNvPicPr/>
          <p:nvPr/>
        </p:nvPicPr>
        <p:blipFill>
          <a:blip r:embed="rId1"/>
          <a:stretch/>
        </p:blipFill>
        <p:spPr>
          <a:xfrm>
            <a:off x="533880" y="1689480"/>
            <a:ext cx="7009920" cy="50191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Text 0"/>
          <p:cNvSpPr/>
          <p:nvPr/>
        </p:nvSpPr>
        <p:spPr>
          <a:xfrm>
            <a:off x="567000" y="347400"/>
            <a:ext cx="438408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5 · I/O CHANGES THE PROBLEM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1"/>
          <p:cNvSpPr/>
          <p:nvPr/>
        </p:nvSpPr>
        <p:spPr>
          <a:xfrm>
            <a:off x="567000" y="640080"/>
            <a:ext cx="1087632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Sleep only knows about time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2"/>
          <p:cNvSpPr/>
          <p:nvPr/>
        </p:nvSpPr>
        <p:spPr>
          <a:xfrm>
            <a:off x="621720" y="1225440"/>
            <a:ext cx="10876320" cy="41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We want to sleep until the next timer… unless a socket becomes ready first.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7" name="Shape 3"/>
          <p:cNvSpPr/>
          <p:nvPr/>
        </p:nvSpPr>
        <p:spPr>
          <a:xfrm>
            <a:off x="1005840" y="3108960"/>
            <a:ext cx="10012680" cy="360"/>
          </a:xfrm>
          <a:prstGeom prst="line">
            <a:avLst/>
          </a:prstGeom>
          <a:ln w="38100">
            <a:solidFill>
              <a:srgbClr val="2A3552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8" name="Shape 4"/>
          <p:cNvSpPr/>
          <p:nvPr/>
        </p:nvSpPr>
        <p:spPr>
          <a:xfrm>
            <a:off x="1847160" y="2917080"/>
            <a:ext cx="379080" cy="379080"/>
          </a:xfrm>
          <a:prstGeom prst="ellipse">
            <a:avLst/>
          </a:prstGeom>
          <a:solidFill>
            <a:srgbClr val="5CE1E6"/>
          </a:solidFill>
          <a:ln w="12700">
            <a:solidFill>
              <a:srgbClr val="5CE1E6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5"/>
          <p:cNvSpPr/>
          <p:nvPr/>
        </p:nvSpPr>
        <p:spPr>
          <a:xfrm>
            <a:off x="1636920" y="3401640"/>
            <a:ext cx="72648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8F9AB3"/>
                </a:solidFill>
                <a:effectLst/>
                <a:uFillTx/>
                <a:latin typeface="Noto Sans"/>
                <a:ea typeface="Noto Sans"/>
              </a:rPr>
              <a:t>now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6"/>
          <p:cNvSpPr/>
          <p:nvPr/>
        </p:nvSpPr>
        <p:spPr>
          <a:xfrm>
            <a:off x="9655920" y="2816280"/>
            <a:ext cx="598320" cy="598320"/>
          </a:xfrm>
          <a:prstGeom prst="ellipse">
            <a:avLst/>
          </a:prstGeom>
          <a:solidFill>
            <a:srgbClr val="FFD43B"/>
          </a:solidFill>
          <a:ln w="12700">
            <a:solidFill>
              <a:srgbClr val="FFD43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7"/>
          <p:cNvSpPr/>
          <p:nvPr/>
        </p:nvSpPr>
        <p:spPr>
          <a:xfrm>
            <a:off x="9655920" y="2967120"/>
            <a:ext cx="59832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timer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8"/>
          <p:cNvSpPr/>
          <p:nvPr/>
        </p:nvSpPr>
        <p:spPr>
          <a:xfrm>
            <a:off x="9272160" y="3502080"/>
            <a:ext cx="136656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next timer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3" name="Shape 9"/>
          <p:cNvSpPr/>
          <p:nvPr/>
        </p:nvSpPr>
        <p:spPr>
          <a:xfrm>
            <a:off x="5733360" y="2816280"/>
            <a:ext cx="598320" cy="598320"/>
          </a:xfrm>
          <a:prstGeom prst="ellipse">
            <a:avLst/>
          </a:prstGeom>
          <a:solidFill>
            <a:srgbClr val="57D19C"/>
          </a:solidFill>
          <a:ln w="12700">
            <a:solidFill>
              <a:srgbClr val="57D1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10"/>
          <p:cNvSpPr/>
          <p:nvPr/>
        </p:nvSpPr>
        <p:spPr>
          <a:xfrm>
            <a:off x="5733360" y="2967120"/>
            <a:ext cx="598320" cy="296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0B1020"/>
                </a:solidFill>
                <a:effectLst/>
                <a:uFillTx/>
                <a:latin typeface="Noto Sans"/>
                <a:ea typeface="Noto Sans"/>
              </a:rPr>
              <a:t>I/O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 11"/>
          <p:cNvSpPr/>
          <p:nvPr/>
        </p:nvSpPr>
        <p:spPr>
          <a:xfrm>
            <a:off x="5294520" y="3502080"/>
            <a:ext cx="154944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socket ready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6" name="Shape 12"/>
          <p:cNvSpPr/>
          <p:nvPr/>
        </p:nvSpPr>
        <p:spPr>
          <a:xfrm>
            <a:off x="2304000" y="2432160"/>
            <a:ext cx="7123320" cy="360"/>
          </a:xfrm>
          <a:prstGeom prst="line">
            <a:avLst/>
          </a:prstGeom>
          <a:ln w="35560">
            <a:solidFill>
              <a:srgbClr val="FF6B6B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13"/>
          <p:cNvSpPr/>
          <p:nvPr/>
        </p:nvSpPr>
        <p:spPr>
          <a:xfrm>
            <a:off x="4096440" y="1993320"/>
            <a:ext cx="301248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B5B5"/>
                </a:solidFill>
                <a:effectLst/>
                <a:uFillTx/>
                <a:latin typeface="Noto Sans"/>
                <a:ea typeface="Noto Sans"/>
              </a:rPr>
              <a:t>time.sleep(10s)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14"/>
          <p:cNvSpPr/>
          <p:nvPr/>
        </p:nvSpPr>
        <p:spPr>
          <a:xfrm>
            <a:off x="1920240" y="4617720"/>
            <a:ext cx="8956080" cy="863640"/>
          </a:xfrm>
          <a:prstGeom prst="roundRect">
            <a:avLst>
              <a:gd name="adj" fmla="val 14737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15"/>
          <p:cNvSpPr/>
          <p:nvPr/>
        </p:nvSpPr>
        <p:spPr>
          <a:xfrm>
            <a:off x="2240280" y="4855320"/>
            <a:ext cx="8316000" cy="342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We need a “sleep” that can be interrupted by I/O readiness.</a:t>
            </a:r>
            <a:endParaRPr lang="en-US" sz="1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1"/>
          <p:cNvSpPr>
            <a:spLocks noGrp="1"/>
          </p:cNvSpPr>
          <p:nvPr>
            <p:ph type="sldNum" idx="10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Text 0"/>
          <p:cNvSpPr/>
          <p:nvPr/>
        </p:nvSpPr>
        <p:spPr>
          <a:xfrm>
            <a:off x="567000" y="347400"/>
            <a:ext cx="438408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6 · READINESS I/O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 1"/>
          <p:cNvSpPr/>
          <p:nvPr/>
        </p:nvSpPr>
        <p:spPr>
          <a:xfrm>
            <a:off x="567000" y="640080"/>
            <a:ext cx="1087632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Selectors: register file descriptor for readiness event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1"/>
          <p:cNvSpPr>
            <a:spLocks noGrp="1"/>
          </p:cNvSpPr>
          <p:nvPr>
            <p:ph type="sldNum" idx="11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44" name=""/>
          <p:cNvPicPr/>
          <p:nvPr/>
        </p:nvPicPr>
        <p:blipFill>
          <a:blip r:embed="rId1"/>
          <a:stretch/>
        </p:blipFill>
        <p:spPr>
          <a:xfrm>
            <a:off x="600480" y="1209960"/>
            <a:ext cx="9453240" cy="537480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Text 29"/>
          <p:cNvSpPr/>
          <p:nvPr/>
        </p:nvSpPr>
        <p:spPr>
          <a:xfrm>
            <a:off x="567000" y="347400"/>
            <a:ext cx="438408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6 · READINESS I/O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0"/>
          <p:cNvSpPr/>
          <p:nvPr/>
        </p:nvSpPr>
        <p:spPr>
          <a:xfrm>
            <a:off x="567000" y="640080"/>
            <a:ext cx="1087632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Selectors: sleep until next timer or I/O event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1"/>
          <p:cNvSpPr>
            <a:spLocks noGrp="1"/>
          </p:cNvSpPr>
          <p:nvPr>
            <p:ph type="sldNum" idx="12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48" name=""/>
          <p:cNvPicPr/>
          <p:nvPr/>
        </p:nvPicPr>
        <p:blipFill>
          <a:blip r:embed="rId1"/>
          <a:stretch/>
        </p:blipFill>
        <p:spPr>
          <a:xfrm>
            <a:off x="514800" y="1267200"/>
            <a:ext cx="8060040" cy="53596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 0"/>
          <p:cNvSpPr/>
          <p:nvPr/>
        </p:nvSpPr>
        <p:spPr>
          <a:xfrm>
            <a:off x="567000" y="347400"/>
            <a:ext cx="438408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7 · PUT THE PIECES TOGETHER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"/>
          <p:cNvSpPr/>
          <p:nvPr/>
        </p:nvSpPr>
        <p:spPr>
          <a:xfrm>
            <a:off x="567000" y="640080"/>
            <a:ext cx="1087632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1" name="PlaceHolder 1"/>
          <p:cNvSpPr>
            <a:spLocks noGrp="1"/>
          </p:cNvSpPr>
          <p:nvPr>
            <p:ph type="sldNum" idx="13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8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52" name=""/>
          <p:cNvSpPr/>
          <p:nvPr/>
        </p:nvSpPr>
        <p:spPr>
          <a:xfrm>
            <a:off x="457200" y="640080"/>
            <a:ext cx="7766280" cy="50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spAutoFit/>
          </a:bodyPr>
          <a:p>
            <a:pPr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l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o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: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u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n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_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o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n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3" name=""/>
          <p:cNvPicPr/>
          <p:nvPr/>
        </p:nvPicPr>
        <p:blipFill>
          <a:blip r:embed="rId1"/>
          <a:stretch/>
        </p:blipFill>
        <p:spPr>
          <a:xfrm>
            <a:off x="457200" y="1200600"/>
            <a:ext cx="7541280" cy="5490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Text 0"/>
          <p:cNvSpPr/>
          <p:nvPr/>
        </p:nvSpPr>
        <p:spPr>
          <a:xfrm>
            <a:off x="567000" y="347400"/>
            <a:ext cx="438408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8 · CALLBACK EVENT LOOP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 1"/>
          <p:cNvSpPr/>
          <p:nvPr/>
        </p:nvSpPr>
        <p:spPr>
          <a:xfrm>
            <a:off x="567000" y="640080"/>
            <a:ext cx="1087632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So far: zero async / await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PlaceHolder 1"/>
          <p:cNvSpPr>
            <a:spLocks noGrp="1"/>
          </p:cNvSpPr>
          <p:nvPr>
            <p:ph type="sldNum" idx="14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9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157" name=""/>
          <p:cNvPicPr/>
          <p:nvPr/>
        </p:nvPicPr>
        <p:blipFill>
          <a:blip r:embed="rId1"/>
          <a:stretch/>
        </p:blipFill>
        <p:spPr>
          <a:xfrm>
            <a:off x="1371600" y="1288440"/>
            <a:ext cx="9491400" cy="534096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Text 0"/>
          <p:cNvSpPr/>
          <p:nvPr/>
        </p:nvSpPr>
        <p:spPr>
          <a:xfrm>
            <a:off x="567000" y="347400"/>
            <a:ext cx="438408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9 · COROUTINES + FUTURES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9" name="Text 1"/>
          <p:cNvSpPr/>
          <p:nvPr/>
        </p:nvSpPr>
        <p:spPr>
          <a:xfrm>
            <a:off x="567000" y="640080"/>
            <a:ext cx="1087632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Pausing and resuming a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coroutine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0" name="PlaceHolder 1"/>
          <p:cNvSpPr>
            <a:spLocks noGrp="1"/>
          </p:cNvSpPr>
          <p:nvPr>
            <p:ph type="sldNum" idx="15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10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TextBox 25"/>
          <p:cNvSpPr/>
          <p:nvPr/>
        </p:nvSpPr>
        <p:spPr>
          <a:xfrm>
            <a:off x="621720" y="1225440"/>
            <a:ext cx="1069344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The suspension point comes from the awaitable: Future.__await__() can yield control.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2" name="TextBox 27"/>
          <p:cNvSpPr/>
          <p:nvPr/>
        </p:nvSpPr>
        <p:spPr>
          <a:xfrm>
            <a:off x="7435800" y="1828800"/>
            <a:ext cx="2390760" cy="18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2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Future: the suspension </a:t>
            </a:r>
            <a:r>
              <a:rPr lang="en-US" sz="122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point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3" name="TextBox 30"/>
          <p:cNvSpPr/>
          <p:nvPr/>
        </p:nvSpPr>
        <p:spPr>
          <a:xfrm>
            <a:off x="591840" y="1828800"/>
            <a:ext cx="495108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22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Drive the coroutine by hand</a:t>
            </a:r>
            <a:endParaRPr lang="en-US" sz="12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32"/>
          <p:cNvSpPr/>
          <p:nvPr/>
        </p:nvSpPr>
        <p:spPr>
          <a:xfrm>
            <a:off x="1234440" y="5928840"/>
            <a:ext cx="9733320" cy="21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2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First send → runs until Future.__await__() yields.   Second send → continues after </a:t>
            </a:r>
            <a:r>
              <a:rPr lang="en-US" sz="142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await.</a:t>
            </a:r>
            <a:endParaRPr lang="en-US" sz="142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5" name=""/>
          <p:cNvPicPr/>
          <p:nvPr/>
        </p:nvPicPr>
        <p:blipFill>
          <a:blip r:embed="rId1"/>
          <a:stretch/>
        </p:blipFill>
        <p:spPr>
          <a:xfrm>
            <a:off x="7372800" y="2286000"/>
            <a:ext cx="4356360" cy="29692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66" name=""/>
          <p:cNvPicPr/>
          <p:nvPr/>
        </p:nvPicPr>
        <p:blipFill>
          <a:blip r:embed="rId2"/>
          <a:stretch/>
        </p:blipFill>
        <p:spPr>
          <a:xfrm>
            <a:off x="416160" y="2237400"/>
            <a:ext cx="6742440" cy="319788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Text 0"/>
          <p:cNvSpPr/>
          <p:nvPr/>
        </p:nvSpPr>
        <p:spPr>
          <a:xfrm>
            <a:off x="567000" y="347400"/>
            <a:ext cx="438408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10 · FUTURES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1"/>
          <p:cNvSpPr/>
          <p:nvPr/>
        </p:nvSpPr>
        <p:spPr>
          <a:xfrm>
            <a:off x="567000" y="640080"/>
            <a:ext cx="1087632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Future represents an eventual result of an async operation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PlaceHolder 1"/>
          <p:cNvSpPr>
            <a:spLocks noGrp="1"/>
          </p:cNvSpPr>
          <p:nvPr>
            <p:ph type="sldNum" idx="16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11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TextBox 25"/>
          <p:cNvSpPr/>
          <p:nvPr/>
        </p:nvSpPr>
        <p:spPr>
          <a:xfrm>
            <a:off x="621720" y="1225440"/>
            <a:ext cx="10693440" cy="3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Future is </a:t>
            </a: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pending until </a:t>
            </a: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somebody </a:t>
            </a: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supplies either a </a:t>
            </a: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result or an </a:t>
            </a: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exception.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Rounded Rectangle 26"/>
          <p:cNvSpPr/>
          <p:nvPr/>
        </p:nvSpPr>
        <p:spPr>
          <a:xfrm>
            <a:off x="694800" y="1755720"/>
            <a:ext cx="3122280" cy="14396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72" name="TextBox 27"/>
          <p:cNvSpPr/>
          <p:nvPr/>
        </p:nvSpPr>
        <p:spPr>
          <a:xfrm>
            <a:off x="877680" y="1947600"/>
            <a:ext cx="275652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3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add_done_callback(cb)</a:t>
            </a:r>
            <a:endParaRPr lang="en-US" sz="15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3" name="TextBox 28"/>
          <p:cNvSpPr/>
          <p:nvPr/>
        </p:nvSpPr>
        <p:spPr>
          <a:xfrm>
            <a:off x="923400" y="2295000"/>
            <a:ext cx="266508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7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register interest</a:t>
            </a:r>
            <a:endParaRPr lang="en-US" sz="12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TextBox 29"/>
          <p:cNvSpPr/>
          <p:nvPr/>
        </p:nvSpPr>
        <p:spPr>
          <a:xfrm>
            <a:off x="896040" y="2615040"/>
            <a:ext cx="2719800" cy="4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Task uses this to say: resume me when you are done.</a:t>
            </a:r>
            <a:endParaRPr lang="en-US" sz="11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5" name="Rounded Rectangle 30"/>
          <p:cNvSpPr/>
          <p:nvPr/>
        </p:nvSpPr>
        <p:spPr>
          <a:xfrm>
            <a:off x="4087440" y="1755720"/>
            <a:ext cx="3122280" cy="14396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76" name="TextBox 31"/>
          <p:cNvSpPr/>
          <p:nvPr/>
        </p:nvSpPr>
        <p:spPr>
          <a:xfrm>
            <a:off x="4270320" y="1947600"/>
            <a:ext cx="2756520" cy="232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3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set_result(value)</a:t>
            </a:r>
            <a:endParaRPr lang="en-US" sz="15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32"/>
          <p:cNvSpPr/>
          <p:nvPr/>
        </p:nvSpPr>
        <p:spPr>
          <a:xfrm>
            <a:off x="4316040" y="2295000"/>
            <a:ext cx="266508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7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complete successfully</a:t>
            </a:r>
            <a:endParaRPr lang="en-US" sz="12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33"/>
          <p:cNvSpPr/>
          <p:nvPr/>
        </p:nvSpPr>
        <p:spPr>
          <a:xfrm>
            <a:off x="4288680" y="2615040"/>
            <a:ext cx="2719800" cy="4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Store a value and transition the Future to DONE.</a:t>
            </a:r>
            <a:endParaRPr lang="en-US" sz="11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Rounded Rectangle 34"/>
          <p:cNvSpPr/>
          <p:nvPr/>
        </p:nvSpPr>
        <p:spPr>
          <a:xfrm>
            <a:off x="7479720" y="1755720"/>
            <a:ext cx="3122280" cy="14396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80" name="TextBox 35"/>
          <p:cNvSpPr/>
          <p:nvPr/>
        </p:nvSpPr>
        <p:spPr>
          <a:xfrm>
            <a:off x="7662600" y="1947600"/>
            <a:ext cx="2756520" cy="26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53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set_exception(exc)</a:t>
            </a:r>
            <a:endParaRPr lang="en-US" sz="15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1" name="TextBox 36"/>
          <p:cNvSpPr/>
          <p:nvPr/>
        </p:nvSpPr>
        <p:spPr>
          <a:xfrm>
            <a:off x="7708320" y="2295000"/>
            <a:ext cx="266508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7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complete with failure</a:t>
            </a:r>
            <a:endParaRPr lang="en-US" sz="12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Box 37"/>
          <p:cNvSpPr/>
          <p:nvPr/>
        </p:nvSpPr>
        <p:spPr>
          <a:xfrm>
            <a:off x="7680960" y="2615040"/>
            <a:ext cx="2719800" cy="43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9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Store an exception and transition the Future to DONE.</a:t>
            </a:r>
            <a:endParaRPr lang="en-US" sz="119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3" name="Rounded Rectangle 38"/>
          <p:cNvSpPr/>
          <p:nvPr/>
        </p:nvSpPr>
        <p:spPr>
          <a:xfrm>
            <a:off x="896040" y="3703320"/>
            <a:ext cx="2098080" cy="77220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84" name="TextBox 39"/>
          <p:cNvSpPr/>
          <p:nvPr/>
        </p:nvSpPr>
        <p:spPr>
          <a:xfrm>
            <a:off x="1078920" y="3940920"/>
            <a:ext cx="173232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PENDING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5" name="Right Arrow 40"/>
          <p:cNvSpPr/>
          <p:nvPr/>
        </p:nvSpPr>
        <p:spPr>
          <a:xfrm>
            <a:off x="3200400" y="3849480"/>
            <a:ext cx="2006640" cy="4338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86" name="TextBox 41"/>
          <p:cNvSpPr/>
          <p:nvPr/>
        </p:nvSpPr>
        <p:spPr>
          <a:xfrm>
            <a:off x="3136320" y="3520440"/>
            <a:ext cx="2143800" cy="25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set_result / set_exception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Rounded Rectangle 42"/>
          <p:cNvSpPr/>
          <p:nvPr/>
        </p:nvSpPr>
        <p:spPr>
          <a:xfrm>
            <a:off x="5403960" y="3703320"/>
            <a:ext cx="2098080" cy="77220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88" name="TextBox 43"/>
          <p:cNvSpPr/>
          <p:nvPr/>
        </p:nvSpPr>
        <p:spPr>
          <a:xfrm>
            <a:off x="5586840" y="3940920"/>
            <a:ext cx="173232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DONE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9" name="Right Arrow 44"/>
          <p:cNvSpPr/>
          <p:nvPr/>
        </p:nvSpPr>
        <p:spPr>
          <a:xfrm>
            <a:off x="7680960" y="3849480"/>
            <a:ext cx="909360" cy="43380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90" name="Rounded Rectangle 45"/>
          <p:cNvSpPr/>
          <p:nvPr/>
        </p:nvSpPr>
        <p:spPr>
          <a:xfrm>
            <a:off x="8796600" y="3493080"/>
            <a:ext cx="2326680" cy="1202040"/>
          </a:xfrm>
          <a:prstGeom prst="roundRect">
            <a:avLst>
              <a:gd name="adj" fmla="val 16667"/>
            </a:avLst>
          </a:prstGeom>
          <a:solidFill>
            <a:srgbClr val="0A0F1D"/>
          </a:solidFill>
          <a:ln w="12700"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191" name="TextBox 46"/>
          <p:cNvSpPr/>
          <p:nvPr/>
        </p:nvSpPr>
        <p:spPr>
          <a:xfrm>
            <a:off x="8961120" y="3648600"/>
            <a:ext cx="200664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180" b="0" u="none" strike="noStrike">
                <a:solidFill>
                  <a:srgbClr val="8292A2"/>
                </a:solidFill>
                <a:effectLst/>
                <a:uFillTx/>
                <a:latin typeface="Noto Sans"/>
              </a:rPr>
              <a:t>for each done callback</a:t>
            </a:r>
            <a:endParaRPr lang="en-US" sz="118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Box 47"/>
          <p:cNvSpPr/>
          <p:nvPr/>
        </p:nvSpPr>
        <p:spPr>
          <a:xfrm>
            <a:off x="8924400" y="4023360"/>
            <a:ext cx="2079720" cy="31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23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loop.call_soon(cb, </a:t>
            </a:r>
            <a:r>
              <a:rPr lang="en-US" sz="123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future)</a:t>
            </a:r>
            <a:endParaRPr lang="en-US" sz="123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Box 48"/>
          <p:cNvSpPr/>
          <p:nvPr/>
        </p:nvSpPr>
        <p:spPr>
          <a:xfrm>
            <a:off x="1389960" y="5230440"/>
            <a:ext cx="94132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80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Future completion becomes ordinary work in the event loop’s ready queue.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Box 49"/>
          <p:cNvSpPr/>
          <p:nvPr/>
        </p:nvSpPr>
        <p:spPr>
          <a:xfrm>
            <a:off x="594360" y="6382440"/>
            <a:ext cx="10419120" cy="15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860" b="0" u="none" strike="noStrike">
                <a:solidFill>
                  <a:srgbClr val="8292A2"/>
                </a:solidFill>
                <a:effectLst/>
                <a:uFillTx/>
                <a:latin typeface="Noto Sans"/>
              </a:rPr>
              <a:t>Simplified model: real Future also handles cancellation, context, callbacks added after completion, and more.</a:t>
            </a:r>
            <a:endParaRPr lang="en-US" sz="86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Text 0"/>
          <p:cNvSpPr/>
          <p:nvPr/>
        </p:nvSpPr>
        <p:spPr>
          <a:xfrm>
            <a:off x="567000" y="347400"/>
            <a:ext cx="438408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11 · TASKS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1"/>
          <p:cNvSpPr/>
          <p:nvPr/>
        </p:nvSpPr>
        <p:spPr>
          <a:xfrm>
            <a:off x="567000" y="640080"/>
            <a:ext cx="1087632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Task: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automatin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g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coroutine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resumptio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</a:rPr>
              <a:t>n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PlaceHolder 1"/>
          <p:cNvSpPr>
            <a:spLocks noGrp="1"/>
          </p:cNvSpPr>
          <p:nvPr>
            <p:ph type="sldNum" idx="17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12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TextBox 25"/>
          <p:cNvSpPr/>
          <p:nvPr/>
        </p:nvSpPr>
        <p:spPr>
          <a:xfrm>
            <a:off x="621720" y="1225440"/>
            <a:ext cx="10693440" cy="54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A Task owns a coroutine and </a:t>
            </a: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repeatedly drives it while the </a:t>
            </a: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coroutine yields a Future until </a:t>
            </a: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StopIteration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9" name="Rounded Rectangle 29"/>
          <p:cNvSpPr/>
          <p:nvPr/>
        </p:nvSpPr>
        <p:spPr>
          <a:xfrm>
            <a:off x="6711840" y="1828800"/>
            <a:ext cx="4457160" cy="65340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00" name="TextBox 30"/>
          <p:cNvSpPr/>
          <p:nvPr/>
        </p:nvSpPr>
        <p:spPr>
          <a:xfrm>
            <a:off x="6903720" y="2020680"/>
            <a:ext cx="407304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Ta</a:t>
            </a:r>
            <a:r>
              <a:rPr lang="en-US" sz="160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sk</a:t>
            </a:r>
            <a:r>
              <a:rPr lang="en-US" sz="160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.s</a:t>
            </a:r>
            <a:r>
              <a:rPr lang="en-US" sz="160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te</a:t>
            </a:r>
            <a:r>
              <a:rPr lang="en-US" sz="160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p(</a:t>
            </a:r>
            <a:r>
              <a:rPr lang="en-US" sz="160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1" name="Down Arrow 31"/>
          <p:cNvSpPr/>
          <p:nvPr/>
        </p:nvSpPr>
        <p:spPr>
          <a:xfrm>
            <a:off x="8732520" y="2514600"/>
            <a:ext cx="406440" cy="2692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02" name="Rounded Rectangle 32"/>
          <p:cNvSpPr/>
          <p:nvPr/>
        </p:nvSpPr>
        <p:spPr>
          <a:xfrm>
            <a:off x="6711840" y="2834640"/>
            <a:ext cx="4457160" cy="65340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03" name="TextBox 33"/>
          <p:cNvSpPr/>
          <p:nvPr/>
        </p:nvSpPr>
        <p:spPr>
          <a:xfrm>
            <a:off x="6903720" y="3026520"/>
            <a:ext cx="407304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DejaVu Sans Mono"/>
              </a:rPr>
              <a:t>coro.send(None)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4" name="Down Arrow 34"/>
          <p:cNvSpPr/>
          <p:nvPr/>
        </p:nvSpPr>
        <p:spPr>
          <a:xfrm>
            <a:off x="8732520" y="3520440"/>
            <a:ext cx="406440" cy="2692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05" name="Rounded Rectangle 35"/>
          <p:cNvSpPr/>
          <p:nvPr/>
        </p:nvSpPr>
        <p:spPr>
          <a:xfrm>
            <a:off x="6711840" y="3840480"/>
            <a:ext cx="4457160" cy="65340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06" name="TextBox 36"/>
          <p:cNvSpPr/>
          <p:nvPr/>
        </p:nvSpPr>
        <p:spPr>
          <a:xfrm>
            <a:off x="6903720" y="4032360"/>
            <a:ext cx="407304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Future is yielded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7" name="Down Arrow 37"/>
          <p:cNvSpPr/>
          <p:nvPr/>
        </p:nvSpPr>
        <p:spPr>
          <a:xfrm>
            <a:off x="8732520" y="4526280"/>
            <a:ext cx="406440" cy="26928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5CE1E6"/>
          </a:solidFill>
          <a:ln>
            <a:solidFill>
              <a:srgbClr val="5CE1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08" name="Rounded Rectangle 38"/>
          <p:cNvSpPr/>
          <p:nvPr/>
        </p:nvSpPr>
        <p:spPr>
          <a:xfrm>
            <a:off x="6711840" y="4846320"/>
            <a:ext cx="4457160" cy="65340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 w="12700">
            <a:solidFill>
              <a:srgbClr val="111A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09" name="TextBox 39"/>
          <p:cNvSpPr/>
          <p:nvPr/>
        </p:nvSpPr>
        <p:spPr>
          <a:xfrm>
            <a:off x="6903720" y="5038200"/>
            <a:ext cx="4073040" cy="2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410" b="1" u="none" strike="noStrike">
                <a:solidFill>
                  <a:srgbClr val="5CE1E6"/>
                </a:solidFill>
                <a:effectLst/>
                <a:uFillTx/>
                <a:latin typeface="DejaVu Sans Mono"/>
              </a:rPr>
              <a:t>future.add_done_callback(Task.step)</a:t>
            </a:r>
            <a:endParaRPr lang="en-US" sz="14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Box 40"/>
          <p:cNvSpPr/>
          <p:nvPr/>
        </p:nvSpPr>
        <p:spPr>
          <a:xfrm>
            <a:off x="6602040" y="5696640"/>
            <a:ext cx="4704120" cy="50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When the Future completes, its done callback enters the ready queue. That callback drives the coroutine again.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1" name=""/>
          <p:cNvPicPr/>
          <p:nvPr/>
        </p:nvPicPr>
        <p:blipFill>
          <a:blip r:embed="rId1"/>
          <a:stretch/>
        </p:blipFill>
        <p:spPr>
          <a:xfrm>
            <a:off x="457200" y="1848240"/>
            <a:ext cx="6169680" cy="477972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PlaceHolder 1"/>
          <p:cNvSpPr>
            <a:spLocks noGrp="1"/>
          </p:cNvSpPr>
          <p:nvPr>
            <p:ph type="sldNum" idx="18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pic>
        <p:nvPicPr>
          <p:cNvPr id="213" name=""/>
          <p:cNvPicPr/>
          <p:nvPr/>
        </p:nvPicPr>
        <p:blipFill>
          <a:blip r:embed="rId1"/>
          <a:stretch/>
        </p:blipFill>
        <p:spPr>
          <a:xfrm>
            <a:off x="1767600" y="541800"/>
            <a:ext cx="8685720" cy="57902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Text 0"/>
          <p:cNvSpPr/>
          <p:nvPr/>
        </p:nvSpPr>
        <p:spPr>
          <a:xfrm>
            <a:off x="567000" y="347400"/>
            <a:ext cx="438408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13 · ASYNCIO NETWORKING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5" name="Text 1"/>
          <p:cNvSpPr/>
          <p:nvPr/>
        </p:nvSpPr>
        <p:spPr>
          <a:xfrm>
            <a:off x="567000" y="640080"/>
            <a:ext cx="1087632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Where does networking fit?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6" name="PlaceHolder 1"/>
          <p:cNvSpPr>
            <a:spLocks noGrp="1"/>
          </p:cNvSpPr>
          <p:nvPr>
            <p:ph type="sldNum" idx="19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14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17" name="TextBox 25"/>
          <p:cNvSpPr/>
          <p:nvPr/>
        </p:nvSpPr>
        <p:spPr>
          <a:xfrm>
            <a:off x="576000" y="1161360"/>
            <a:ext cx="1014480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7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SelectorEventLoop </a:t>
            </a:r>
            <a:r>
              <a:rPr lang="en-US" sz="17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view: networking </a:t>
            </a:r>
            <a:r>
              <a:rPr lang="en-US" sz="17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builds outward from </a:t>
            </a:r>
            <a:r>
              <a:rPr lang="en-US" sz="17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readiness callbacks.</a:t>
            </a:r>
            <a:endParaRPr lang="en-US" sz="17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8" name="Picture 26"/>
          <p:cNvSpPr/>
          <p:nvPr/>
        </p:nvSpPr>
        <p:spPr>
          <a:xfrm>
            <a:off x="713160" y="1627560"/>
            <a:ext cx="5435640" cy="5320800"/>
          </a:xfrm>
          <a:prstGeom prst="rect">
            <a:avLst/>
          </a:pr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	</a:t>
            </a:r>
            <a:r>
              <a:rPr lang="en-US" sz="1800" b="0" u="none" strike="noStrike">
                <a:solidFill>
                  <a:srgbClr val="FFFFFF"/>
                </a:solidFill>
                <a:effectLst/>
                <a:uFillTx/>
                <a:latin typeface="Arial"/>
              </a:rPr>
              <a:t>	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Rounded Rectangle 27"/>
          <p:cNvSpPr/>
          <p:nvPr/>
        </p:nvSpPr>
        <p:spPr>
          <a:xfrm>
            <a:off x="6565320" y="4206240"/>
            <a:ext cx="4731480" cy="10922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20" name="Rounded Rectangle 28"/>
          <p:cNvSpPr/>
          <p:nvPr/>
        </p:nvSpPr>
        <p:spPr>
          <a:xfrm>
            <a:off x="6729840" y="4370760"/>
            <a:ext cx="95400" cy="763200"/>
          </a:xfrm>
          <a:prstGeom prst="roundRect">
            <a:avLst>
              <a:gd name="adj" fmla="val 16667"/>
            </a:avLst>
          </a:prstGeom>
          <a:solidFill>
            <a:srgbClr val="FFD4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7880" tIns="45000" rIns="478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21" name="TextBox 29"/>
          <p:cNvSpPr/>
          <p:nvPr/>
        </p:nvSpPr>
        <p:spPr>
          <a:xfrm>
            <a:off x="7004160" y="4325040"/>
            <a:ext cx="412812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Streams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2" name="TextBox 30"/>
          <p:cNvSpPr/>
          <p:nvPr/>
        </p:nvSpPr>
        <p:spPr>
          <a:xfrm>
            <a:off x="7004160" y="4690800"/>
            <a:ext cx="4128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loop.open_connection(...)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loop.start_server(...)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3" name="Rounded Rectangle 31"/>
          <p:cNvSpPr/>
          <p:nvPr/>
        </p:nvSpPr>
        <p:spPr>
          <a:xfrm>
            <a:off x="6565320" y="2971800"/>
            <a:ext cx="4731480" cy="10922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24" name="Rounded Rectangle 32"/>
          <p:cNvSpPr/>
          <p:nvPr/>
        </p:nvSpPr>
        <p:spPr>
          <a:xfrm>
            <a:off x="6729840" y="3136320"/>
            <a:ext cx="95400" cy="763200"/>
          </a:xfrm>
          <a:prstGeom prst="roundRect">
            <a:avLst>
              <a:gd name="adj" fmla="val 16667"/>
            </a:avLst>
          </a:prstGeom>
          <a:solidFill>
            <a:srgbClr val="57D1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7880" tIns="45000" rIns="478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25" name="TextBox 33"/>
          <p:cNvSpPr/>
          <p:nvPr/>
        </p:nvSpPr>
        <p:spPr>
          <a:xfrm>
            <a:off x="7004160" y="3090600"/>
            <a:ext cx="412812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57D19C"/>
                </a:solidFill>
                <a:effectLst/>
                <a:uFillTx/>
                <a:latin typeface="Noto Sans"/>
              </a:rPr>
              <a:t>Transport / Protocol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Box 34"/>
          <p:cNvSpPr/>
          <p:nvPr/>
        </p:nvSpPr>
        <p:spPr>
          <a:xfrm>
            <a:off x="7004160" y="3456360"/>
            <a:ext cx="4128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loop.create_connection(...)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loop.create_server(...)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7" name="Rounded Rectangle 35"/>
          <p:cNvSpPr/>
          <p:nvPr/>
        </p:nvSpPr>
        <p:spPr>
          <a:xfrm>
            <a:off x="6565320" y="1737360"/>
            <a:ext cx="4731480" cy="1092240"/>
          </a:xfrm>
          <a:prstGeom prst="roundRect">
            <a:avLst>
              <a:gd name="adj" fmla="val 16667"/>
            </a:avLst>
          </a:prstGeom>
          <a:solidFill>
            <a:srgbClr val="111A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28" name="Rounded Rectangle 36"/>
          <p:cNvSpPr/>
          <p:nvPr/>
        </p:nvSpPr>
        <p:spPr>
          <a:xfrm>
            <a:off x="6729840" y="1901880"/>
            <a:ext cx="95400" cy="763200"/>
          </a:xfrm>
          <a:prstGeom prst="roundRect">
            <a:avLst>
              <a:gd name="adj" fmla="val 16667"/>
            </a:avLst>
          </a:prstGeom>
          <a:solidFill>
            <a:srgbClr val="5CE1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47880" tIns="45000" rIns="47880" bIns="45000" anchor="ctr">
            <a:noAutofit/>
          </a:bodyPr>
          <a:p>
            <a:endParaRPr lang="en-US" sz="1800" b="0" u="none" strike="noStrike">
              <a:solidFill>
                <a:schemeClr val="lt1"/>
              </a:solidFill>
              <a:effectLst/>
              <a:uFillTx/>
              <a:latin typeface="Noto Sans"/>
            </a:endParaRPr>
          </a:p>
        </p:txBody>
      </p:sp>
      <p:sp>
        <p:nvSpPr>
          <p:cNvPr id="229" name="TextBox 37"/>
          <p:cNvSpPr/>
          <p:nvPr/>
        </p:nvSpPr>
        <p:spPr>
          <a:xfrm>
            <a:off x="7004160" y="1856160"/>
            <a:ext cx="412812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5CE1E6"/>
                </a:solidFill>
                <a:effectLst/>
                <a:uFillTx/>
                <a:latin typeface="Noto Sans"/>
              </a:rPr>
              <a:t>Socket coroutines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0" name="TextBox 38"/>
          <p:cNvSpPr/>
          <p:nvPr/>
        </p:nvSpPr>
        <p:spPr>
          <a:xfrm>
            <a:off x="7004160" y="2221920"/>
            <a:ext cx="4128120" cy="411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loop.sock_recv()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31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loop.sock_sendall()</a:t>
            </a:r>
            <a:endParaRPr lang="en-US" sz="131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1" name="TextBox 39"/>
          <p:cNvSpPr/>
          <p:nvPr/>
        </p:nvSpPr>
        <p:spPr>
          <a:xfrm>
            <a:off x="6830640" y="5404680"/>
            <a:ext cx="4201200" cy="41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18360" tIns="18360" rIns="18360" bIns="18360" anchor="ctr">
            <a:spAutoFit/>
          </a:bodyPr>
          <a:p>
            <a:pPr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D7DDE8"/>
                </a:solidFill>
                <a:effectLst/>
                <a:uFillTx/>
                <a:latin typeface="Noto Sans"/>
              </a:rPr>
              <a:t>sock_* uses readiness directly; Streams build on top of Transport / Protocol.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Text 0"/>
          <p:cNvSpPr/>
          <p:nvPr/>
        </p:nvSpPr>
        <p:spPr>
          <a:xfrm>
            <a:off x="567000" y="347400"/>
            <a:ext cx="4384080" cy="223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000" b="1" u="none" strike="noStrike">
                <a:solidFill>
                  <a:srgbClr val="FFD43B"/>
                </a:solidFill>
                <a:effectLst/>
                <a:uFillTx/>
                <a:latin typeface="Noto Sans"/>
              </a:rPr>
              <a:t>14 · LOWER-LEVEL NETWORKING</a:t>
            </a:r>
            <a:endParaRPr lang="en-US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3" name="Text 1"/>
          <p:cNvSpPr/>
          <p:nvPr/>
        </p:nvSpPr>
        <p:spPr>
          <a:xfrm>
            <a:off x="567000" y="640080"/>
            <a:ext cx="10876320" cy="4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Tr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n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p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o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rt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+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P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o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o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ol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: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f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st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al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lb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k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ri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v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n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p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pl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ic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ti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o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n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lo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gi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c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4" name="Shape 2"/>
          <p:cNvSpPr/>
          <p:nvPr/>
        </p:nvSpPr>
        <p:spPr>
          <a:xfrm>
            <a:off x="685800" y="2233440"/>
            <a:ext cx="4731480" cy="4201200"/>
          </a:xfrm>
          <a:prstGeom prst="roundRect">
            <a:avLst>
              <a:gd name="adj" fmla="val 304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3"/>
          <p:cNvSpPr/>
          <p:nvPr/>
        </p:nvSpPr>
        <p:spPr>
          <a:xfrm>
            <a:off x="1033200" y="2503080"/>
            <a:ext cx="136656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PROTOCOL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4"/>
          <p:cNvSpPr/>
          <p:nvPr/>
        </p:nvSpPr>
        <p:spPr>
          <a:xfrm>
            <a:off x="1195560" y="2932920"/>
            <a:ext cx="406404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def connection_made(transport)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7" name="Text 5"/>
          <p:cNvSpPr/>
          <p:nvPr/>
        </p:nvSpPr>
        <p:spPr>
          <a:xfrm>
            <a:off x="1195560" y="3618720"/>
            <a:ext cx="406404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def data_received(data)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8" name="Text 6"/>
          <p:cNvSpPr/>
          <p:nvPr/>
        </p:nvSpPr>
        <p:spPr>
          <a:xfrm>
            <a:off x="1195560" y="3188520"/>
            <a:ext cx="406404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def connection_lost(exc)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39" name="Text 7"/>
          <p:cNvSpPr/>
          <p:nvPr/>
        </p:nvSpPr>
        <p:spPr>
          <a:xfrm>
            <a:off x="1051560" y="5502240"/>
            <a:ext cx="40366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Your application </a:t>
            </a:r>
            <a:r>
              <a:rPr lang="en-US" sz="16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reacts to events.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8"/>
          <p:cNvSpPr/>
          <p:nvPr/>
        </p:nvSpPr>
        <p:spPr>
          <a:xfrm>
            <a:off x="6711840" y="2228760"/>
            <a:ext cx="4731480" cy="4201200"/>
          </a:xfrm>
          <a:prstGeom prst="roundRect">
            <a:avLst>
              <a:gd name="adj" fmla="val 3043"/>
            </a:avLst>
          </a:prstGeom>
          <a:solidFill>
            <a:srgbClr val="111A2E"/>
          </a:solidFill>
          <a:ln w="12700">
            <a:solidFill>
              <a:srgbClr val="111A2E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9"/>
          <p:cNvSpPr/>
          <p:nvPr/>
        </p:nvSpPr>
        <p:spPr>
          <a:xfrm>
            <a:off x="7040880" y="2503080"/>
            <a:ext cx="136656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  <a:ea typeface="Noto Sans"/>
              </a:rPr>
              <a:t>TRANSPORT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2" name="Text 10"/>
          <p:cNvSpPr/>
          <p:nvPr/>
        </p:nvSpPr>
        <p:spPr>
          <a:xfrm>
            <a:off x="7184880" y="2932920"/>
            <a:ext cx="403668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def write(data)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1"/>
          <p:cNvSpPr/>
          <p:nvPr/>
        </p:nvSpPr>
        <p:spPr>
          <a:xfrm>
            <a:off x="7184880" y="3618720"/>
            <a:ext cx="403668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def pause_reading()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def resume_reading()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12"/>
          <p:cNvSpPr/>
          <p:nvPr/>
        </p:nvSpPr>
        <p:spPr>
          <a:xfrm>
            <a:off x="7184880" y="4304520"/>
            <a:ext cx="403668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def close()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13"/>
          <p:cNvSpPr/>
          <p:nvPr/>
        </p:nvSpPr>
        <p:spPr>
          <a:xfrm>
            <a:off x="7040880" y="5502240"/>
            <a:ext cx="4036680" cy="37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asyncio owns the I/O channel.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6" name="Shape 14"/>
          <p:cNvSpPr/>
          <p:nvPr/>
        </p:nvSpPr>
        <p:spPr>
          <a:xfrm>
            <a:off x="5468040" y="3079080"/>
            <a:ext cx="1152000" cy="360"/>
          </a:xfrm>
          <a:prstGeom prst="line">
            <a:avLst/>
          </a:prstGeom>
          <a:ln w="30480">
            <a:solidFill>
              <a:srgbClr val="4B8BBE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7" name="Text 15"/>
          <p:cNvSpPr/>
          <p:nvPr/>
        </p:nvSpPr>
        <p:spPr>
          <a:xfrm>
            <a:off x="5513760" y="2731680"/>
            <a:ext cx="104652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4B8BBE"/>
                </a:solidFill>
                <a:effectLst/>
                <a:uFillTx/>
                <a:latin typeface="Noto Sans"/>
                <a:ea typeface="Noto Sans"/>
              </a:rPr>
              <a:t>send bytes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8" name="Shape 16"/>
          <p:cNvSpPr/>
          <p:nvPr/>
        </p:nvSpPr>
        <p:spPr>
          <a:xfrm flipH="1">
            <a:off x="5468040" y="3828960"/>
            <a:ext cx="1152000" cy="360"/>
          </a:xfrm>
          <a:prstGeom prst="line">
            <a:avLst/>
          </a:prstGeom>
          <a:ln w="30480">
            <a:solidFill>
              <a:srgbClr val="57D19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49" name="Text 17"/>
          <p:cNvSpPr/>
          <p:nvPr/>
        </p:nvSpPr>
        <p:spPr>
          <a:xfrm>
            <a:off x="5486400" y="3975120"/>
            <a:ext cx="1110600" cy="23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received bytes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18"/>
          <p:cNvSpPr/>
          <p:nvPr/>
        </p:nvSpPr>
        <p:spPr>
          <a:xfrm>
            <a:off x="5394960" y="4926240"/>
            <a:ext cx="132084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1 : 1 pair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1" name="PlaceHolder 1"/>
          <p:cNvSpPr>
            <a:spLocks noGrp="1"/>
          </p:cNvSpPr>
          <p:nvPr>
            <p:ph type="sldNum" idx="20"/>
          </p:nvPr>
        </p:nvSpPr>
        <p:spPr>
          <a:xfrm>
            <a:off x="11777400" y="6492240"/>
            <a:ext cx="223560" cy="1962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16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  <p:sp>
        <p:nvSpPr>
          <p:cNvPr id="252" name="Text 14"/>
          <p:cNvSpPr/>
          <p:nvPr/>
        </p:nvSpPr>
        <p:spPr>
          <a:xfrm>
            <a:off x="1195560" y="4159080"/>
            <a:ext cx="4064040" cy="30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360" tIns="360" rIns="360" bIns="36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def pause_writing()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def resume_writing()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Box 62"/>
          <p:cNvSpPr/>
          <p:nvPr/>
        </p:nvSpPr>
        <p:spPr>
          <a:xfrm>
            <a:off x="632520" y="1296360"/>
            <a:ext cx="9425880" cy="56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loop.create_connection(...)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80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loop.create_server(...)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Section"/>
          <p:cNvSpPr/>
          <p:nvPr/>
        </p:nvSpPr>
        <p:spPr>
          <a:xfrm>
            <a:off x="567000" y="347400"/>
            <a:ext cx="4385880" cy="225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15 · WHY TRANSPORTS?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5" name="Title"/>
          <p:cNvSpPr/>
          <p:nvPr/>
        </p:nvSpPr>
        <p:spPr>
          <a:xfrm>
            <a:off x="567000" y="640080"/>
            <a:ext cx="10878120" cy="49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Why not just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use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loop.sock_*()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?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6" name="Subtitle"/>
          <p:cNvSpPr/>
          <p:nvPr/>
        </p:nvSpPr>
        <p:spPr>
          <a:xfrm>
            <a:off x="576000" y="1161360"/>
            <a:ext cx="10799280" cy="30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7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sock_* performs operations. A Transport manages a connection.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7" name="Direct card"/>
          <p:cNvSpPr/>
          <p:nvPr/>
        </p:nvSpPr>
        <p:spPr>
          <a:xfrm>
            <a:off x="567000" y="1609920"/>
            <a:ext cx="4319280" cy="382932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8" name="Direct label"/>
          <p:cNvSpPr/>
          <p:nvPr/>
        </p:nvSpPr>
        <p:spPr>
          <a:xfrm>
            <a:off x="860040" y="1839960"/>
            <a:ext cx="2049120" cy="389160"/>
          </a:xfrm>
          <a:prstGeom prst="roundRect">
            <a:avLst>
              <a:gd name="adj" fmla="val 5000"/>
            </a:avLst>
          </a:prstGeom>
          <a:solidFill>
            <a:srgbClr val="59D6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Direct label text"/>
          <p:cNvSpPr/>
          <p:nvPr/>
        </p:nvSpPr>
        <p:spPr>
          <a:xfrm>
            <a:off x="950040" y="1900080"/>
            <a:ext cx="186912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81020"/>
                </a:solidFill>
                <a:effectLst/>
                <a:uFillTx/>
                <a:latin typeface="Noto Sans"/>
                <a:ea typeface="Noto Sans"/>
              </a:rPr>
              <a:t>DIRECT OPERATIONS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Socket API"/>
          <p:cNvSpPr/>
          <p:nvPr/>
        </p:nvSpPr>
        <p:spPr>
          <a:xfrm>
            <a:off x="860040" y="2440080"/>
            <a:ext cx="3519360" cy="81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450" b="0" u="none" strike="noStrike">
                <a:solidFill>
                  <a:srgbClr val="F7F9FC"/>
                </a:solidFill>
                <a:effectLst/>
                <a:uFillTx/>
                <a:latin typeface="Noto Sans Mono"/>
                <a:ea typeface="Noto Sans Mono"/>
              </a:rPr>
              <a:t>data = await loop.sock_recv(...) 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F7F9FC"/>
                </a:solidFill>
                <a:effectLst/>
                <a:uFillTx/>
                <a:latin typeface="Noto Sans Mono"/>
                <a:ea typeface="Noto Sans Mono"/>
              </a:rPr>
              <a:t>await loop.sock_sendall(...) 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1" name="Socket ownership"/>
          <p:cNvSpPr/>
          <p:nvPr/>
        </p:nvSpPr>
        <p:spPr>
          <a:xfrm>
            <a:off x="860040" y="3390120"/>
            <a:ext cx="3519360" cy="83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55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Your application owns the socket and decides when every operation happens.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2" name="Own details panel"/>
          <p:cNvSpPr/>
          <p:nvPr/>
        </p:nvSpPr>
        <p:spPr>
          <a:xfrm>
            <a:off x="860040" y="4420080"/>
            <a:ext cx="3519360" cy="719280"/>
          </a:xfrm>
          <a:prstGeom prst="roundRect">
            <a:avLst>
              <a:gd name="adj" fmla="val 5000"/>
            </a:avLst>
          </a:prstGeom>
          <a:solidFill>
            <a:srgbClr val="0B13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3" name="Own details"/>
          <p:cNvSpPr/>
          <p:nvPr/>
        </p:nvSpPr>
        <p:spPr>
          <a:xfrm>
            <a:off x="1059840" y="4539960"/>
            <a:ext cx="3119400" cy="469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601"/>
              </a:spcAft>
            </a:pPr>
            <a:r>
              <a:rPr lang="en-US" sz="10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YOU ALSO OWN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3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buffering · connection </a:t>
            </a:r>
            <a:r>
              <a:rPr lang="en-US" sz="13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state · shutdown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4" name="Managed card"/>
          <p:cNvSpPr/>
          <p:nvPr/>
        </p:nvSpPr>
        <p:spPr>
          <a:xfrm>
            <a:off x="5220000" y="1609920"/>
            <a:ext cx="6409440" cy="382932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5" name="Managed label"/>
          <p:cNvSpPr/>
          <p:nvPr/>
        </p:nvSpPr>
        <p:spPr>
          <a:xfrm>
            <a:off x="5519880" y="1839960"/>
            <a:ext cx="2279160" cy="389160"/>
          </a:xfrm>
          <a:prstGeom prst="roundRect">
            <a:avLst>
              <a:gd name="adj" fmla="val 5000"/>
            </a:avLst>
          </a:prstGeom>
          <a:solidFill>
            <a:srgbClr val="57D19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Managed label text"/>
          <p:cNvSpPr/>
          <p:nvPr/>
        </p:nvSpPr>
        <p:spPr>
          <a:xfrm>
            <a:off x="5609880" y="1900080"/>
            <a:ext cx="2099160" cy="23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81020"/>
                </a:solidFill>
                <a:effectLst/>
                <a:uFillTx/>
                <a:latin typeface="Noto Sans"/>
                <a:ea typeface="Noto Sans"/>
              </a:rPr>
              <a:t>MANAGED CONNECTION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7" name="Protocol box"/>
          <p:cNvSpPr/>
          <p:nvPr/>
        </p:nvSpPr>
        <p:spPr>
          <a:xfrm>
            <a:off x="5519880" y="2440080"/>
            <a:ext cx="5509440" cy="919440"/>
          </a:xfrm>
          <a:prstGeom prst="roundRect">
            <a:avLst>
              <a:gd name="adj" fmla="val 5000"/>
            </a:avLst>
          </a:prstGeom>
          <a:solidFill>
            <a:srgbClr val="0B13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8" name="Protocol text"/>
          <p:cNvSpPr/>
          <p:nvPr/>
        </p:nvSpPr>
        <p:spPr>
          <a:xfrm>
            <a:off x="5780160" y="2599920"/>
            <a:ext cx="4989240" cy="58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PROTOCOL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what bytes mean  ·  data_received()  ·  connection_lost()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Events label"/>
          <p:cNvSpPr/>
          <p:nvPr/>
        </p:nvSpPr>
        <p:spPr>
          <a:xfrm>
            <a:off x="7819920" y="3390120"/>
            <a:ext cx="1499400" cy="24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050" b="1" u="none" strike="noStrike">
                <a:solidFill>
                  <a:srgbClr val="9AA6BA"/>
                </a:solidFill>
                <a:effectLst/>
                <a:uFillTx/>
                <a:latin typeface="Noto Sans"/>
                <a:ea typeface="Noto Sans"/>
              </a:rPr>
              <a:t>↓  events</a:t>
            </a:r>
            <a:endParaRPr lang="en-US" sz="1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0" name="Transport box"/>
          <p:cNvSpPr/>
          <p:nvPr/>
        </p:nvSpPr>
        <p:spPr>
          <a:xfrm>
            <a:off x="5519880" y="3729960"/>
            <a:ext cx="5509440" cy="1359360"/>
          </a:xfrm>
          <a:prstGeom prst="roundRect">
            <a:avLst>
              <a:gd name="adj" fmla="val 5000"/>
            </a:avLst>
          </a:prstGeom>
          <a:solidFill>
            <a:srgbClr val="0B13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1" name="Transport text"/>
          <p:cNvSpPr/>
          <p:nvPr/>
        </p:nvSpPr>
        <p:spPr>
          <a:xfrm>
            <a:off x="5780160" y="3890160"/>
            <a:ext cx="4989240" cy="1039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25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TRANSPORT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499"/>
              </a:spcAft>
            </a:pPr>
            <a:r>
              <a:rPr lang="en-US" sz="14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buffering + partial writes  </a:t>
            </a:r>
            <a:r>
              <a:rPr lang="en-US" sz="14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· permanent read ·  </a:t>
            </a:r>
            <a:r>
              <a:rPr lang="en-US" sz="14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backpressure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TLS  ·  connection </a:t>
            </a:r>
            <a:r>
              <a:rPr lang="en-US" sz="140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lifecycle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ransport media"/>
          <p:cNvSpPr/>
          <p:nvPr/>
        </p:nvSpPr>
        <p:spPr>
          <a:xfrm>
            <a:off x="6400080" y="5140080"/>
            <a:ext cx="3749400" cy="24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50" b="0" u="none" strike="noStrike">
                <a:solidFill>
                  <a:srgbClr val="9AA6BA"/>
                </a:solidFill>
                <a:effectLst/>
                <a:uFillTx/>
                <a:latin typeface="Noto Sans"/>
                <a:ea typeface="Noto Sans"/>
              </a:rPr>
              <a:t>socket  · unix socket ·  datagram  ·  pipe</a:t>
            </a:r>
            <a:endParaRPr lang="en-US" sz="11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3" name="Takeaway bar"/>
          <p:cNvSpPr/>
          <p:nvPr/>
        </p:nvSpPr>
        <p:spPr>
          <a:xfrm>
            <a:off x="1199880" y="5720040"/>
            <a:ext cx="9789120" cy="64944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4" name="Takeaway"/>
          <p:cNvSpPr/>
          <p:nvPr/>
        </p:nvSpPr>
        <p:spPr>
          <a:xfrm>
            <a:off x="1450080" y="5860080"/>
            <a:ext cx="9289440" cy="359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Not required for async I/O — reusable machinery you would otherwise rebuild.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Slide number"/>
          <p:cNvSpPr/>
          <p:nvPr/>
        </p:nvSpPr>
        <p:spPr>
          <a:xfrm>
            <a:off x="11777400" y="6492240"/>
            <a:ext cx="225360" cy="198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Section"/>
          <p:cNvSpPr/>
          <p:nvPr/>
        </p:nvSpPr>
        <p:spPr>
          <a:xfrm>
            <a:off x="567000" y="347400"/>
            <a:ext cx="4386240" cy="225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16 · HIGH-LEVEL 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NETWORKING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7" name="Title"/>
          <p:cNvSpPr/>
          <p:nvPr/>
        </p:nvSpPr>
        <p:spPr>
          <a:xfrm>
            <a:off x="567000" y="640080"/>
            <a:ext cx="10878480" cy="500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Streams: the convenient </a:t>
            </a: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default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8" name="Application layer"/>
          <p:cNvSpPr/>
          <p:nvPr/>
        </p:nvSpPr>
        <p:spPr>
          <a:xfrm>
            <a:off x="650160" y="1743840"/>
            <a:ext cx="2249640" cy="6498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9" name="Application text"/>
          <p:cNvSpPr/>
          <p:nvPr/>
        </p:nvSpPr>
        <p:spPr>
          <a:xfrm>
            <a:off x="759960" y="1923840"/>
            <a:ext cx="20296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5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application coroutine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0" name="Arrow one"/>
          <p:cNvSpPr/>
          <p:nvPr/>
        </p:nvSpPr>
        <p:spPr>
          <a:xfrm>
            <a:off x="2880000" y="1904040"/>
            <a:ext cx="32976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100" b="1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→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1" name="Streams layer"/>
          <p:cNvSpPr/>
          <p:nvPr/>
        </p:nvSpPr>
        <p:spPr>
          <a:xfrm>
            <a:off x="3229920" y="1703880"/>
            <a:ext cx="2799720" cy="729720"/>
          </a:xfrm>
          <a:prstGeom prst="roundRect">
            <a:avLst>
              <a:gd name="adj" fmla="val 5000"/>
            </a:avLst>
          </a:prstGeom>
          <a:solidFill>
            <a:srgbClr val="133145"/>
          </a:solidFill>
          <a:ln w="25400">
            <a:solidFill>
              <a:srgbClr val="59D6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2" name="Streams text"/>
          <p:cNvSpPr/>
          <p:nvPr/>
        </p:nvSpPr>
        <p:spPr>
          <a:xfrm>
            <a:off x="3369960" y="1833840"/>
            <a:ext cx="2519640" cy="39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4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St</a:t>
            </a:r>
            <a:r>
              <a:rPr lang="en-US" sz="14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re</a:t>
            </a:r>
            <a:r>
              <a:rPr lang="en-US" sz="14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a</a:t>
            </a:r>
            <a:r>
              <a:rPr lang="en-US" sz="14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m</a:t>
            </a:r>
            <a:r>
              <a:rPr lang="en-US" sz="14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R</a:t>
            </a:r>
            <a:r>
              <a:rPr lang="en-US" sz="14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ea</a:t>
            </a:r>
            <a:r>
              <a:rPr lang="en-US" sz="14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de</a:t>
            </a:r>
            <a:r>
              <a:rPr lang="en-US" sz="14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r / </a:t>
            </a:r>
            <a:r>
              <a:rPr lang="en-US" sz="14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St</a:t>
            </a:r>
            <a:r>
              <a:rPr lang="en-US" sz="14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re</a:t>
            </a:r>
            <a:r>
              <a:rPr lang="en-US" sz="14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a</a:t>
            </a:r>
            <a:r>
              <a:rPr lang="en-US" sz="14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m</a:t>
            </a:r>
            <a:r>
              <a:rPr lang="en-US" sz="14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W</a:t>
            </a:r>
            <a:r>
              <a:rPr lang="en-US" sz="14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rit</a:t>
            </a:r>
            <a:r>
              <a:rPr lang="en-US" sz="145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er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3" name="Arrow two"/>
          <p:cNvSpPr/>
          <p:nvPr/>
        </p:nvSpPr>
        <p:spPr>
          <a:xfrm>
            <a:off x="6099840" y="1904040"/>
            <a:ext cx="32976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100" b="1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→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4" name="Transport layer"/>
          <p:cNvSpPr/>
          <p:nvPr/>
        </p:nvSpPr>
        <p:spPr>
          <a:xfrm>
            <a:off x="6469920" y="1743840"/>
            <a:ext cx="2729520" cy="6498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5" name="Transport text"/>
          <p:cNvSpPr/>
          <p:nvPr/>
        </p:nvSpPr>
        <p:spPr>
          <a:xfrm>
            <a:off x="6599880" y="1914120"/>
            <a:ext cx="2469600" cy="28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5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Transport / Protocol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6" name="Arrow three"/>
          <p:cNvSpPr/>
          <p:nvPr/>
        </p:nvSpPr>
        <p:spPr>
          <a:xfrm>
            <a:off x="9259920" y="1904040"/>
            <a:ext cx="329760" cy="29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2100" b="1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→</a:t>
            </a:r>
            <a:endParaRPr lang="en-US" sz="2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7" name="Socket layer"/>
          <p:cNvSpPr/>
          <p:nvPr/>
        </p:nvSpPr>
        <p:spPr>
          <a:xfrm>
            <a:off x="9650160" y="1743840"/>
            <a:ext cx="1839600" cy="6498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8" name="Socket text"/>
          <p:cNvSpPr/>
          <p:nvPr/>
        </p:nvSpPr>
        <p:spPr>
          <a:xfrm>
            <a:off x="9789840" y="1923840"/>
            <a:ext cx="155952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350" b="1" u="none" strike="noStrike">
                <a:solidFill>
                  <a:srgbClr val="9AA6BA"/>
                </a:solidFill>
                <a:effectLst/>
                <a:uFillTx/>
                <a:latin typeface="Noto Sans"/>
                <a:ea typeface="Noto Sans"/>
              </a:rPr>
              <a:t>socket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89" name="Use streams card"/>
          <p:cNvSpPr/>
          <p:nvPr/>
        </p:nvSpPr>
        <p:spPr>
          <a:xfrm>
            <a:off x="567000" y="2570040"/>
            <a:ext cx="5349600" cy="29196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0" name="Use streams label"/>
          <p:cNvSpPr/>
          <p:nvPr/>
        </p:nvSpPr>
        <p:spPr>
          <a:xfrm>
            <a:off x="849960" y="2790000"/>
            <a:ext cx="1939680" cy="389520"/>
          </a:xfrm>
          <a:prstGeom prst="roundRect">
            <a:avLst>
              <a:gd name="adj" fmla="val 5000"/>
            </a:avLst>
          </a:prstGeom>
          <a:solidFill>
            <a:srgbClr val="57D19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1" name="Use streams label text"/>
          <p:cNvSpPr/>
          <p:nvPr/>
        </p:nvSpPr>
        <p:spPr>
          <a:xfrm>
            <a:off x="929880" y="2850120"/>
            <a:ext cx="177948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81020"/>
                </a:solidFill>
                <a:effectLst/>
                <a:uFillTx/>
                <a:latin typeface="Noto Sans"/>
                <a:ea typeface="Noto Sans"/>
              </a:rPr>
              <a:t>USE STREAMS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2" name="Use streams bullets"/>
          <p:cNvSpPr/>
          <p:nvPr/>
        </p:nvSpPr>
        <p:spPr>
          <a:xfrm>
            <a:off x="879840" y="3380040"/>
            <a:ext cx="4499640" cy="104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</a:pPr>
            <a:r>
              <a:rPr lang="en-US" sz="14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•  TCP / Unix byte-stream connections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</a:pPr>
            <a:r>
              <a:rPr lang="en-US" sz="14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•  Request/response, lines, delimiters, frames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•  Familiar coroutine-style reads and writes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3" name="Streams code panel"/>
          <p:cNvSpPr/>
          <p:nvPr/>
        </p:nvSpPr>
        <p:spPr>
          <a:xfrm>
            <a:off x="879840" y="4550040"/>
            <a:ext cx="4499640" cy="689760"/>
          </a:xfrm>
          <a:prstGeom prst="roundRect">
            <a:avLst>
              <a:gd name="adj" fmla="val 5000"/>
            </a:avLst>
          </a:prstGeom>
          <a:solidFill>
            <a:srgbClr val="0B13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Streams code"/>
          <p:cNvSpPr/>
          <p:nvPr/>
        </p:nvSpPr>
        <p:spPr>
          <a:xfrm>
            <a:off x="1090080" y="4669920"/>
            <a:ext cx="4099680" cy="44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51"/>
              </a:spcAft>
            </a:pPr>
            <a:r>
              <a:rPr lang="en-US" sz="1250" b="0" u="none" strike="noStrike">
                <a:solidFill>
                  <a:srgbClr val="59D6E1"/>
                </a:solidFill>
                <a:effectLst/>
                <a:uFillTx/>
                <a:latin typeface="Noto Sans Mono"/>
                <a:ea typeface="Noto Sans Mono"/>
              </a:rPr>
              <a:t>data = await </a:t>
            </a:r>
            <a:r>
              <a:rPr lang="en-US" sz="1250" b="0" u="none" strike="noStrike">
                <a:solidFill>
                  <a:srgbClr val="59D6E1"/>
                </a:solidFill>
                <a:effectLst/>
                <a:uFillTx/>
                <a:latin typeface="Noto Sans Mono"/>
                <a:ea typeface="Noto Sans Mono"/>
              </a:rPr>
              <a:t>reader.readexactly(n)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59D6E1"/>
                </a:solidFill>
                <a:effectLst/>
                <a:uFillTx/>
                <a:latin typeface="Noto Sans Mono"/>
                <a:ea typeface="Noto Sans Mono"/>
              </a:rPr>
              <a:t>writer.write(data); await </a:t>
            </a:r>
            <a:r>
              <a:rPr lang="en-US" sz="1250" b="0" u="none" strike="noStrike">
                <a:solidFill>
                  <a:srgbClr val="59D6E1"/>
                </a:solidFill>
                <a:effectLst/>
                <a:uFillTx/>
                <a:latin typeface="Noto Sans Mono"/>
                <a:ea typeface="Noto Sans Mono"/>
              </a:rPr>
              <a:t>writer.drain()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5" name="Lower level card"/>
          <p:cNvSpPr/>
          <p:nvPr/>
        </p:nvSpPr>
        <p:spPr>
          <a:xfrm>
            <a:off x="6270120" y="2570040"/>
            <a:ext cx="5349600" cy="29196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6" name="Lower level label"/>
          <p:cNvSpPr/>
          <p:nvPr/>
        </p:nvSpPr>
        <p:spPr>
          <a:xfrm>
            <a:off x="6549840" y="2790000"/>
            <a:ext cx="2259720" cy="389520"/>
          </a:xfrm>
          <a:prstGeom prst="roundRect">
            <a:avLst>
              <a:gd name="adj" fmla="val 5000"/>
            </a:avLst>
          </a:prstGeom>
          <a:solidFill>
            <a:srgbClr val="FFD4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7" name="Lower level label text"/>
          <p:cNvSpPr/>
          <p:nvPr/>
        </p:nvSpPr>
        <p:spPr>
          <a:xfrm>
            <a:off x="6630120" y="2850120"/>
            <a:ext cx="2099520" cy="23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081020"/>
                </a:solidFill>
                <a:effectLst/>
                <a:uFillTx/>
                <a:latin typeface="Noto Sans"/>
                <a:ea typeface="Noto Sans"/>
              </a:rPr>
              <a:t>USE TRANSPORT / PROTOCOL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8" name="Lower level bullets"/>
          <p:cNvSpPr/>
          <p:nvPr/>
        </p:nvSpPr>
        <p:spPr>
          <a:xfrm>
            <a:off x="6580080" y="3380040"/>
            <a:ext cx="4549680" cy="929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700"/>
              </a:spcAft>
            </a:pPr>
            <a:r>
              <a:rPr lang="en-US" sz="14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•  Performance: no Future per I/O operation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700"/>
              </a:spcAft>
            </a:pPr>
            <a:r>
              <a:rPr lang="en-US" sz="14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•  UDP / datagrams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4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•  Own buffering, flow control, and lifecycle</a:t>
            </a:r>
            <a:endParaRPr lang="en-US" sz="14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9" name="Lower choices panel"/>
          <p:cNvSpPr/>
          <p:nvPr/>
        </p:nvSpPr>
        <p:spPr>
          <a:xfrm>
            <a:off x="6580080" y="4550040"/>
            <a:ext cx="4549680" cy="689760"/>
          </a:xfrm>
          <a:prstGeom prst="roundRect">
            <a:avLst>
              <a:gd name="adj" fmla="val 5000"/>
            </a:avLst>
          </a:prstGeom>
          <a:solidFill>
            <a:srgbClr val="0B132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0" name="Lower choices"/>
          <p:cNvSpPr/>
          <p:nvPr/>
        </p:nvSpPr>
        <p:spPr>
          <a:xfrm>
            <a:off x="6800040" y="4659840"/>
            <a:ext cx="4109760" cy="469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spcAft>
                <a:spcPts val="451"/>
              </a:spcAft>
            </a:pP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per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for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ma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nce 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+ 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con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trol 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 →  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Tra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nsp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ort 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/ 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Pro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toc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ol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loo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p.so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ck_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*  → 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 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mig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rati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on 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fro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m 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blo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cki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ng 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soc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ket</a:t>
            </a:r>
            <a:r>
              <a:rPr lang="en-US" sz="125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1" name="Takeaway bar"/>
          <p:cNvSpPr/>
          <p:nvPr/>
        </p:nvSpPr>
        <p:spPr>
          <a:xfrm>
            <a:off x="1199880" y="5739840"/>
            <a:ext cx="9789480" cy="60948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2" name="Takeaway"/>
          <p:cNvSpPr/>
          <p:nvPr/>
        </p:nvSpPr>
        <p:spPr>
          <a:xfrm>
            <a:off x="1450080" y="5870160"/>
            <a:ext cx="9289800" cy="329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Streams for convenience. Transport / Protocol when performance or control matters.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Slide number"/>
          <p:cNvSpPr/>
          <p:nvPr/>
        </p:nvSpPr>
        <p:spPr>
          <a:xfrm>
            <a:off x="11777400" y="6492240"/>
            <a:ext cx="225720" cy="19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18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Box 63"/>
          <p:cNvSpPr/>
          <p:nvPr/>
        </p:nvSpPr>
        <p:spPr>
          <a:xfrm>
            <a:off x="891000" y="1147320"/>
            <a:ext cx="9425880" cy="43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spAutoFit/>
          </a:bodyPr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loop.create_connection(...)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spcAft>
                <a:spcPts val="99"/>
              </a:spcAft>
            </a:pPr>
            <a:r>
              <a:rPr lang="en-US" sz="1400" b="0" u="none" strike="noStrike">
                <a:solidFill>
                  <a:srgbClr val="D7DDE8"/>
                </a:solidFill>
                <a:effectLst/>
                <a:uFillTx/>
                <a:latin typeface="Noto Sans Mono"/>
              </a:rPr>
              <a:t>async def loop.create_server(...)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Section"/>
          <p:cNvSpPr/>
          <p:nvPr/>
        </p:nvSpPr>
        <p:spPr>
          <a:xfrm>
            <a:off x="567000" y="347400"/>
            <a:ext cx="4384800" cy="22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17 · TRY IT </a:t>
            </a:r>
            <a:r>
              <a:rPr lang="en-US" sz="11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YOURSELF</a:t>
            </a:r>
            <a:endParaRPr lang="en-US" sz="11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itle"/>
          <p:cNvSpPr/>
          <p:nvPr/>
        </p:nvSpPr>
        <p:spPr>
          <a:xfrm>
            <a:off x="567000" y="640080"/>
            <a:ext cx="10877040" cy="4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2700" b="1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EduLoop: small enough to read, real enough to run</a:t>
            </a:r>
            <a:endParaRPr lang="en-US" sz="2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7" name="Subtitle"/>
          <p:cNvSpPr/>
          <p:nvPr/>
        </p:nvSpPr>
        <p:spPr>
          <a:xfrm>
            <a:off x="576000" y="1161360"/>
            <a:ext cx="1079820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6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The core ideas fit in </a:t>
            </a:r>
            <a:r>
              <a:rPr lang="en-US" sz="1600" b="0" u="none" strike="noStrike">
                <a:solidFill>
                  <a:srgbClr val="D7DDE8"/>
                </a:solidFill>
                <a:effectLst/>
                <a:uFillTx/>
                <a:latin typeface="Noto Sans"/>
                <a:ea typeface="Noto Sans"/>
              </a:rPr>
              <a:t>a two hundred lines</a:t>
            </a:r>
            <a:endParaRPr lang="en-US" sz="1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8" name="Loop metric"/>
          <p:cNvSpPr/>
          <p:nvPr/>
        </p:nvSpPr>
        <p:spPr>
          <a:xfrm>
            <a:off x="567000" y="1630080"/>
            <a:ext cx="2258280" cy="13482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Loop metric text"/>
          <p:cNvSpPr/>
          <p:nvPr/>
        </p:nvSpPr>
        <p:spPr>
          <a:xfrm>
            <a:off x="747000" y="1829880"/>
            <a:ext cx="1898280" cy="91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901"/>
              </a:spcAft>
            </a:pPr>
            <a:r>
              <a:rPr lang="en-US" sz="23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≈250 lines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3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Event Loop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0" name="Task metric"/>
          <p:cNvSpPr/>
          <p:nvPr/>
        </p:nvSpPr>
        <p:spPr>
          <a:xfrm>
            <a:off x="3017160" y="1630080"/>
            <a:ext cx="2258280" cy="13482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1" name="Task metric text"/>
          <p:cNvSpPr/>
          <p:nvPr/>
        </p:nvSpPr>
        <p:spPr>
          <a:xfrm>
            <a:off x="3197160" y="1829880"/>
            <a:ext cx="1898280" cy="91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901"/>
              </a:spcAft>
            </a:pPr>
            <a:r>
              <a:rPr lang="en-US" sz="2300" b="1" u="none" strike="noStrike">
                <a:solidFill>
                  <a:srgbClr val="59D6E1"/>
                </a:solidFill>
                <a:effectLst/>
                <a:uFillTx/>
                <a:latin typeface="Noto Sans"/>
                <a:ea typeface="Noto Sans"/>
              </a:rPr>
              <a:t>≈150 lines</a:t>
            </a:r>
            <a:endParaRPr lang="en-US" sz="2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2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minimal Task + Futures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2" name="Uvicorn metric"/>
          <p:cNvSpPr/>
          <p:nvPr/>
        </p:nvSpPr>
        <p:spPr>
          <a:xfrm>
            <a:off x="5466960" y="1630080"/>
            <a:ext cx="2258280" cy="13482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3" name="Uvicorn metric text"/>
          <p:cNvSpPr/>
          <p:nvPr/>
        </p:nvSpPr>
        <p:spPr>
          <a:xfrm>
            <a:off x="5646960" y="1829880"/>
            <a:ext cx="1898280" cy="918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spcAft>
                <a:spcPts val="901"/>
              </a:spcAft>
            </a:pPr>
            <a:r>
              <a:rPr lang="en-US" sz="2050" b="1" u="none" strike="noStrike">
                <a:solidFill>
                  <a:srgbClr val="57D19C"/>
                </a:solidFill>
                <a:effectLst/>
                <a:uFillTx/>
                <a:latin typeface="Noto Sans"/>
                <a:ea typeface="Noto Sans"/>
              </a:rPr>
              <a:t>Runs Uvicorn</a:t>
            </a:r>
            <a:endParaRPr lang="en-US" sz="20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</a:pPr>
            <a:r>
              <a:rPr lang="en-US" sz="13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 ASGI server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4" name="Layers panel"/>
          <p:cNvSpPr/>
          <p:nvPr/>
        </p:nvSpPr>
        <p:spPr>
          <a:xfrm>
            <a:off x="567000" y="3269880"/>
            <a:ext cx="7158240" cy="2248200"/>
          </a:xfrm>
          <a:prstGeom prst="roundRect">
            <a:avLst>
              <a:gd name="adj" fmla="val 5000"/>
            </a:avLst>
          </a:prstGeom>
          <a:solidFill>
            <a:srgbClr val="111A2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5" name="Layers title"/>
          <p:cNvSpPr/>
          <p:nvPr/>
        </p:nvSpPr>
        <p:spPr>
          <a:xfrm>
            <a:off x="837000" y="3510000"/>
            <a:ext cx="6598080" cy="31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17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The </a:t>
            </a:r>
            <a:r>
              <a:rPr lang="en-US" sz="17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remaining </a:t>
            </a:r>
            <a:r>
              <a:rPr lang="en-US" sz="17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pieces </a:t>
            </a:r>
            <a:r>
              <a:rPr lang="en-US" sz="17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provides by </a:t>
            </a:r>
            <a:r>
              <a:rPr lang="en-US" sz="1700" b="1" u="none" strike="noStrike">
                <a:solidFill>
                  <a:srgbClr val="FFD43B"/>
                </a:solidFill>
                <a:effectLst/>
                <a:uFillTx/>
                <a:latin typeface="Noto Sans"/>
                <a:ea typeface="Noto Sans"/>
              </a:rPr>
              <a:t>libraries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6" name="aiofastnet pill"/>
          <p:cNvSpPr/>
          <p:nvPr/>
        </p:nvSpPr>
        <p:spPr>
          <a:xfrm>
            <a:off x="837000" y="4110120"/>
            <a:ext cx="1478160" cy="418320"/>
          </a:xfrm>
          <a:prstGeom prst="roundRect">
            <a:avLst>
              <a:gd name="adj" fmla="val 5000"/>
            </a:avLst>
          </a:prstGeom>
          <a:solidFill>
            <a:srgbClr val="59D6E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aiofastnet"/>
          <p:cNvSpPr/>
          <p:nvPr/>
        </p:nvSpPr>
        <p:spPr>
          <a:xfrm>
            <a:off x="916920" y="4179960"/>
            <a:ext cx="1318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081020"/>
                </a:solidFill>
                <a:effectLst/>
                <a:uFillTx/>
                <a:latin typeface="Noto Sans"/>
                <a:ea typeface="Noto Sans"/>
              </a:rPr>
              <a:t>aiofastnet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8" name="aiofastnet description"/>
          <p:cNvSpPr/>
          <p:nvPr/>
        </p:nvSpPr>
        <p:spPr>
          <a:xfrm>
            <a:off x="2520000" y="4089960"/>
            <a:ext cx="489816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5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transports · protocols · socket APIs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19" name="aiodns pill"/>
          <p:cNvSpPr/>
          <p:nvPr/>
        </p:nvSpPr>
        <p:spPr>
          <a:xfrm>
            <a:off x="837000" y="4719960"/>
            <a:ext cx="1478160" cy="418320"/>
          </a:xfrm>
          <a:prstGeom prst="roundRect">
            <a:avLst>
              <a:gd name="adj" fmla="val 5000"/>
            </a:avLst>
          </a:prstGeom>
          <a:solidFill>
            <a:srgbClr val="FFD43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aiodns"/>
          <p:cNvSpPr/>
          <p:nvPr/>
        </p:nvSpPr>
        <p:spPr>
          <a:xfrm>
            <a:off x="916920" y="4790160"/>
            <a:ext cx="131832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00" b="1" u="none" strike="noStrike">
                <a:solidFill>
                  <a:srgbClr val="081020"/>
                </a:solidFill>
                <a:effectLst/>
                <a:uFillTx/>
                <a:latin typeface="Noto Sans"/>
                <a:ea typeface="Noto Sans"/>
              </a:rPr>
              <a:t>aiodns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1" name="aiodns description"/>
          <p:cNvSpPr/>
          <p:nvPr/>
        </p:nvSpPr>
        <p:spPr>
          <a:xfrm>
            <a:off x="2520000" y="4700160"/>
            <a:ext cx="4898160" cy="4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</a:pPr>
            <a:r>
              <a:rPr lang="en-US" sz="1550" b="0" u="none" strike="noStrike">
                <a:solidFill>
                  <a:srgbClr val="F7F9FC"/>
                </a:solidFill>
                <a:effectLst/>
                <a:uFillTx/>
                <a:latin typeface="Noto Sans"/>
                <a:ea typeface="Noto Sans"/>
              </a:rPr>
              <a:t>asynchronous DNS</a:t>
            </a:r>
            <a:endParaRPr lang="en-US" sz="15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2" name="QR card"/>
          <p:cNvSpPr/>
          <p:nvPr/>
        </p:nvSpPr>
        <p:spPr>
          <a:xfrm>
            <a:off x="8169840" y="1569960"/>
            <a:ext cx="3418200" cy="4118040"/>
          </a:xfrm>
          <a:prstGeom prst="roundRect">
            <a:avLst>
              <a:gd name="adj" fmla="val 5000"/>
            </a:avLst>
          </a:prstGeom>
          <a:solidFill>
            <a:srgbClr val="F7F9F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3" name="EduLoop GitHub QR code" descr="QR code for https://github.com/tarasko/eduloop"/>
          <p:cNvPicPr/>
          <p:nvPr/>
        </p:nvPicPr>
        <p:blipFill>
          <a:blip r:embed="rId1"/>
          <a:stretch/>
        </p:blipFill>
        <p:spPr>
          <a:xfrm>
            <a:off x="8510040" y="1810080"/>
            <a:ext cx="2798280" cy="2798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4" name="GitHub URL"/>
          <p:cNvSpPr/>
          <p:nvPr/>
        </p:nvSpPr>
        <p:spPr>
          <a:xfrm>
            <a:off x="8370000" y="4809960"/>
            <a:ext cx="3018240" cy="33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</a:pPr>
            <a:r>
              <a:rPr lang="en-US" sz="1250" b="1" u="none" strike="noStrike">
                <a:solidFill>
                  <a:srgbClr val="081020"/>
                </a:solidFill>
                <a:effectLst/>
                <a:uFillTx/>
                <a:latin typeface="Noto Sans Mono"/>
                <a:ea typeface="Noto Sans Mono"/>
              </a:rPr>
              <a:t>github.com/tarasko/</a:t>
            </a:r>
            <a:r>
              <a:rPr lang="en-US" sz="1250" b="1" u="none" strike="noStrike">
                <a:solidFill>
                  <a:srgbClr val="081020"/>
                </a:solidFill>
                <a:effectLst/>
                <a:uFillTx/>
                <a:latin typeface="Noto Sans Mono"/>
                <a:ea typeface="Noto Sans Mono"/>
              </a:rPr>
              <a:t>eduloop</a:t>
            </a:r>
            <a:endParaRPr lang="en-US" sz="12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5" name="Slide number"/>
          <p:cNvSpPr/>
          <p:nvPr/>
        </p:nvSpPr>
        <p:spPr>
          <a:xfrm>
            <a:off x="11777400" y="6492240"/>
            <a:ext cx="224280" cy="196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</a:pPr>
            <a:r>
              <a:rPr lang="en-US" sz="800" b="0" u="none" strike="noStrike">
                <a:solidFill>
                  <a:srgbClr val="667089"/>
                </a:solidFill>
                <a:effectLst/>
                <a:uFillTx/>
                <a:latin typeface="Noto Sans"/>
                <a:ea typeface="Noto Sans"/>
              </a:rPr>
              <a:t>19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Noto Sans" pitchFamily="0" charset="1"/>
        <a:ea typeface=""/>
        <a:cs typeface=""/>
      </a:majorFont>
      <a:minorFont>
        <a:latin typeface="Noto San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612</TotalTime>
  <Application>LibreOffice/26.2.5.2$Linux_X86_64 LibreOffice_project/6d2b0d33fb0f5da53a12f98bed3e9973e56ff1f0</Application>
  <AppVersion>15.0000</AppVersion>
  <Words>0</Words>
  <Paragraphs>0</Paragraphs>
  <Company>PyCon NL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2026-09-22T10:00:55Z</dcterms:created>
  <dc:creator>OpenAI</dc:creator>
  <dc:description/>
  <dc:language>en-US</dc:language>
  <cp:lastModifiedBy/>
  <dcterms:modified xsi:type="dcterms:W3CDTF">2026-10-15T12:16:28Z</dcterms:modified>
  <cp:revision>57</cp:revision>
  <dc:subject>What's Inside an asyncio Event Loop?</dc:subject>
  <dc:title>What's Inside an asyncio Event Loop?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19</vt:i4>
  </property>
  <property fmtid="{D5CDD505-2E9C-101B-9397-08002B2CF9AE}" pid="3" name="PresentationFormat">
    <vt:lpwstr>On-screen Show (16:9)</vt:lpwstr>
  </property>
  <property fmtid="{D5CDD505-2E9C-101B-9397-08002B2CF9AE}" pid="4" name="Slides">
    <vt:i4>19</vt:i4>
  </property>
</Properties>
</file>